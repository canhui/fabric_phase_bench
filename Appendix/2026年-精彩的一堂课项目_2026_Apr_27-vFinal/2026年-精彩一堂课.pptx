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330" r:id="rId2"/>
    <p:sldId id="1138" r:id="rId3"/>
    <p:sldId id="454" r:id="rId4"/>
    <p:sldId id="1139" r:id="rId5"/>
    <p:sldId id="1140" r:id="rId6"/>
    <p:sldId id="1141" r:id="rId7"/>
    <p:sldId id="1142" r:id="rId8"/>
    <p:sldId id="1143" r:id="rId9"/>
    <p:sldId id="1147" r:id="rId10"/>
    <p:sldId id="1146" r:id="rId11"/>
    <p:sldId id="1068" r:id="rId12"/>
    <p:sldId id="1148" r:id="rId13"/>
    <p:sldId id="1149" r:id="rId14"/>
    <p:sldId id="1150" r:id="rId15"/>
    <p:sldId id="1065" r:id="rId16"/>
    <p:sldId id="1151" r:id="rId17"/>
    <p:sldId id="1152" r:id="rId18"/>
    <p:sldId id="1137" r:id="rId19"/>
    <p:sldId id="1083" r:id="rId20"/>
  </p:sldIdLst>
  <p:sldSz cx="9144000" cy="5143500" type="screen16x9"/>
  <p:notesSz cx="6858000" cy="9144000"/>
  <p:custDataLst>
    <p:tags r:id="rId2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09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nhui Wang" initials="CW" lastIdx="2" clrIdx="0">
    <p:extLst>
      <p:ext uri="{19B8F6BF-5375-455C-9EA6-DF929625EA0E}">
        <p15:presenceInfo xmlns:p15="http://schemas.microsoft.com/office/powerpoint/2012/main" userId="0327246e59f940e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194A96"/>
    <a:srgbClr val="FFC5C5"/>
    <a:srgbClr val="FF3F3F"/>
    <a:srgbClr val="FF3300"/>
    <a:srgbClr val="FFFFFF"/>
    <a:srgbClr val="1D4E89"/>
    <a:srgbClr val="013B6D"/>
    <a:srgbClr val="EEF2F5"/>
    <a:srgbClr val="F6F6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5" autoAdjust="0"/>
    <p:restoredTop sz="83392" autoAdjust="0"/>
  </p:normalViewPr>
  <p:slideViewPr>
    <p:cSldViewPr snapToGrid="0" showGuides="1">
      <p:cViewPr varScale="1">
        <p:scale>
          <a:sx n="97" d="100"/>
          <a:sy n="97" d="100"/>
        </p:scale>
        <p:origin x="516" y="36"/>
      </p:cViewPr>
      <p:guideLst>
        <p:guide orient="horz" pos="1609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940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170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919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280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1487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EBB0BF97-9FE3-4597-AC51-C65A1915AF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5F4D-846D-4906-B4CB-51D76D91958B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4B32133-725C-4CDB-A599-08805ED90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9CAA301-A97F-4465-91EF-7EE0FB5582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0E70BA5-C075-47B0-9E96-8C4BB2756F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A0D9A4-5022-4B99-99A1-5D51B6AD7F7A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D5350-E2F1-45CA-A1E0-A048D2918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69EA7-A868-4421-B310-BA26FC6AA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-1" y="0"/>
            <a:ext cx="22283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80555" y="1023974"/>
            <a:ext cx="8638309" cy="1887102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>
            <a:lvl1pPr marL="0" indent="0">
              <a:buFontTx/>
              <a:buNone/>
              <a:defRPr lang="en-US" sz="105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marL="0" lvl="0" algn="ctr"/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B7F4C54-B500-43BB-A3D7-59B9660D6E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A1C0C-F063-40E8-84C1-43F7B17829DE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6655510-19BF-488F-8224-6CDB00648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1A52DB9-B461-4E23-8803-0D3241BEC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87F590-C63B-442B-BCF6-23EC57133B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1B8C6B-9C1E-4011-877C-92C57B3A2027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7F3970F-CB22-4181-804F-ADC5D1984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7E6335-7C8D-4A10-815B-3B8EA944AB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FB1BC-566C-41B6-9AE0-896B7D840693}" type="datetime1">
              <a:rPr kumimoji="0" lang="zh-CN" alt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2026/4/27</a:t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椭圆曲线密码体制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0DB2DC-4C9A-4742-B13C-FB6460FD3503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3536016" y="1040755"/>
            <a:ext cx="528075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《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现代密码学</a:t>
            </a:r>
            <a:r>
              <a:rPr lang="en-US" altLang="zh-CN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》</a:t>
            </a:r>
            <a:r>
              <a:rPr lang="zh-CN" altLang="en-US" sz="2800" b="1" kern="1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第十一章第一节</a:t>
            </a:r>
            <a:endParaRPr lang="en-US" altLang="zh-CN" sz="2800" b="1" kern="1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100" noProof="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区块链的基本原理及应用</a:t>
            </a:r>
          </a:p>
        </p:txBody>
      </p:sp>
      <p:cxnSp>
        <p:nvCxnSpPr>
          <p:cNvPr id="28" name="直接连接符 27"/>
          <p:cNvCxnSpPr>
            <a:cxnSpLocks/>
          </p:cNvCxnSpPr>
          <p:nvPr/>
        </p:nvCxnSpPr>
        <p:spPr>
          <a:xfrm>
            <a:off x="3092450" y="2122560"/>
            <a:ext cx="5724324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4955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TextBox 6"/>
          <p:cNvSpPr txBox="1"/>
          <p:nvPr/>
        </p:nvSpPr>
        <p:spPr>
          <a:xfrm>
            <a:off x="4176431" y="2571750"/>
            <a:ext cx="3430597" cy="1210307"/>
          </a:xfrm>
          <a:prstGeom prst="rect">
            <a:avLst/>
          </a:prstGeom>
          <a:noFill/>
        </p:spPr>
        <p:txBody>
          <a:bodyPr wrap="square" lIns="91416" tIns="45708" rIns="91416" bIns="45708" rtlCol="0">
            <a:spAutoFit/>
          </a:bodyPr>
          <a:lstStyle>
            <a:defPPr>
              <a:defRPr lang="zh-CN"/>
            </a:defPPr>
            <a:lvl1pPr>
              <a:defRPr sz="2000">
                <a:solidFill>
                  <a:schemeClr val="accent2"/>
                </a:solidFill>
                <a:latin typeface="+mn-ea"/>
                <a:ea typeface="+mn-ea"/>
              </a:defRPr>
            </a:lvl1pPr>
          </a:lstStyle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主讲人：王灿辉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邮箱：</a:t>
            </a:r>
            <a:r>
              <a:rPr lang="en-US" altLang="zh-CN" sz="1600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chwang@hqu.edu.cn</a:t>
            </a:r>
          </a:p>
          <a:p>
            <a:pPr algn="ctr">
              <a:lnSpc>
                <a:spcPct val="160000"/>
              </a:lnSpc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日期：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2026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年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月</a:t>
            </a:r>
            <a:r>
              <a:rPr lang="en-US" altLang="zh-CN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28</a:t>
            </a: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日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7C4148-111C-4BC7-A2CA-81A5C8B6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>
            <a:extLst>
              <a:ext uri="{FF2B5EF4-FFF2-40B4-BE49-F238E27FC236}">
                <a16:creationId xmlns:a16="http://schemas.microsoft.com/office/drawing/2014/main" id="{01C12282-5B70-4974-9FA0-8DDA74C79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60B9881-53B3-4B0D-8D9A-99038AAC2A22}"/>
              </a:ext>
            </a:extLst>
          </p:cNvPr>
          <p:cNvSpPr txBox="1"/>
          <p:nvPr/>
        </p:nvSpPr>
        <p:spPr>
          <a:xfrm>
            <a:off x="6045200" y="123707"/>
            <a:ext cx="3098800" cy="31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</a:pPr>
            <a:r>
              <a:rPr lang="zh-CN" altLang="en-US" sz="11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华侨大学第十四届青年教师“精彩一堂课”</a:t>
            </a:r>
            <a:endParaRPr lang="en-US" altLang="zh-CN" sz="11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把区块链作为核心技术自主创新重要突破口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习近平总书记强调：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48347" y="2349927"/>
            <a:ext cx="771080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加快推动区块链技术和产业创新发展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E14BCD3-F49B-4E19-AA30-22287B36FCAA}"/>
              </a:ext>
            </a:extLst>
          </p:cNvPr>
          <p:cNvSpPr txBox="1"/>
          <p:nvPr/>
        </p:nvSpPr>
        <p:spPr>
          <a:xfrm>
            <a:off x="743430" y="3141431"/>
            <a:ext cx="771080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2019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年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10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月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24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日中央政治局就区块链技术发展现状和趋势进行集体学习。区块链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：使区块链服务于各行各业。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02574B30-D023-4556-B8FC-A0BB543B314D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D808A852-51ED-4DF9-9A72-FFCB5B72E1AB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FEB1AEA2-6FFD-4E1D-ADD9-B58E92958B1C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F47C2C52-3F69-404F-B453-D0625BF67CDD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859BC4B7-B095-49B5-AD31-CF68714DBC0A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6E95EC44-C13A-42CA-9FEC-92EB297D96B1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5804D27-70E3-4469-BAC0-BE97DBCF911F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灯片编号占位符 7">
            <a:extLst>
              <a:ext uri="{FF2B5EF4-FFF2-40B4-BE49-F238E27FC236}">
                <a16:creationId xmlns:a16="http://schemas.microsoft.com/office/drawing/2014/main" id="{C07557BC-932F-4E93-986C-D584CD9B87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49086D8-3D16-47EA-8ACA-EDFDCCCEB911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/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40650" y="1589682"/>
            <a:ext cx="7653532" cy="30418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defTabSz="266700">
              <a:buFont typeface="+mj-lt"/>
              <a:buAutoNum type="arabicPeriod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普通高等教育“十一五”国家级规划教材，教科书</a:t>
            </a:r>
            <a:endParaRPr lang="en-US" altLang="zh-CN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现代密码学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（第五版），杨波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，清华大学出版社，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</a:p>
          <a:p>
            <a:pPr algn="just" defTabSz="266700"/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课后阅读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密码编码学与网络安全：原理与实践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（第八版），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William Stallings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 defTabSz="266700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电子工业出版社，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2021.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spcBef>
                <a:spcPts val="1400"/>
              </a:spcBef>
            </a:pP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课后阅读</a:t>
            </a:r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《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公钥密码学的数学基础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》</a:t>
            </a: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，王小云，科学出版社，</a:t>
            </a:r>
            <a:r>
              <a:rPr lang="en-US" altLang="zh-CN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2022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/>
            <a:endParaRPr lang="en-US" altLang="zh-CN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marL="342900" indent="-342900" algn="just" defTabSz="266700">
              <a:buFont typeface="+mj-lt"/>
              <a:buAutoNum type="arabicPeriod"/>
            </a:pP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课程教材</a:t>
            </a:r>
          </a:p>
        </p:txBody>
      </p:sp>
      <p:sp>
        <p:nvSpPr>
          <p:cNvPr id="14" name="TextBox 7"/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5" name="TextBox 9"/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6" name="TextBox 10"/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7" name="TextBox 11"/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灯片编号占位符 7"/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FA6075-2EF6-445A-BF71-E8258594CC4C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2728855" y="1010578"/>
            <a:ext cx="36862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意图：转让价值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元的资产给对方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706F3A5-8084-4D83-AD29-EC6E501381A8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83304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1812037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1785817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478292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4144188" y="1012903"/>
            <a:ext cx="131040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途径？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746774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710585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EFBAC50-D85D-4271-8199-624F684C6708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369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DC38777-65DB-47BA-8BAF-D67543A01D89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13905164-537B-4083-AC39-835C402DB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75E9EE50-5B5F-45F1-9334-D4539029BC5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8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A61051D-AAFD-4481-A952-4B8AA48010A1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4548EC2-5D95-46C9-9E60-E151D5AA669E}"/>
              </a:ext>
            </a:extLst>
          </p:cNvPr>
          <p:cNvSpPr txBox="1"/>
          <p:nvPr/>
        </p:nvSpPr>
        <p:spPr>
          <a:xfrm>
            <a:off x="3825175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9F7AC7CB-DF6D-4E80-BD1E-3DE60EB4F4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69016" y="651061"/>
            <a:ext cx="1017845" cy="1017845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1A8AF864-E1E8-4135-A39C-3A54A2B6373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60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A969A22-7383-4536-92C0-29F40A9C6D17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9DF81F-7194-4F3C-9CA8-EA4BFC44A31A}"/>
              </a:ext>
            </a:extLst>
          </p:cNvPr>
          <p:cNvSpPr txBox="1"/>
          <p:nvPr/>
        </p:nvSpPr>
        <p:spPr>
          <a:xfrm>
            <a:off x="5043700" y="1774254"/>
            <a:ext cx="4021641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存在问题：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完全信任第三方 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工作日服务     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人工开销大等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89CBDF3-5B14-466D-A6EA-E864B6293EC9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83F65F3B-3B60-43F4-A290-437D6B4922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CCF39ED-A798-47C1-9922-710C4FE93B5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861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CA969A22-7383-4536-92C0-29F40A9C6D17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99DF81F-7194-4F3C-9CA8-EA4BFC44A31A}"/>
              </a:ext>
            </a:extLst>
          </p:cNvPr>
          <p:cNvSpPr txBox="1"/>
          <p:nvPr/>
        </p:nvSpPr>
        <p:spPr>
          <a:xfrm>
            <a:off x="5043700" y="1774254"/>
            <a:ext cx="402164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如何解决：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完全信任第三方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可验证零信任？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工作日服务    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7×24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小时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服务？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3. </a:t>
            </a:r>
            <a:r>
              <a:rPr lang="zh-CN" altLang="en-US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人工开销大等   </a:t>
            </a:r>
            <a:r>
              <a:rPr lang="en-US" altLang="zh-CN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-&gt;</a:t>
            </a:r>
            <a:r>
              <a:rPr lang="en-US" altLang="zh-CN" sz="16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降低成本</a:t>
            </a: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？</a:t>
            </a:r>
            <a:endParaRPr lang="en-US" altLang="zh-CN" sz="1600" b="1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6175433-4365-4980-98D5-DBEA715A29D3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DC380E11-CD6B-4AFA-BE46-FF0E0673D7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A070FAB2-2FD6-4170-AD9C-DD2CB00886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64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2C9372E-4E1A-49FD-8C5C-4A6C9D5D83E7}"/>
              </a:ext>
            </a:extLst>
          </p:cNvPr>
          <p:cNvSpPr/>
          <p:nvPr/>
        </p:nvSpPr>
        <p:spPr>
          <a:xfrm>
            <a:off x="5043700" y="729426"/>
            <a:ext cx="4021641" cy="83099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课程回顾（续）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9A43C4B5-FC14-48DA-B3F9-4C3CEA457A93}"/>
              </a:ext>
            </a:extLst>
          </p:cNvPr>
          <p:cNvSpPr/>
          <p:nvPr/>
        </p:nvSpPr>
        <p:spPr>
          <a:xfrm>
            <a:off x="1660721" y="4839860"/>
            <a:ext cx="550114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45EFF5A-320D-4079-92C7-701F098E112E}"/>
              </a:ext>
            </a:extLst>
          </p:cNvPr>
          <p:cNvSpPr/>
          <p:nvPr/>
        </p:nvSpPr>
        <p:spPr>
          <a:xfrm>
            <a:off x="166385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A67692B3-CA01-4FC8-B75C-41845D6463B6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881C1E51-2509-4593-8DF4-EB620026F490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C059D80-5DEA-4DB3-82F8-01DEFD549D10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19" name="TextBox 11">
            <a:extLst>
              <a:ext uri="{FF2B5EF4-FFF2-40B4-BE49-F238E27FC236}">
                <a16:creationId xmlns:a16="http://schemas.microsoft.com/office/drawing/2014/main" id="{34630226-208A-4953-B4CD-E0F542686D8C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EA7C7E0-74A0-4239-8F62-8ABA1D1CC0F7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4F94A7D-D959-4650-9A33-40A629BEEF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3" name="灯片编号占位符 7">
            <a:extLst>
              <a:ext uri="{FF2B5EF4-FFF2-40B4-BE49-F238E27FC236}">
                <a16:creationId xmlns:a16="http://schemas.microsoft.com/office/drawing/2014/main" id="{EA75F048-154E-4B4D-9543-CCF25F757F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4F81B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F110EE-E5C3-413D-B6CC-0B0D7B453204}"/>
              </a:ext>
            </a:extLst>
          </p:cNvPr>
          <p:cNvSpPr txBox="1"/>
          <p:nvPr/>
        </p:nvSpPr>
        <p:spPr>
          <a:xfrm>
            <a:off x="5043700" y="729426"/>
            <a:ext cx="4193721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经典记账方案：</a:t>
            </a:r>
            <a:endParaRPr lang="en-US" altLang="zh-CN" sz="1600" b="1" dirty="0">
              <a:solidFill>
                <a:schemeClr val="accent1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1.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- 2</a:t>
            </a:r>
          </a:p>
          <a:p>
            <a:pPr algn="just" defTabSz="266700">
              <a:buClr>
                <a:schemeClr val="accent1"/>
              </a:buClr>
            </a:pP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2.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鲍勃资产余额  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=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当前资产余额 </a:t>
            </a:r>
            <a:r>
              <a:rPr lang="en-US" altLang="zh-CN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+ 2 </a:t>
            </a:r>
            <a:r>
              <a:rPr lang="zh-CN" altLang="en-US" sz="16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</a:t>
            </a:r>
            <a:endParaRPr lang="zh-CN" altLang="en-US" sz="18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638CB14-707C-42B8-9820-66B01F75455F}"/>
              </a:ext>
            </a:extLst>
          </p:cNvPr>
          <p:cNvSpPr/>
          <p:nvPr/>
        </p:nvSpPr>
        <p:spPr>
          <a:xfrm>
            <a:off x="5043700" y="1756612"/>
            <a:ext cx="4021641" cy="116554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C97E9A4-A0ED-4B26-8F9B-499CCDA6B0E6}"/>
              </a:ext>
            </a:extLst>
          </p:cNvPr>
          <p:cNvSpPr txBox="1"/>
          <p:nvPr/>
        </p:nvSpPr>
        <p:spPr>
          <a:xfrm>
            <a:off x="6546005" y="2105036"/>
            <a:ext cx="1448219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600" b="1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区块链！</a:t>
            </a:r>
            <a:endParaRPr lang="en-US" altLang="zh-CN" sz="16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  <a:p>
            <a:pPr algn="just" defTabSz="266700">
              <a:buClr>
                <a:schemeClr val="accent1"/>
              </a:buClr>
            </a:pP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E37FA64-6B1E-4A7D-83D1-ADA027C12D15}"/>
              </a:ext>
            </a:extLst>
          </p:cNvPr>
          <p:cNvSpPr txBox="1"/>
          <p:nvPr/>
        </p:nvSpPr>
        <p:spPr>
          <a:xfrm>
            <a:off x="3844839" y="304026"/>
            <a:ext cx="16808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可信第三方</a:t>
            </a:r>
            <a:endParaRPr lang="zh-CN" altLang="en-US" sz="1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E56DBB27-F6F7-4266-BFC7-460ADD312B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8680" y="651061"/>
            <a:ext cx="1017845" cy="1017845"/>
          </a:xfrm>
          <a:prstGeom prst="rect">
            <a:avLst/>
          </a:prstGeom>
        </p:spPr>
      </p:pic>
      <p:pic>
        <p:nvPicPr>
          <p:cNvPr id="34" name="图形 33">
            <a:extLst>
              <a:ext uri="{FF2B5EF4-FFF2-40B4-BE49-F238E27FC236}">
                <a16:creationId xmlns:a16="http://schemas.microsoft.com/office/drawing/2014/main" id="{E615E77B-38F9-4E08-B3E7-F8B23D0481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06371" y="978433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075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89032F08-3EA9-4815-AB40-D5323C375E5A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3B11142D-F3D9-40F5-ACF4-602D9B76D384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C3729AF6-515A-429B-A5BC-3B567FEE8A72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0F640398-D388-45EC-8039-6D098A4C2A78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1" name="TextBox 10">
            <a:extLst>
              <a:ext uri="{FF2B5EF4-FFF2-40B4-BE49-F238E27FC236}">
                <a16:creationId xmlns:a16="http://schemas.microsoft.com/office/drawing/2014/main" id="{C5C04E24-A570-41BB-A02D-ACF2F13EE2ED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2" name="TextBox 11">
            <a:extLst>
              <a:ext uri="{FF2B5EF4-FFF2-40B4-BE49-F238E27FC236}">
                <a16:creationId xmlns:a16="http://schemas.microsoft.com/office/drawing/2014/main" id="{92F39674-7E64-43E5-A9BA-AEB8C81C694F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0CE3278-8128-46B1-AE55-B374376A4130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灯片编号占位符 7">
            <a:extLst>
              <a:ext uri="{FF2B5EF4-FFF2-40B4-BE49-F238E27FC236}">
                <a16:creationId xmlns:a16="http://schemas.microsoft.com/office/drawing/2014/main" id="{C11BF97D-FF7E-4EAD-A8E4-23C11F3BF5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11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036B240-92F5-4DA1-9BF0-89EB8BC5F37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989281-CB5C-4DA6-9849-B5A2AED6843F}"/>
              </a:ext>
            </a:extLst>
          </p:cNvPr>
          <p:cNvSpPr txBox="1"/>
          <p:nvPr/>
        </p:nvSpPr>
        <p:spPr>
          <a:xfrm>
            <a:off x="465455" y="1354656"/>
            <a:ext cx="7710805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定义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：区块链是一种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分布式账本技术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Distributed Ledger Technology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),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是一种多节点所组成的网络上进行电子数据复制、共享及同步的共识，并不存在中心化的数据存储。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历史：区块链技术，在比特币白皮书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《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比特币：一种点对点电子货币系统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Bitcoin: A Peer-to-Peer Electronic Cash System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)》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一文中，被化名为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中本聪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Satoshi Nakamoto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，音译，也称中本哲史）的作者所提出。</a:t>
            </a: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22121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>
            <a:extLst>
              <a:ext uri="{FF2B5EF4-FFF2-40B4-BE49-F238E27FC236}">
                <a16:creationId xmlns:a16="http://schemas.microsoft.com/office/drawing/2014/main" id="{9549E729-E769-4F2E-8D9C-F0CBB2140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345" y="2028341"/>
            <a:ext cx="2356273" cy="1915812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C12F23F-B919-41C2-AE08-4D379601D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284418" y="2002121"/>
            <a:ext cx="2005753" cy="2101867"/>
          </a:xfrm>
          <a:prstGeom prst="rect">
            <a:avLst/>
          </a:prstGeom>
        </p:spPr>
      </p:pic>
      <p:sp>
        <p:nvSpPr>
          <p:cNvPr id="30" name="上弧形箭头 20">
            <a:extLst>
              <a:ext uri="{FF2B5EF4-FFF2-40B4-BE49-F238E27FC236}">
                <a16:creationId xmlns:a16="http://schemas.microsoft.com/office/drawing/2014/main" id="{2F854298-F06A-4653-AEC8-B9E9BAAA21CD}"/>
              </a:ext>
            </a:extLst>
          </p:cNvPr>
          <p:cNvSpPr/>
          <p:nvPr/>
        </p:nvSpPr>
        <p:spPr>
          <a:xfrm>
            <a:off x="3004722" y="1694596"/>
            <a:ext cx="2983124" cy="467361"/>
          </a:xfrm>
          <a:prstGeom prst="curvedDownArrow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7465B86-E13B-4732-BEF7-9789A5FBDDE1}"/>
              </a:ext>
            </a:extLst>
          </p:cNvPr>
          <p:cNvSpPr txBox="1"/>
          <p:nvPr/>
        </p:nvSpPr>
        <p:spPr>
          <a:xfrm>
            <a:off x="1985166" y="77741"/>
            <a:ext cx="5497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>
              <a:buClr>
                <a:schemeClr val="accent1"/>
              </a:buClr>
            </a:pPr>
            <a:r>
              <a:rPr lang="zh-CN" altLang="en-US" sz="18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每一笔交易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（包括爱丽丝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元的资产给鲍勃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）</a:t>
            </a:r>
            <a:r>
              <a:rPr lang="zh-CN" altLang="en-US" sz="1800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都会广播到区块链网络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9B40668-5C9E-4863-91BC-855B9BBBD59A}"/>
              </a:ext>
            </a:extLst>
          </p:cNvPr>
          <p:cNvSpPr txBox="1"/>
          <p:nvPr/>
        </p:nvSpPr>
        <p:spPr>
          <a:xfrm>
            <a:off x="2293410" y="3963078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爱丽丝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B7E342CE-FA61-4D51-AC1E-92ED8444D6B9}"/>
              </a:ext>
            </a:extLst>
          </p:cNvPr>
          <p:cNvSpPr txBox="1"/>
          <p:nvPr/>
        </p:nvSpPr>
        <p:spPr>
          <a:xfrm>
            <a:off x="5989796" y="3926889"/>
            <a:ext cx="100014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sz="18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鲍勃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12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92B8A32-0572-4DA3-9E75-38EC33AE01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5936" y="735361"/>
            <a:ext cx="1446172" cy="867703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94BE9C28-5C23-4645-913A-ACC91EBC60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4569" y="3126622"/>
            <a:ext cx="584775" cy="584775"/>
          </a:xfrm>
          <a:prstGeom prst="rect">
            <a:avLst/>
          </a:prstGeom>
        </p:spPr>
      </p:pic>
      <p:pic>
        <p:nvPicPr>
          <p:cNvPr id="39" name="图形 38">
            <a:extLst>
              <a:ext uri="{FF2B5EF4-FFF2-40B4-BE49-F238E27FC236}">
                <a16:creationId xmlns:a16="http://schemas.microsoft.com/office/drawing/2014/main" id="{7AAC76BE-973B-42DF-A3A0-71BC836E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51785" y="3122397"/>
            <a:ext cx="584775" cy="584775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3044B3EA-77F8-4876-93F6-E48C229D5E5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64951" y="903251"/>
            <a:ext cx="584775" cy="58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945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13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>
            <a:extLst>
              <a:ext uri="{FF2B5EF4-FFF2-40B4-BE49-F238E27FC236}">
                <a16:creationId xmlns:a16="http://schemas.microsoft.com/office/drawing/2014/main" id="{C5F2343D-B1FA-4D37-BE33-D12DA518DF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>
            <a:extLst>
              <a:ext uri="{FF2B5EF4-FFF2-40B4-BE49-F238E27FC236}">
                <a16:creationId xmlns:a16="http://schemas.microsoft.com/office/drawing/2014/main" id="{655FA0F7-1A36-4D45-BBC2-74566E2FDB40}"/>
              </a:ext>
            </a:extLst>
          </p:cNvPr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交易：爱丽丝转让价值</a:t>
            </a:r>
            <a:r>
              <a:rPr lang="en-US" altLang="zh-CN" b="1" dirty="0"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元的资产给鲍勃；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去中心化：区块链网络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每一个节点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都维护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一份分布式账本数据库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251176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>
            <a:extLst>
              <a:ext uri="{FF2B5EF4-FFF2-40B4-BE49-F238E27FC236}">
                <a16:creationId xmlns:a16="http://schemas.microsoft.com/office/drawing/2014/main" id="{77AB15B7-D8DC-4F95-8BF9-FFCFACC6981C}"/>
              </a:ext>
            </a:extLst>
          </p:cNvPr>
          <p:cNvSpPr txBox="1"/>
          <p:nvPr/>
        </p:nvSpPr>
        <p:spPr>
          <a:xfrm>
            <a:off x="248821" y="633473"/>
            <a:ext cx="2356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区块链（续）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C860DD7-9A8C-4DBF-81C8-ED0C0625E8E2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42D73808-23DB-4064-8A94-378D4BC9C1AD}"/>
              </a:ext>
            </a:extLst>
          </p:cNvPr>
          <p:cNvSpPr/>
          <p:nvPr/>
        </p:nvSpPr>
        <p:spPr>
          <a:xfrm>
            <a:off x="3054507" y="4833063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B5BDF658-5915-431F-A859-C75CD3CFAF45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课程概况</a:t>
            </a: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98D5C1F4-D43B-4AD3-A704-94A12E3F4F7F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34" name="TextBox 10">
            <a:extLst>
              <a:ext uri="{FF2B5EF4-FFF2-40B4-BE49-F238E27FC236}">
                <a16:creationId xmlns:a16="http://schemas.microsoft.com/office/drawing/2014/main" id="{68E9CFDC-8FBD-44ED-83E5-E4495B43CFBC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5" name="TextBox 11">
            <a:extLst>
              <a:ext uri="{FF2B5EF4-FFF2-40B4-BE49-F238E27FC236}">
                <a16:creationId xmlns:a16="http://schemas.microsoft.com/office/drawing/2014/main" id="{AB475351-3B32-4DFD-9086-63179E4CC84A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6C71A40-1BD9-4637-BB2F-1F5031D710E2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灯片编号占位符 7">
            <a:extLst>
              <a:ext uri="{FF2B5EF4-FFF2-40B4-BE49-F238E27FC236}">
                <a16:creationId xmlns:a16="http://schemas.microsoft.com/office/drawing/2014/main" id="{3AC66845-D62D-4356-8F1C-ED284EB3C7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14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A0C46EF7-7274-4B05-A745-317D67F6675B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9" name="图片 10" descr="YP8AV~LCOUZ3256(J{AP53N">
            <a:extLst>
              <a:ext uri="{FF2B5EF4-FFF2-40B4-BE49-F238E27FC236}">
                <a16:creationId xmlns:a16="http://schemas.microsoft.com/office/drawing/2014/main" id="{C5F2343D-B1FA-4D37-BE33-D12DA518DF94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099" y="1954996"/>
            <a:ext cx="909622" cy="847100"/>
          </a:xfrm>
          <a:prstGeom prst="rect">
            <a:avLst/>
          </a:prstGeom>
        </p:spPr>
      </p:pic>
      <p:sp>
        <p:nvSpPr>
          <p:cNvPr id="21" name="圆角矩形 8">
            <a:extLst>
              <a:ext uri="{FF2B5EF4-FFF2-40B4-BE49-F238E27FC236}">
                <a16:creationId xmlns:a16="http://schemas.microsoft.com/office/drawing/2014/main" id="{655FA0F7-1A36-4D45-BBC2-74566E2FDB40}"/>
              </a:ext>
            </a:extLst>
          </p:cNvPr>
          <p:cNvSpPr/>
          <p:nvPr/>
        </p:nvSpPr>
        <p:spPr>
          <a:xfrm>
            <a:off x="2156866" y="1401481"/>
            <a:ext cx="6140873" cy="1826749"/>
          </a:xfrm>
          <a:prstGeom prst="roundRect">
            <a:avLst/>
          </a:prstGeom>
          <a:solidFill>
            <a:srgbClr val="F79646"/>
          </a:soli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区块链是一个基于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诚实共识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协议的分布式数据库；</a:t>
            </a:r>
          </a:p>
          <a:p>
            <a:pPr marL="381000" indent="-3810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特点：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持续增长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不可篡改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16316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记账代币；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1.0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：数字货币时代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B8876A8-641C-4028-9A46-36EFF3320198}"/>
              </a:ext>
            </a:extLst>
          </p:cNvPr>
          <p:cNvSpPr txBox="1"/>
          <p:nvPr/>
        </p:nvSpPr>
        <p:spPr>
          <a:xfrm>
            <a:off x="748347" y="2349927"/>
            <a:ext cx="707573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代币的发行，从原先的黄金、白银，到后来通过政府监管发行的纸币，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这种货币的发行方式一直没有实质地改变过。而比特币的出现不经意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改变了它，仿佛蝴蝶效应般影响了全世界。</a:t>
            </a:r>
            <a:endParaRPr lang="zh-CN" altLang="en-US" sz="2000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15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230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2.0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：数字货币与智能合约时代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16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6E021EB-B74F-4565-95F5-F7560A632F98}"/>
              </a:ext>
            </a:extLst>
          </p:cNvPr>
          <p:cNvSpPr txBox="1"/>
          <p:nvPr/>
        </p:nvSpPr>
        <p:spPr>
          <a:xfrm>
            <a:off x="741722" y="2295432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数字资产的本质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数据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共识合约。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7FADA8A-3D6A-4706-9E66-6548306F56C7}"/>
              </a:ext>
            </a:extLst>
          </p:cNvPr>
          <p:cNvSpPr txBox="1"/>
          <p:nvPr/>
        </p:nvSpPr>
        <p:spPr>
          <a:xfrm>
            <a:off x="748346" y="2819837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数字资产与区块链天生一对。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041495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748346" y="1745465"/>
            <a:ext cx="771080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3.0</a:t>
            </a: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= 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应用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+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区块链；</a:t>
            </a: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区块链</a:t>
            </a:r>
            <a:r>
              <a:rPr lang="en-US" altLang="zh-CN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3.0</a:t>
            </a:r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：信用社会时代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21DB455-D8BB-48BA-8951-45EDC1105D93}"/>
              </a:ext>
            </a:extLst>
          </p:cNvPr>
          <p:cNvSpPr/>
          <p:nvPr/>
        </p:nvSpPr>
        <p:spPr>
          <a:xfrm>
            <a:off x="1660721" y="4839860"/>
            <a:ext cx="5438579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99B756C-7CE2-4D45-AE9F-F7ADCF0C23A6}"/>
              </a:ext>
            </a:extLst>
          </p:cNvPr>
          <p:cNvSpPr/>
          <p:nvPr/>
        </p:nvSpPr>
        <p:spPr>
          <a:xfrm>
            <a:off x="4527626" y="483981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80D84EA3-3A08-4A81-83E5-DD0BC190E6C7}"/>
              </a:ext>
            </a:extLst>
          </p:cNvPr>
          <p:cNvSpPr txBox="1"/>
          <p:nvPr/>
        </p:nvSpPr>
        <p:spPr>
          <a:xfrm>
            <a:off x="1660721" y="481100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课程回顾</a:t>
            </a:r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92396E57-62CF-483B-8784-3569D0B348D3}"/>
              </a:ext>
            </a:extLst>
          </p:cNvPr>
          <p:cNvSpPr txBox="1"/>
          <p:nvPr/>
        </p:nvSpPr>
        <p:spPr>
          <a:xfrm>
            <a:off x="3064951" y="482560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课程内容</a:t>
            </a: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E95F5690-D680-41FB-8B68-D32B5F3E4061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课程应用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463767F5-758F-49F4-9E87-82ACFB218199}"/>
              </a:ext>
            </a:extLst>
          </p:cNvPr>
          <p:cNvSpPr txBox="1"/>
          <p:nvPr/>
        </p:nvSpPr>
        <p:spPr>
          <a:xfrm>
            <a:off x="5817867" y="4819256"/>
            <a:ext cx="1344000" cy="340995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课程总结</a:t>
            </a:r>
            <a:endParaRPr lang="zh-CN" altLang="en-US" sz="1600" b="1" dirty="0">
              <a:solidFill>
                <a:schemeClr val="bg1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8AB8D64-CB37-4F0D-85E2-762676E44B4B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灯片编号占位符 7">
            <a:extLst>
              <a:ext uri="{FF2B5EF4-FFF2-40B4-BE49-F238E27FC236}">
                <a16:creationId xmlns:a16="http://schemas.microsoft.com/office/drawing/2014/main" id="{5AD25987-A3AE-4657-8793-A4D0C3DC55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17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14A0C-535E-4FFE-8B5C-64B2CCE1DDCD}"/>
              </a:ext>
            </a:extLst>
          </p:cNvPr>
          <p:cNvSpPr txBox="1"/>
          <p:nvPr/>
        </p:nvSpPr>
        <p:spPr>
          <a:xfrm>
            <a:off x="0" y="4409286"/>
            <a:ext cx="25028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rgbClr val="FFC5C5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区块链的基本原理及应用</a:t>
            </a:r>
          </a:p>
          <a:p>
            <a:endParaRPr lang="zh-CN" altLang="en-US" sz="1600" dirty="0">
              <a:solidFill>
                <a:srgbClr val="FFC5C5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72F6DC3-E973-40EF-96A0-DD681B47FEFF}"/>
              </a:ext>
            </a:extLst>
          </p:cNvPr>
          <p:cNvSpPr txBox="1"/>
          <p:nvPr/>
        </p:nvSpPr>
        <p:spPr>
          <a:xfrm>
            <a:off x="748346" y="2338711"/>
            <a:ext cx="707573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266700">
              <a:buClr>
                <a:schemeClr val="accent1"/>
              </a:buClr>
            </a:pP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区块链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3.0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希望形成一个完全去中心化的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社会网络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，使得我们能以极低的成本形成社会的信任关系，从而使整个社会</a:t>
            </a:r>
            <a:r>
              <a:rPr lang="zh-CN" altLang="en-US" b="1" dirty="0">
                <a:solidFill>
                  <a:schemeClr val="accent1"/>
                </a:solidFill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运行成本大幅下降</a:t>
            </a:r>
            <a:r>
              <a:rPr lang="zh-CN" altLang="en-US" dirty="0">
                <a:latin typeface="Times New Roman" panose="02020603050405020304" pitchFamily="18" charset="0"/>
                <a:ea typeface="楷体" panose="02010609060101010101" charset="-122"/>
                <a:cs typeface="Times New Roman" panose="02020603050405020304" pitchFamily="18" charset="0"/>
              </a:rPr>
              <a:t>。</a:t>
            </a:r>
            <a:endParaRPr lang="en-US" altLang="zh-CN" dirty="0">
              <a:latin typeface="Times New Roman" panose="02020603050405020304" pitchFamily="18" charset="0"/>
              <a:ea typeface="楷体" panose="02010609060101010101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144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5455" y="1354656"/>
            <a:ext cx="7710805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记账问题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可信第三方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可验证零信任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区块链定义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分布式账本技术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spcBef>
                <a:spcPts val="1200"/>
              </a:spcBef>
              <a:buClr>
                <a:schemeClr val="accent1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1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区块链应用</a:t>
            </a:r>
            <a:endParaRPr lang="en-US" altLang="zh-CN" b="1" dirty="0">
              <a:solidFill>
                <a:schemeClr val="accent1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：代币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：数据交易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742950" lvl="1" indent="-285750" algn="just" defTabSz="266700"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区块链</a:t>
            </a:r>
            <a:r>
              <a:rPr lang="en-US" altLang="zh-CN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3.0</a:t>
            </a:r>
            <a:r>
              <a:rPr lang="zh-CN" altLang="en-US" dirty="0"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：信任网络</a:t>
            </a:r>
            <a:endParaRPr lang="en-US" altLang="zh-CN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lvl="1" algn="just" defTabSz="266700">
              <a:buClr>
                <a:schemeClr val="accent1"/>
              </a:buClr>
            </a:pPr>
            <a:endParaRPr lang="en-US" altLang="zh-CN" baseline="300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marL="285750" indent="-285750" algn="just" defTabSz="266700">
              <a:buClr>
                <a:schemeClr val="accent1"/>
              </a:buClr>
              <a:buFont typeface="Wingdings" panose="05000000000000000000" pitchFamily="2" charset="2"/>
              <a:buChar char="l"/>
            </a:pPr>
            <a:endParaRPr lang="zh-CN" altLang="en-US" sz="18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48821" y="633473"/>
            <a:ext cx="4927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ea"/>
                <a:ea typeface="+mj-ea"/>
              </a:rPr>
              <a:t>总结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628AAA2-D395-4EE0-82E7-43F3E99338B8}"/>
              </a:ext>
            </a:extLst>
          </p:cNvPr>
          <p:cNvSpPr/>
          <p:nvPr/>
        </p:nvSpPr>
        <p:spPr>
          <a:xfrm>
            <a:off x="1660721" y="4839860"/>
            <a:ext cx="5615006" cy="309082"/>
          </a:xfrm>
          <a:prstGeom prst="round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DA87E443-EB21-4B73-8596-EEA5543D871A}"/>
              </a:ext>
            </a:extLst>
          </p:cNvPr>
          <p:cNvSpPr/>
          <p:nvPr/>
        </p:nvSpPr>
        <p:spPr>
          <a:xfrm>
            <a:off x="5941204" y="4829580"/>
            <a:ext cx="1344000" cy="347621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B4971608-6789-4BE7-A9B4-C816C9F0FF17}"/>
              </a:ext>
            </a:extLst>
          </p:cNvPr>
          <p:cNvSpPr txBox="1"/>
          <p:nvPr/>
        </p:nvSpPr>
        <p:spPr>
          <a:xfrm>
            <a:off x="1660721" y="4818621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区块链技术</a:t>
            </a: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97514889-1D30-416A-AE1E-9A41AC873A1D}"/>
              </a:ext>
            </a:extLst>
          </p:cNvPr>
          <p:cNvSpPr txBox="1"/>
          <p:nvPr/>
        </p:nvSpPr>
        <p:spPr>
          <a:xfrm>
            <a:off x="3064951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比特币</a:t>
            </a: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E83D127-FA0D-4F1D-BBEE-1D9E4F613465}"/>
              </a:ext>
            </a:extLst>
          </p:cNvPr>
          <p:cNvSpPr txBox="1"/>
          <p:nvPr/>
        </p:nvSpPr>
        <p:spPr>
          <a:xfrm>
            <a:off x="4470696" y="4820917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隐私保护</a:t>
            </a:r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C1892394-8B36-4814-A8E7-2C84045DD3A8}"/>
              </a:ext>
            </a:extLst>
          </p:cNvPr>
          <p:cNvSpPr txBox="1"/>
          <p:nvPr/>
        </p:nvSpPr>
        <p:spPr>
          <a:xfrm>
            <a:off x="5817867" y="4819256"/>
            <a:ext cx="1344000" cy="343159"/>
          </a:xfrm>
          <a:prstGeom prst="rect">
            <a:avLst/>
          </a:prstGeom>
          <a:noFill/>
        </p:spPr>
        <p:txBody>
          <a:bodyPr wrap="square" lIns="0" tIns="48000" rIns="0" bIns="48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</a:t>
            </a:r>
            <a:endParaRPr lang="zh-CN" altLang="en-US" sz="16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B9E2E3D-5AF5-426C-B61A-328EECD5BF79}"/>
              </a:ext>
            </a:extLst>
          </p:cNvPr>
          <p:cNvSpPr/>
          <p:nvPr/>
        </p:nvSpPr>
        <p:spPr>
          <a:xfrm>
            <a:off x="0" y="4792076"/>
            <a:ext cx="91440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9356BCF1-DD3F-4EDB-B5C1-6EA975E50769}"/>
              </a:ext>
            </a:extLst>
          </p:cNvPr>
          <p:cNvSpPr txBox="1"/>
          <p:nvPr/>
        </p:nvSpPr>
        <p:spPr>
          <a:xfrm>
            <a:off x="13185" y="4521803"/>
            <a:ext cx="27808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rgbClr val="FFC5C5"/>
                </a:solidFill>
                <a:latin typeface="楷体" panose="02010609060101010101" charset="-122"/>
                <a:ea typeface="楷体" panose="02010609060101010101" charset="-122"/>
              </a:rPr>
              <a:t>区块链系统隐私保护技术</a:t>
            </a:r>
          </a:p>
        </p:txBody>
      </p:sp>
      <p:sp>
        <p:nvSpPr>
          <p:cNvPr id="38" name="灯片编号占位符 7">
            <a:extLst>
              <a:ext uri="{FF2B5EF4-FFF2-40B4-BE49-F238E27FC236}">
                <a16:creationId xmlns:a16="http://schemas.microsoft.com/office/drawing/2014/main" id="{6BBE5ADF-C751-4092-BDEF-3D07A4994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18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845268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/>
          <p:cNvSpPr/>
          <p:nvPr/>
        </p:nvSpPr>
        <p:spPr bwMode="auto">
          <a:xfrm>
            <a:off x="4057649" y="1517875"/>
            <a:ext cx="49496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3600" b="1" kern="100" noProof="0" dirty="0">
                <a:ln>
                  <a:noFill/>
                </a:ln>
                <a:solidFill>
                  <a:srgbClr val="0F4C8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谢谢大家！</a:t>
            </a:r>
            <a:endParaRPr kumimoji="0" lang="zh-CN" altLang="en-US" sz="3600" b="1" i="0" u="none" strike="noStrike" kern="100" cap="none" spc="0" normalizeH="0" baseline="0" noProof="0" dirty="0">
              <a:ln>
                <a:noFill/>
              </a:ln>
              <a:solidFill>
                <a:srgbClr val="0F4C8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3536114" y="2101605"/>
            <a:ext cx="5280660" cy="20955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-1" y="0"/>
            <a:ext cx="2768601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97C4148-111C-4BC7-A2CA-81A5C8B6BE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21" y="131210"/>
            <a:ext cx="2447480" cy="311752"/>
          </a:xfrm>
          <a:prstGeom prst="rect">
            <a:avLst/>
          </a:prstGeom>
        </p:spPr>
      </p:pic>
      <p:sp>
        <p:nvSpPr>
          <p:cNvPr id="19" name="灯片编号占位符 7">
            <a:extLst>
              <a:ext uri="{FF2B5EF4-FFF2-40B4-BE49-F238E27FC236}">
                <a16:creationId xmlns:a16="http://schemas.microsoft.com/office/drawing/2014/main" id="{01C12282-5B70-4974-9FA0-8DDA74C79D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08115" y="4845083"/>
            <a:ext cx="344115" cy="273844"/>
          </a:xfrm>
        </p:spPr>
        <p:txBody>
          <a:bodyPr/>
          <a:lstStyle/>
          <a:p>
            <a:fld id="{9A0DB2DC-4C9A-4742-B13C-FB6460FD3503}" type="slidenum">
              <a:rPr lang="en-US" altLang="zh-CN" sz="1000" smtClean="0">
                <a:solidFill>
                  <a:schemeClr val="bg1">
                    <a:lumMod val="6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pPr/>
              <a:t>19</a:t>
            </a:fld>
            <a:endParaRPr lang="zh-CN" altLang="en-US" sz="1000" dirty="0">
              <a:solidFill>
                <a:schemeClr val="bg1">
                  <a:lumMod val="6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40130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7f41dd9c-12e6-480f-b01d-187e8b40cfb8"/>
  <p:tag name="COMMONDATA" val="eyJjb3VudCI6NDQsImhkaWQiOiJmZGVhNzM4MzMxYTkwNzNmMWJlZGRmNzRjOWExNWI2NiIsInVzZXJDb3VudCI6NDR9"/>
  <p:tag name="RESOURCE_RECORD_KEY" val="{&quot;10&quot;:[21559035,50026255,50027377],&quot;70&quot;:[3327356,3314119,3318501,3312405,3332763,3330148,3312128,3312379,3317789]}"/>
</p:tagLst>
</file>

<file path=ppt/theme/theme1.xml><?xml version="1.0" encoding="utf-8"?>
<a:theme xmlns:a="http://schemas.openxmlformats.org/drawingml/2006/main" name="Office 主题​​">
  <a:themeElements>
    <a:clrScheme name="2经典蓝配色方案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0F4C82"/>
      </a:accent1>
      <a:accent2>
        <a:srgbClr val="B3C6D5"/>
      </a:accent2>
      <a:accent3>
        <a:srgbClr val="F7B793"/>
      </a:accent3>
      <a:accent4>
        <a:srgbClr val="F4DBB2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Century Gothic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1596</TotalTime>
  <Words>1063</Words>
  <Application>Microsoft Office PowerPoint</Application>
  <PresentationFormat>全屏显示(16:9)</PresentationFormat>
  <Paragraphs>214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等线</vt:lpstr>
      <vt:lpstr>楷体</vt:lpstr>
      <vt:lpstr>微软雅黑</vt:lpstr>
      <vt:lpstr>Arial</vt:lpstr>
      <vt:lpstr>Calibri</vt:lpstr>
      <vt:lpstr>Calibri Light</vt:lpstr>
      <vt:lpstr>Century Gothic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哒哒 熊猫</dc:creator>
  <cp:lastModifiedBy>Canhui Wang</cp:lastModifiedBy>
  <cp:revision>536</cp:revision>
  <dcterms:created xsi:type="dcterms:W3CDTF">2020-01-28T04:26:00Z</dcterms:created>
  <dcterms:modified xsi:type="dcterms:W3CDTF">2026-04-27T10:16:10Z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2052-12.1.0.18608</vt:lpwstr>
  </property>
  <property fmtid="{D5CDD505-2E9C-101B-9397-08002B2CF9AE}" pid="3" name="KSOTemplateUUID">
    <vt:lpwstr>v1.0_mb_p3KkJyKqBJSpFjgU+N9mKw==</vt:lpwstr>
  </property>
  <property fmtid="{D5CDD505-2E9C-101B-9397-08002B2CF9AE}" pid="4" name="ICV">
    <vt:lpwstr>D39516DBCF4F48E18D217F3CA681694C_11</vt:lpwstr>
  </property>
</Properties>
</file>