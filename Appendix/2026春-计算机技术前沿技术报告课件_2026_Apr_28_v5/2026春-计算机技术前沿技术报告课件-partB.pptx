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4" r:id="rId10"/>
    <p:sldId id="270" r:id="rId11"/>
    <p:sldId id="268" r:id="rId12"/>
    <p:sldId id="265" r:id="rId13"/>
    <p:sldId id="266" r:id="rId14"/>
    <p:sldId id="277" r:id="rId15"/>
    <p:sldId id="278" r:id="rId16"/>
    <p:sldId id="272" r:id="rId17"/>
    <p:sldId id="273" r:id="rId18"/>
    <p:sldId id="269" r:id="rId19"/>
    <p:sldId id="267" r:id="rId20"/>
    <p:sldId id="552" r:id="rId21"/>
    <p:sldId id="553" r:id="rId22"/>
    <p:sldId id="554" r:id="rId23"/>
    <p:sldId id="555" r:id="rId24"/>
    <p:sldId id="556" r:id="rId25"/>
    <p:sldId id="558" r:id="rId26"/>
    <p:sldId id="560" r:id="rId27"/>
    <p:sldId id="561" r:id="rId28"/>
    <p:sldId id="562" r:id="rId29"/>
    <p:sldId id="563" r:id="rId30"/>
    <p:sldId id="396" r:id="rId31"/>
    <p:sldId id="565" r:id="rId32"/>
    <p:sldId id="56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02"/>
    <p:restoredTop sz="94690"/>
  </p:normalViewPr>
  <p:slideViewPr>
    <p:cSldViewPr snapToGrid="0" snapToObjects="1">
      <p:cViewPr varScale="1">
        <p:scale>
          <a:sx n="68" d="100"/>
          <a:sy n="68" d="100"/>
        </p:scale>
        <p:origin x="7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02DF5B-A2BE-4F1E-B43F-8357B8176D95}" type="doc">
      <dgm:prSet loTypeId="urn:microsoft.com/office/officeart/2005/8/layout/radial1" loCatId="cycle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B22323AB-1086-4A1C-B331-F5BB963D4145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重要性能指标</a:t>
          </a:r>
        </a:p>
      </dgm:t>
    </dgm:pt>
    <dgm:pt modelId="{F8002C4C-AD5A-415D-9914-AE4B4B07341E}" type="parTrans" cxnId="{AE8854D9-1688-447D-9E1C-54334D3667AE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A78D77-C0AC-4449-8431-EAB529D8F1FD}" type="sibTrans" cxnId="{AE8854D9-1688-447D-9E1C-54334D3667AE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2DC312-F211-45CA-A65C-AED37D4E84F0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速率</a:t>
          </a:r>
        </a:p>
      </dgm:t>
    </dgm:pt>
    <dgm:pt modelId="{A0C7B0A4-A9E9-4F21-9431-C84E96289809}" type="parTrans" cxnId="{06E46658-2D4E-4CE1-9B44-76363095246D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C099C82-1D5D-4769-AFA9-7792218D5827}" type="sibTrans" cxnId="{06E46658-2D4E-4CE1-9B44-76363095246D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0BB659-4143-44F0-8F84-D4D2FC90959C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吞吐率</a:t>
          </a:r>
        </a:p>
      </dgm:t>
    </dgm:pt>
    <dgm:pt modelId="{8CF1AA8F-96CB-4B5E-B715-B9028B917988}" type="parTrans" cxnId="{A44B08B3-A047-45A2-892F-C214B73ECD29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7256747-7EEC-4ABC-996D-C89DE5DBD52B}" type="sibTrans" cxnId="{A44B08B3-A047-45A2-892F-C214B73ECD29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517CECA-E7F5-4281-B2DA-244FEF5320DC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时延</a:t>
          </a:r>
        </a:p>
      </dgm:t>
    </dgm:pt>
    <dgm:pt modelId="{4603E628-68DC-46D2-84DA-A0245BD072EF}" type="parTrans" cxnId="{C11591D6-0992-483B-98F3-EA64344B9D2F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5724D21-8406-4C52-BA15-0ED736CB50CE}" type="sibTrans" cxnId="{C11591D6-0992-483B-98F3-EA64344B9D2F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FD6668-1A08-46AC-BA8D-FB52FFFD9631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利用率</a:t>
          </a:r>
        </a:p>
      </dgm:t>
    </dgm:pt>
    <dgm:pt modelId="{8C2FDA74-89FA-41B1-9873-0394473DF94B}" type="parTrans" cxnId="{84603CE0-D6DA-470B-B1FD-588405D531AB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3036FD-5FD0-4ACE-AC60-F08A948150DD}" type="sibTrans" cxnId="{84603CE0-D6DA-470B-B1FD-588405D531AB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B408720-3765-4817-97AA-0480BC62D918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时延带宽积</a:t>
          </a:r>
        </a:p>
      </dgm:t>
    </dgm:pt>
    <dgm:pt modelId="{60735CDE-5DEF-4EF2-882E-EE6D37ADADAA}" type="parTrans" cxnId="{57E3D092-497D-42CD-8D3D-06B7B835F9B1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1E6132-0FFC-4AED-B82E-16E82C2CF6DA}" type="sibTrans" cxnId="{57E3D092-497D-42CD-8D3D-06B7B835F9B1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D00D0D-C9FC-4080-938A-E3FE166109A0}">
      <dgm:prSet phldrT="[文本]"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往返</a:t>
          </a:r>
          <a:endParaRPr lang="en-US" altLang="zh-CN" sz="1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rPr>
            <a:t>时间</a:t>
          </a:r>
        </a:p>
      </dgm:t>
    </dgm:pt>
    <dgm:pt modelId="{ED08DA14-77EB-487F-BE02-3A6D86A8246C}" type="parTrans" cxnId="{39F0CA54-37A8-4FB1-A1E2-C7A445040E97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4BF61BA-85DC-4B4A-B4A6-D485C5AE8654}" type="sibTrans" cxnId="{39F0CA54-37A8-4FB1-A1E2-C7A445040E97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7D17AA0-6080-47AE-B7DB-526C9B560CAC}">
      <dgm:prSet custT="1"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itchFamily="34" charset="-122"/>
              <a:ea typeface="微软雅黑" pitchFamily="34" charset="-122"/>
            </a:rPr>
            <a:t>带宽</a:t>
          </a:r>
        </a:p>
      </dgm:t>
    </dgm:pt>
    <dgm:pt modelId="{DB84B937-099F-47CA-9CDD-0D18AFFCDE42}" type="parTrans" cxnId="{78A011E7-61C1-4FA0-84CE-C5A9CDB15EF2}">
      <dgm:prSet custT="1"/>
      <dgm:spPr>
        <a:ln w="19050"/>
      </dgm:spPr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400"/>
        </a:p>
      </dgm:t>
    </dgm:pt>
    <dgm:pt modelId="{F3240178-5CAF-4CE1-A438-3A427DB0871A}" type="sibTrans" cxnId="{78A011E7-61C1-4FA0-84CE-C5A9CDB15EF2}">
      <dgm:prSet/>
      <dgm:spPr/>
      <dgm:t>
        <a:bodyPr/>
        <a:lstStyle/>
        <a:p>
          <a:pPr>
            <a:lnSpc>
              <a:spcPct val="80000"/>
            </a:lnSpc>
            <a:spcBef>
              <a:spcPts val="0"/>
            </a:spcBef>
            <a:spcAft>
              <a:spcPts val="0"/>
            </a:spcAft>
          </a:pPr>
          <a:endParaRPr lang="zh-CN" altLang="en-US" sz="1600"/>
        </a:p>
      </dgm:t>
    </dgm:pt>
    <dgm:pt modelId="{038BAAB1-DC3C-4112-BA2B-18A482B3FB34}" type="pres">
      <dgm:prSet presAssocID="{EE02DF5B-A2BE-4F1E-B43F-8357B8176D9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EAB91ED-304D-4E30-917D-DB8A5D6E9F4E}" type="pres">
      <dgm:prSet presAssocID="{B22323AB-1086-4A1C-B331-F5BB963D4145}" presName="centerShape" presStyleLbl="node0" presStyleIdx="0" presStyleCnt="1" custScaleX="145530" custScaleY="145529"/>
      <dgm:spPr/>
    </dgm:pt>
    <dgm:pt modelId="{C041081D-BE3D-40E6-B560-6CCAEF685BB2}" type="pres">
      <dgm:prSet presAssocID="{A0C7B0A4-A9E9-4F21-9431-C84E96289809}" presName="Name9" presStyleLbl="parChTrans1D2" presStyleIdx="0" presStyleCnt="7"/>
      <dgm:spPr/>
    </dgm:pt>
    <dgm:pt modelId="{3CD87989-36DD-4624-AA56-93400E0521D5}" type="pres">
      <dgm:prSet presAssocID="{A0C7B0A4-A9E9-4F21-9431-C84E96289809}" presName="connTx" presStyleLbl="parChTrans1D2" presStyleIdx="0" presStyleCnt="7"/>
      <dgm:spPr/>
    </dgm:pt>
    <dgm:pt modelId="{402F23A3-1405-4E62-9B6B-1BAD6AF3B058}" type="pres">
      <dgm:prSet presAssocID="{D22DC312-F211-45CA-A65C-AED37D4E84F0}" presName="node" presStyleLbl="node1" presStyleIdx="0" presStyleCnt="7">
        <dgm:presLayoutVars>
          <dgm:bulletEnabled val="1"/>
        </dgm:presLayoutVars>
      </dgm:prSet>
      <dgm:spPr/>
    </dgm:pt>
    <dgm:pt modelId="{1A688BA9-9980-46CE-92DD-5B540F6B173C}" type="pres">
      <dgm:prSet presAssocID="{DB84B937-099F-47CA-9CDD-0D18AFFCDE42}" presName="Name9" presStyleLbl="parChTrans1D2" presStyleIdx="1" presStyleCnt="7"/>
      <dgm:spPr/>
    </dgm:pt>
    <dgm:pt modelId="{29BF8A05-B023-43EB-9B11-C312495477C8}" type="pres">
      <dgm:prSet presAssocID="{DB84B937-099F-47CA-9CDD-0D18AFFCDE42}" presName="connTx" presStyleLbl="parChTrans1D2" presStyleIdx="1" presStyleCnt="7"/>
      <dgm:spPr/>
    </dgm:pt>
    <dgm:pt modelId="{9EB9B65F-4393-4612-9918-4B6EE32BE2B5}" type="pres">
      <dgm:prSet presAssocID="{87D17AA0-6080-47AE-B7DB-526C9B560CAC}" presName="node" presStyleLbl="node1" presStyleIdx="1" presStyleCnt="7">
        <dgm:presLayoutVars>
          <dgm:bulletEnabled val="1"/>
        </dgm:presLayoutVars>
      </dgm:prSet>
      <dgm:spPr/>
    </dgm:pt>
    <dgm:pt modelId="{CA2997A6-1A9D-4195-A4F9-95CB281E15D5}" type="pres">
      <dgm:prSet presAssocID="{8CF1AA8F-96CB-4B5E-B715-B9028B917988}" presName="Name9" presStyleLbl="parChTrans1D2" presStyleIdx="2" presStyleCnt="7"/>
      <dgm:spPr/>
    </dgm:pt>
    <dgm:pt modelId="{4EA814EB-5106-4171-B8B6-C2618CEA3308}" type="pres">
      <dgm:prSet presAssocID="{8CF1AA8F-96CB-4B5E-B715-B9028B917988}" presName="connTx" presStyleLbl="parChTrans1D2" presStyleIdx="2" presStyleCnt="7"/>
      <dgm:spPr/>
    </dgm:pt>
    <dgm:pt modelId="{AA805C1A-016A-4092-AC58-C8C9626E154E}" type="pres">
      <dgm:prSet presAssocID="{CC0BB659-4143-44F0-8F84-D4D2FC90959C}" presName="node" presStyleLbl="node1" presStyleIdx="2" presStyleCnt="7">
        <dgm:presLayoutVars>
          <dgm:bulletEnabled val="1"/>
        </dgm:presLayoutVars>
      </dgm:prSet>
      <dgm:spPr/>
    </dgm:pt>
    <dgm:pt modelId="{96B1DAAE-F63C-47BA-8420-AE7C9945D5FC}" type="pres">
      <dgm:prSet presAssocID="{4603E628-68DC-46D2-84DA-A0245BD072EF}" presName="Name9" presStyleLbl="parChTrans1D2" presStyleIdx="3" presStyleCnt="7"/>
      <dgm:spPr/>
    </dgm:pt>
    <dgm:pt modelId="{C5612A02-3DBA-489F-8731-7BFEF4CFC7A5}" type="pres">
      <dgm:prSet presAssocID="{4603E628-68DC-46D2-84DA-A0245BD072EF}" presName="connTx" presStyleLbl="parChTrans1D2" presStyleIdx="3" presStyleCnt="7"/>
      <dgm:spPr/>
    </dgm:pt>
    <dgm:pt modelId="{3E830754-EFA7-4138-9FA6-3C9E92E74104}" type="pres">
      <dgm:prSet presAssocID="{A517CECA-E7F5-4281-B2DA-244FEF5320DC}" presName="node" presStyleLbl="node1" presStyleIdx="3" presStyleCnt="7">
        <dgm:presLayoutVars>
          <dgm:bulletEnabled val="1"/>
        </dgm:presLayoutVars>
      </dgm:prSet>
      <dgm:spPr/>
    </dgm:pt>
    <dgm:pt modelId="{78B2782A-5A1E-4DB7-8A32-C245B5326F9D}" type="pres">
      <dgm:prSet presAssocID="{60735CDE-5DEF-4EF2-882E-EE6D37ADADAA}" presName="Name9" presStyleLbl="parChTrans1D2" presStyleIdx="4" presStyleCnt="7"/>
      <dgm:spPr/>
    </dgm:pt>
    <dgm:pt modelId="{0DB9215C-9FC4-4645-A9FB-1A7085D28428}" type="pres">
      <dgm:prSet presAssocID="{60735CDE-5DEF-4EF2-882E-EE6D37ADADAA}" presName="connTx" presStyleLbl="parChTrans1D2" presStyleIdx="4" presStyleCnt="7"/>
      <dgm:spPr/>
    </dgm:pt>
    <dgm:pt modelId="{8473F692-BDED-4FE3-8EFA-3135EC8A8BE4}" type="pres">
      <dgm:prSet presAssocID="{CB408720-3765-4817-97AA-0480BC62D918}" presName="node" presStyleLbl="node1" presStyleIdx="4" presStyleCnt="7">
        <dgm:presLayoutVars>
          <dgm:bulletEnabled val="1"/>
        </dgm:presLayoutVars>
      </dgm:prSet>
      <dgm:spPr/>
    </dgm:pt>
    <dgm:pt modelId="{8BB81BB8-E393-4F1D-8B7B-020AC5C16F2F}" type="pres">
      <dgm:prSet presAssocID="{ED08DA14-77EB-487F-BE02-3A6D86A8246C}" presName="Name9" presStyleLbl="parChTrans1D2" presStyleIdx="5" presStyleCnt="7"/>
      <dgm:spPr/>
    </dgm:pt>
    <dgm:pt modelId="{EFA8CB61-977E-45B8-BD5E-C48F086EF9EF}" type="pres">
      <dgm:prSet presAssocID="{ED08DA14-77EB-487F-BE02-3A6D86A8246C}" presName="connTx" presStyleLbl="parChTrans1D2" presStyleIdx="5" presStyleCnt="7"/>
      <dgm:spPr/>
    </dgm:pt>
    <dgm:pt modelId="{E239F5DF-E3F9-42F3-9ADB-15CF35E6CE45}" type="pres">
      <dgm:prSet presAssocID="{65D00D0D-C9FC-4080-938A-E3FE166109A0}" presName="node" presStyleLbl="node1" presStyleIdx="5" presStyleCnt="7">
        <dgm:presLayoutVars>
          <dgm:bulletEnabled val="1"/>
        </dgm:presLayoutVars>
      </dgm:prSet>
      <dgm:spPr/>
    </dgm:pt>
    <dgm:pt modelId="{AF33E670-42AA-4676-8C3F-58C9EF27EB34}" type="pres">
      <dgm:prSet presAssocID="{8C2FDA74-89FA-41B1-9873-0394473DF94B}" presName="Name9" presStyleLbl="parChTrans1D2" presStyleIdx="6" presStyleCnt="7"/>
      <dgm:spPr/>
    </dgm:pt>
    <dgm:pt modelId="{43F165D5-D777-4F42-82A2-62F5DDF5C06C}" type="pres">
      <dgm:prSet presAssocID="{8C2FDA74-89FA-41B1-9873-0394473DF94B}" presName="connTx" presStyleLbl="parChTrans1D2" presStyleIdx="6" presStyleCnt="7"/>
      <dgm:spPr/>
    </dgm:pt>
    <dgm:pt modelId="{26B2A20A-D83E-4FB4-8289-8E75F18D9F17}" type="pres">
      <dgm:prSet presAssocID="{C2FD6668-1A08-46AC-BA8D-FB52FFFD9631}" presName="node" presStyleLbl="node1" presStyleIdx="6" presStyleCnt="7">
        <dgm:presLayoutVars>
          <dgm:bulletEnabled val="1"/>
        </dgm:presLayoutVars>
      </dgm:prSet>
      <dgm:spPr/>
    </dgm:pt>
  </dgm:ptLst>
  <dgm:cxnLst>
    <dgm:cxn modelId="{FEB40F05-B012-4742-B3F3-2E4CD9069007}" type="presOf" srcId="{4603E628-68DC-46D2-84DA-A0245BD072EF}" destId="{96B1DAAE-F63C-47BA-8420-AE7C9945D5FC}" srcOrd="0" destOrd="0" presId="urn:microsoft.com/office/officeart/2005/8/layout/radial1"/>
    <dgm:cxn modelId="{A1AA7717-4937-4972-86F5-24BEE22006CF}" type="presOf" srcId="{DB84B937-099F-47CA-9CDD-0D18AFFCDE42}" destId="{1A688BA9-9980-46CE-92DD-5B540F6B173C}" srcOrd="0" destOrd="0" presId="urn:microsoft.com/office/officeart/2005/8/layout/radial1"/>
    <dgm:cxn modelId="{8A1E1518-1582-44E6-A719-D28B7EE61E0D}" type="presOf" srcId="{60735CDE-5DEF-4EF2-882E-EE6D37ADADAA}" destId="{0DB9215C-9FC4-4645-A9FB-1A7085D28428}" srcOrd="1" destOrd="0" presId="urn:microsoft.com/office/officeart/2005/8/layout/radial1"/>
    <dgm:cxn modelId="{BA96FF2A-7A04-49C9-AC3A-32F14CE03DED}" type="presOf" srcId="{D22DC312-F211-45CA-A65C-AED37D4E84F0}" destId="{402F23A3-1405-4E62-9B6B-1BAD6AF3B058}" srcOrd="0" destOrd="0" presId="urn:microsoft.com/office/officeart/2005/8/layout/radial1"/>
    <dgm:cxn modelId="{5BC6942F-4A5C-4C8D-90E4-83B07878880A}" type="presOf" srcId="{8C2FDA74-89FA-41B1-9873-0394473DF94B}" destId="{43F165D5-D777-4F42-82A2-62F5DDF5C06C}" srcOrd="1" destOrd="0" presId="urn:microsoft.com/office/officeart/2005/8/layout/radial1"/>
    <dgm:cxn modelId="{387D4237-A227-4C79-8A9E-29729E1B0E8A}" type="presOf" srcId="{CB408720-3765-4817-97AA-0480BC62D918}" destId="{8473F692-BDED-4FE3-8EFA-3135EC8A8BE4}" srcOrd="0" destOrd="0" presId="urn:microsoft.com/office/officeart/2005/8/layout/radial1"/>
    <dgm:cxn modelId="{DF0E5F68-346C-414D-86E9-A9FAD2F20367}" type="presOf" srcId="{A0C7B0A4-A9E9-4F21-9431-C84E96289809}" destId="{C041081D-BE3D-40E6-B560-6CCAEF685BB2}" srcOrd="0" destOrd="0" presId="urn:microsoft.com/office/officeart/2005/8/layout/radial1"/>
    <dgm:cxn modelId="{648A664E-2883-4F15-865D-3DCFA5EC8F7E}" type="presOf" srcId="{65D00D0D-C9FC-4080-938A-E3FE166109A0}" destId="{E239F5DF-E3F9-42F3-9ADB-15CF35E6CE45}" srcOrd="0" destOrd="0" presId="urn:microsoft.com/office/officeart/2005/8/layout/radial1"/>
    <dgm:cxn modelId="{4FF81571-7C75-4CDD-8870-97F37CD2855E}" type="presOf" srcId="{60735CDE-5DEF-4EF2-882E-EE6D37ADADAA}" destId="{78B2782A-5A1E-4DB7-8A32-C245B5326F9D}" srcOrd="0" destOrd="0" presId="urn:microsoft.com/office/officeart/2005/8/layout/radial1"/>
    <dgm:cxn modelId="{1E233852-3F15-497A-97F8-53E8369B5A16}" type="presOf" srcId="{B22323AB-1086-4A1C-B331-F5BB963D4145}" destId="{CEAB91ED-304D-4E30-917D-DB8A5D6E9F4E}" srcOrd="0" destOrd="0" presId="urn:microsoft.com/office/officeart/2005/8/layout/radial1"/>
    <dgm:cxn modelId="{39F0CA54-37A8-4FB1-A1E2-C7A445040E97}" srcId="{B22323AB-1086-4A1C-B331-F5BB963D4145}" destId="{65D00D0D-C9FC-4080-938A-E3FE166109A0}" srcOrd="5" destOrd="0" parTransId="{ED08DA14-77EB-487F-BE02-3A6D86A8246C}" sibTransId="{94BF61BA-85DC-4B4A-B4A6-D485C5AE8654}"/>
    <dgm:cxn modelId="{06E46658-2D4E-4CE1-9B44-76363095246D}" srcId="{B22323AB-1086-4A1C-B331-F5BB963D4145}" destId="{D22DC312-F211-45CA-A65C-AED37D4E84F0}" srcOrd="0" destOrd="0" parTransId="{A0C7B0A4-A9E9-4F21-9431-C84E96289809}" sibTransId="{DC099C82-1D5D-4769-AFA9-7792218D5827}"/>
    <dgm:cxn modelId="{A20E5D7E-53F3-4892-A647-429E04042FBA}" type="presOf" srcId="{8C2FDA74-89FA-41B1-9873-0394473DF94B}" destId="{AF33E670-42AA-4676-8C3F-58C9EF27EB34}" srcOrd="0" destOrd="0" presId="urn:microsoft.com/office/officeart/2005/8/layout/radial1"/>
    <dgm:cxn modelId="{08083480-5750-4A8D-B227-453FE3A844E4}" type="presOf" srcId="{ED08DA14-77EB-487F-BE02-3A6D86A8246C}" destId="{8BB81BB8-E393-4F1D-8B7B-020AC5C16F2F}" srcOrd="0" destOrd="0" presId="urn:microsoft.com/office/officeart/2005/8/layout/radial1"/>
    <dgm:cxn modelId="{CDD16A83-C97A-4C40-9477-E4C17AADEB3D}" type="presOf" srcId="{C2FD6668-1A08-46AC-BA8D-FB52FFFD9631}" destId="{26B2A20A-D83E-4FB4-8289-8E75F18D9F17}" srcOrd="0" destOrd="0" presId="urn:microsoft.com/office/officeart/2005/8/layout/radial1"/>
    <dgm:cxn modelId="{6864DC85-6328-4444-BCCA-5ED660FE9638}" type="presOf" srcId="{4603E628-68DC-46D2-84DA-A0245BD072EF}" destId="{C5612A02-3DBA-489F-8731-7BFEF4CFC7A5}" srcOrd="1" destOrd="0" presId="urn:microsoft.com/office/officeart/2005/8/layout/radial1"/>
    <dgm:cxn modelId="{7A6D5F8D-F9DF-4AF8-8F5D-B2E73765DA11}" type="presOf" srcId="{8CF1AA8F-96CB-4B5E-B715-B9028B917988}" destId="{4EA814EB-5106-4171-B8B6-C2618CEA3308}" srcOrd="1" destOrd="0" presId="urn:microsoft.com/office/officeart/2005/8/layout/radial1"/>
    <dgm:cxn modelId="{57E3D092-497D-42CD-8D3D-06B7B835F9B1}" srcId="{B22323AB-1086-4A1C-B331-F5BB963D4145}" destId="{CB408720-3765-4817-97AA-0480BC62D918}" srcOrd="4" destOrd="0" parTransId="{60735CDE-5DEF-4EF2-882E-EE6D37ADADAA}" sibTransId="{2E1E6132-0FFC-4AED-B82E-16E82C2CF6DA}"/>
    <dgm:cxn modelId="{64D4869B-CA00-46D6-806E-45DFEBD3B1B8}" type="presOf" srcId="{A0C7B0A4-A9E9-4F21-9431-C84E96289809}" destId="{3CD87989-36DD-4624-AA56-93400E0521D5}" srcOrd="1" destOrd="0" presId="urn:microsoft.com/office/officeart/2005/8/layout/radial1"/>
    <dgm:cxn modelId="{A44B08B3-A047-45A2-892F-C214B73ECD29}" srcId="{B22323AB-1086-4A1C-B331-F5BB963D4145}" destId="{CC0BB659-4143-44F0-8F84-D4D2FC90959C}" srcOrd="2" destOrd="0" parTransId="{8CF1AA8F-96CB-4B5E-B715-B9028B917988}" sibTransId="{77256747-7EEC-4ABC-996D-C89DE5DBD52B}"/>
    <dgm:cxn modelId="{BC03D3C5-D03F-4496-9E66-EC52D8428C34}" type="presOf" srcId="{ED08DA14-77EB-487F-BE02-3A6D86A8246C}" destId="{EFA8CB61-977E-45B8-BD5E-C48F086EF9EF}" srcOrd="1" destOrd="0" presId="urn:microsoft.com/office/officeart/2005/8/layout/radial1"/>
    <dgm:cxn modelId="{182C6FC7-493B-4176-82D3-2A8BA6DDADFC}" type="presOf" srcId="{CC0BB659-4143-44F0-8F84-D4D2FC90959C}" destId="{AA805C1A-016A-4092-AC58-C8C9626E154E}" srcOrd="0" destOrd="0" presId="urn:microsoft.com/office/officeart/2005/8/layout/radial1"/>
    <dgm:cxn modelId="{F3F843CD-F01B-498A-A9F8-A21112579A0C}" type="presOf" srcId="{DB84B937-099F-47CA-9CDD-0D18AFFCDE42}" destId="{29BF8A05-B023-43EB-9B11-C312495477C8}" srcOrd="1" destOrd="0" presId="urn:microsoft.com/office/officeart/2005/8/layout/radial1"/>
    <dgm:cxn modelId="{20EFAED3-F430-4D85-9F40-13D246355EBC}" type="presOf" srcId="{EE02DF5B-A2BE-4F1E-B43F-8357B8176D95}" destId="{038BAAB1-DC3C-4112-BA2B-18A482B3FB34}" srcOrd="0" destOrd="0" presId="urn:microsoft.com/office/officeart/2005/8/layout/radial1"/>
    <dgm:cxn modelId="{C11591D6-0992-483B-98F3-EA64344B9D2F}" srcId="{B22323AB-1086-4A1C-B331-F5BB963D4145}" destId="{A517CECA-E7F5-4281-B2DA-244FEF5320DC}" srcOrd="3" destOrd="0" parTransId="{4603E628-68DC-46D2-84DA-A0245BD072EF}" sibTransId="{E5724D21-8406-4C52-BA15-0ED736CB50CE}"/>
    <dgm:cxn modelId="{AE8854D9-1688-447D-9E1C-54334D3667AE}" srcId="{EE02DF5B-A2BE-4F1E-B43F-8357B8176D95}" destId="{B22323AB-1086-4A1C-B331-F5BB963D4145}" srcOrd="0" destOrd="0" parTransId="{F8002C4C-AD5A-415D-9914-AE4B4B07341E}" sibTransId="{3EA78D77-C0AC-4449-8431-EAB529D8F1FD}"/>
    <dgm:cxn modelId="{F2A08AD9-CFB1-48E3-B1B0-150C72948075}" type="presOf" srcId="{87D17AA0-6080-47AE-B7DB-526C9B560CAC}" destId="{9EB9B65F-4393-4612-9918-4B6EE32BE2B5}" srcOrd="0" destOrd="0" presId="urn:microsoft.com/office/officeart/2005/8/layout/radial1"/>
    <dgm:cxn modelId="{84603CE0-D6DA-470B-B1FD-588405D531AB}" srcId="{B22323AB-1086-4A1C-B331-F5BB963D4145}" destId="{C2FD6668-1A08-46AC-BA8D-FB52FFFD9631}" srcOrd="6" destOrd="0" parTransId="{8C2FDA74-89FA-41B1-9873-0394473DF94B}" sibTransId="{523036FD-5FD0-4ACE-AC60-F08A948150DD}"/>
    <dgm:cxn modelId="{1B195DE1-A215-478D-A6DE-67AAB3BAD050}" type="presOf" srcId="{8CF1AA8F-96CB-4B5E-B715-B9028B917988}" destId="{CA2997A6-1A9D-4195-A4F9-95CB281E15D5}" srcOrd="0" destOrd="0" presId="urn:microsoft.com/office/officeart/2005/8/layout/radial1"/>
    <dgm:cxn modelId="{78A011E7-61C1-4FA0-84CE-C5A9CDB15EF2}" srcId="{B22323AB-1086-4A1C-B331-F5BB963D4145}" destId="{87D17AA0-6080-47AE-B7DB-526C9B560CAC}" srcOrd="1" destOrd="0" parTransId="{DB84B937-099F-47CA-9CDD-0D18AFFCDE42}" sibTransId="{F3240178-5CAF-4CE1-A438-3A427DB0871A}"/>
    <dgm:cxn modelId="{C3497DEC-C149-48B3-BC23-CC9921EB14C3}" type="presOf" srcId="{A517CECA-E7F5-4281-B2DA-244FEF5320DC}" destId="{3E830754-EFA7-4138-9FA6-3C9E92E74104}" srcOrd="0" destOrd="0" presId="urn:microsoft.com/office/officeart/2005/8/layout/radial1"/>
    <dgm:cxn modelId="{133AE4FF-A484-41DA-8EB1-C2C3D02BF120}" type="presParOf" srcId="{038BAAB1-DC3C-4112-BA2B-18A482B3FB34}" destId="{CEAB91ED-304D-4E30-917D-DB8A5D6E9F4E}" srcOrd="0" destOrd="0" presId="urn:microsoft.com/office/officeart/2005/8/layout/radial1"/>
    <dgm:cxn modelId="{E16F9661-5AC5-4437-BD9C-16AE476DE23B}" type="presParOf" srcId="{038BAAB1-DC3C-4112-BA2B-18A482B3FB34}" destId="{C041081D-BE3D-40E6-B560-6CCAEF685BB2}" srcOrd="1" destOrd="0" presId="urn:microsoft.com/office/officeart/2005/8/layout/radial1"/>
    <dgm:cxn modelId="{3211F2AF-F364-43D0-9A7C-79702C6E6C34}" type="presParOf" srcId="{C041081D-BE3D-40E6-B560-6CCAEF685BB2}" destId="{3CD87989-36DD-4624-AA56-93400E0521D5}" srcOrd="0" destOrd="0" presId="urn:microsoft.com/office/officeart/2005/8/layout/radial1"/>
    <dgm:cxn modelId="{D92718EA-F264-4BF2-93EC-8679C66217A9}" type="presParOf" srcId="{038BAAB1-DC3C-4112-BA2B-18A482B3FB34}" destId="{402F23A3-1405-4E62-9B6B-1BAD6AF3B058}" srcOrd="2" destOrd="0" presId="urn:microsoft.com/office/officeart/2005/8/layout/radial1"/>
    <dgm:cxn modelId="{110BBA91-D51D-4E73-8BA1-75833E52D395}" type="presParOf" srcId="{038BAAB1-DC3C-4112-BA2B-18A482B3FB34}" destId="{1A688BA9-9980-46CE-92DD-5B540F6B173C}" srcOrd="3" destOrd="0" presId="urn:microsoft.com/office/officeart/2005/8/layout/radial1"/>
    <dgm:cxn modelId="{F8623B45-8DA7-4EBE-ACD0-4A02FF495F20}" type="presParOf" srcId="{1A688BA9-9980-46CE-92DD-5B540F6B173C}" destId="{29BF8A05-B023-43EB-9B11-C312495477C8}" srcOrd="0" destOrd="0" presId="urn:microsoft.com/office/officeart/2005/8/layout/radial1"/>
    <dgm:cxn modelId="{A74FED4A-009A-4DB5-A934-8DF39073D56A}" type="presParOf" srcId="{038BAAB1-DC3C-4112-BA2B-18A482B3FB34}" destId="{9EB9B65F-4393-4612-9918-4B6EE32BE2B5}" srcOrd="4" destOrd="0" presId="urn:microsoft.com/office/officeart/2005/8/layout/radial1"/>
    <dgm:cxn modelId="{6E2A2A09-8046-4E50-A69C-9968D89DA4C3}" type="presParOf" srcId="{038BAAB1-DC3C-4112-BA2B-18A482B3FB34}" destId="{CA2997A6-1A9D-4195-A4F9-95CB281E15D5}" srcOrd="5" destOrd="0" presId="urn:microsoft.com/office/officeart/2005/8/layout/radial1"/>
    <dgm:cxn modelId="{D609836B-250A-45E8-8415-68F0690A11B6}" type="presParOf" srcId="{CA2997A6-1A9D-4195-A4F9-95CB281E15D5}" destId="{4EA814EB-5106-4171-B8B6-C2618CEA3308}" srcOrd="0" destOrd="0" presId="urn:microsoft.com/office/officeart/2005/8/layout/radial1"/>
    <dgm:cxn modelId="{C75544EF-EE5A-4BC4-9777-2A3C7E9A4A0B}" type="presParOf" srcId="{038BAAB1-DC3C-4112-BA2B-18A482B3FB34}" destId="{AA805C1A-016A-4092-AC58-C8C9626E154E}" srcOrd="6" destOrd="0" presId="urn:microsoft.com/office/officeart/2005/8/layout/radial1"/>
    <dgm:cxn modelId="{BB776DD6-B251-46CF-8328-3B48454360D7}" type="presParOf" srcId="{038BAAB1-DC3C-4112-BA2B-18A482B3FB34}" destId="{96B1DAAE-F63C-47BA-8420-AE7C9945D5FC}" srcOrd="7" destOrd="0" presId="urn:microsoft.com/office/officeart/2005/8/layout/radial1"/>
    <dgm:cxn modelId="{FE18A4D5-C790-46F0-970E-6A398EEEAF22}" type="presParOf" srcId="{96B1DAAE-F63C-47BA-8420-AE7C9945D5FC}" destId="{C5612A02-3DBA-489F-8731-7BFEF4CFC7A5}" srcOrd="0" destOrd="0" presId="urn:microsoft.com/office/officeart/2005/8/layout/radial1"/>
    <dgm:cxn modelId="{BFD25698-62F9-474A-B6C4-B772D8E4456C}" type="presParOf" srcId="{038BAAB1-DC3C-4112-BA2B-18A482B3FB34}" destId="{3E830754-EFA7-4138-9FA6-3C9E92E74104}" srcOrd="8" destOrd="0" presId="urn:microsoft.com/office/officeart/2005/8/layout/radial1"/>
    <dgm:cxn modelId="{6032A82A-B226-4842-82FC-9C2608852E84}" type="presParOf" srcId="{038BAAB1-DC3C-4112-BA2B-18A482B3FB34}" destId="{78B2782A-5A1E-4DB7-8A32-C245B5326F9D}" srcOrd="9" destOrd="0" presId="urn:microsoft.com/office/officeart/2005/8/layout/radial1"/>
    <dgm:cxn modelId="{57EFBA60-C095-4099-A06A-F501722F815D}" type="presParOf" srcId="{78B2782A-5A1E-4DB7-8A32-C245B5326F9D}" destId="{0DB9215C-9FC4-4645-A9FB-1A7085D28428}" srcOrd="0" destOrd="0" presId="urn:microsoft.com/office/officeart/2005/8/layout/radial1"/>
    <dgm:cxn modelId="{7269BCE5-5856-480D-B02B-4E12E87E70C7}" type="presParOf" srcId="{038BAAB1-DC3C-4112-BA2B-18A482B3FB34}" destId="{8473F692-BDED-4FE3-8EFA-3135EC8A8BE4}" srcOrd="10" destOrd="0" presId="urn:microsoft.com/office/officeart/2005/8/layout/radial1"/>
    <dgm:cxn modelId="{02855FD4-D20B-4284-8DCA-4C3344D98DCF}" type="presParOf" srcId="{038BAAB1-DC3C-4112-BA2B-18A482B3FB34}" destId="{8BB81BB8-E393-4F1D-8B7B-020AC5C16F2F}" srcOrd="11" destOrd="0" presId="urn:microsoft.com/office/officeart/2005/8/layout/radial1"/>
    <dgm:cxn modelId="{39A07AD8-4570-4B96-9438-975BD661E11E}" type="presParOf" srcId="{8BB81BB8-E393-4F1D-8B7B-020AC5C16F2F}" destId="{EFA8CB61-977E-45B8-BD5E-C48F086EF9EF}" srcOrd="0" destOrd="0" presId="urn:microsoft.com/office/officeart/2005/8/layout/radial1"/>
    <dgm:cxn modelId="{0383C5C4-9A24-4B92-BF01-350088E4724E}" type="presParOf" srcId="{038BAAB1-DC3C-4112-BA2B-18A482B3FB34}" destId="{E239F5DF-E3F9-42F3-9ADB-15CF35E6CE45}" srcOrd="12" destOrd="0" presId="urn:microsoft.com/office/officeart/2005/8/layout/radial1"/>
    <dgm:cxn modelId="{08F79CF2-0FBA-4CC3-8A95-6E4E54732669}" type="presParOf" srcId="{038BAAB1-DC3C-4112-BA2B-18A482B3FB34}" destId="{AF33E670-42AA-4676-8C3F-58C9EF27EB34}" srcOrd="13" destOrd="0" presId="urn:microsoft.com/office/officeart/2005/8/layout/radial1"/>
    <dgm:cxn modelId="{74408013-2DEF-40A7-A044-6E878A5D8156}" type="presParOf" srcId="{AF33E670-42AA-4676-8C3F-58C9EF27EB34}" destId="{43F165D5-D777-4F42-82A2-62F5DDF5C06C}" srcOrd="0" destOrd="0" presId="urn:microsoft.com/office/officeart/2005/8/layout/radial1"/>
    <dgm:cxn modelId="{7B882BCB-E5BF-473D-838C-0EC64E199E4E}" type="presParOf" srcId="{038BAAB1-DC3C-4112-BA2B-18A482B3FB34}" destId="{26B2A20A-D83E-4FB4-8289-8E75F18D9F17}" srcOrd="1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AB813C-B06A-4F31-AE41-5FBC08019F61}" type="doc">
      <dgm:prSet loTypeId="urn:microsoft.com/office/officeart/2005/8/layout/vList5" loCatId="list" qsTypeId="urn:microsoft.com/office/officeart/2005/8/quickstyle/simple1" qsCatId="simple" csTypeId="urn:microsoft.com/office/officeart/2005/8/colors/colorful1#4" csCatId="colorful" phldr="1"/>
      <dgm:spPr/>
      <dgm:t>
        <a:bodyPr/>
        <a:lstStyle/>
        <a:p>
          <a:endParaRPr lang="zh-CN" altLang="en-US"/>
        </a:p>
      </dgm:t>
    </dgm:pt>
    <dgm:pt modelId="{050A098E-265C-4391-8A02-18D41C9ACEF7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频域</a:t>
          </a:r>
        </a:p>
      </dgm:t>
    </dgm:pt>
    <dgm:pt modelId="{A6F7A116-B107-4EA4-9066-73D7E647AB1E}" type="parTrans" cxnId="{EC4EA4BE-F7E1-4328-B1DB-6A0D15C7F420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CB1832-21C9-4CED-A453-F89D918E8026}" type="sibTrans" cxnId="{EC4EA4BE-F7E1-4328-B1DB-6A0D15C7F420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EF4933F-9CB0-4FCB-8C1E-9CB99A07B49E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某个信号具有的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频带宽度。</a:t>
          </a:r>
        </a:p>
      </dgm:t>
    </dgm:pt>
    <dgm:pt modelId="{496C612B-0359-4353-8637-BF1552A99E99}" type="parTrans" cxnId="{83A05107-00D7-4222-B7C2-A60E72976CB4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8C0578-B49C-4E15-96F8-93E15DFFC7F1}" type="sibTrans" cxnId="{83A05107-00D7-4222-B7C2-A60E72976CB4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C3747A4-6E14-4B4D-B352-09BA88A76C46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单位是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赫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（或千赫、兆赫、吉赫等）。</a:t>
          </a:r>
        </a:p>
      </dgm:t>
    </dgm:pt>
    <dgm:pt modelId="{9C1E3CB2-E8C8-49AB-965B-AFC0CD4F794D}" type="parTrans" cxnId="{1165B027-3233-4387-BD43-758F7EC8C9C7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8D8998-D0E8-4832-B8F9-C32C7B518B9A}" type="sibTrans" cxnId="{1165B027-3233-4387-BD43-758F7EC8C9C7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7D28CE-69F5-49A1-B14F-3045EE4444C5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时域</a:t>
          </a:r>
        </a:p>
      </dgm:t>
    </dgm:pt>
    <dgm:pt modelId="{7BA8DCB6-F2BF-48A1-AE72-20D033A4AB32}" type="parTrans" cxnId="{60735D4F-A4F3-476D-AE58-8AE4EDAE2412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A15820-9812-4C8B-9CED-F317235A9064}" type="sibTrans" cxnId="{60735D4F-A4F3-476D-AE58-8AE4EDAE2412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0DB3CE6-D371-46C6-BF5C-43B59AB6EDE2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网络中某通道传送数据的能力，表示在单位时间内网络中的某信道所能通过的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“最高数据率”。</a:t>
          </a:r>
        </a:p>
      </dgm:t>
    </dgm:pt>
    <dgm:pt modelId="{EF117184-0A6B-450A-9F46-59148824F74C}" type="parTrans" cxnId="{F099BD6E-6DE6-4DC8-8916-951CC33D3D91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CD476C-4C81-48A0-A49D-D9F381D723F0}" type="sibTrans" cxnId="{F099BD6E-6DE6-4DC8-8916-951CC33D3D91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79FA712-BCAA-459B-A818-2FEE70636A61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单位就是数据率的单位 </a:t>
          </a:r>
          <a:r>
            <a:rPr lang="en-US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bit/s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0A4C7176-71C6-4DA2-A49E-1FBD36EA537F}" type="parTrans" cxnId="{2E444A85-2D22-48A3-8A02-211B5B9A1B48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008DC61-DEEE-4E2B-8DE7-4B2E6EECC852}" type="sibTrans" cxnId="{2E444A85-2D22-48A3-8A02-211B5B9A1B48}">
      <dgm:prSet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66B706-D603-46A5-9883-124C05B8E875}">
      <dgm:prSet phldrT="[文本]" custT="1"/>
      <dgm:spPr/>
      <dgm:t>
        <a:bodyPr/>
        <a:lstStyle/>
        <a:p>
          <a:pPr>
            <a:lnSpc>
              <a:spcPts val="24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某信道允许通过的信号频带范围称为该</a:t>
          </a:r>
          <a:r>
            <a: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信道的带宽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（或通频带）。</a:t>
          </a:r>
        </a:p>
      </dgm:t>
    </dgm:pt>
    <dgm:pt modelId="{89BD7969-E47A-44A1-A228-64CDDE384D58}" type="parTrans" cxnId="{DC942A3B-33E6-4C36-96EA-7BED92D7AD9D}">
      <dgm:prSet/>
      <dgm:spPr/>
      <dgm:t>
        <a:bodyPr/>
        <a:lstStyle/>
        <a:p>
          <a:endParaRPr lang="zh-CN" altLang="en-US"/>
        </a:p>
      </dgm:t>
    </dgm:pt>
    <dgm:pt modelId="{CF6155F8-E999-4B3A-9320-1784222FDB2A}" type="sibTrans" cxnId="{DC942A3B-33E6-4C36-96EA-7BED92D7AD9D}">
      <dgm:prSet/>
      <dgm:spPr/>
      <dgm:t>
        <a:bodyPr/>
        <a:lstStyle/>
        <a:p>
          <a:endParaRPr lang="zh-CN" altLang="en-US"/>
        </a:p>
      </dgm:t>
    </dgm:pt>
    <dgm:pt modelId="{40E63CE6-BCF0-4D31-BF79-E0110AFBC97D}" type="pres">
      <dgm:prSet presAssocID="{F9AB813C-B06A-4F31-AE41-5FBC08019F61}" presName="Name0" presStyleCnt="0">
        <dgm:presLayoutVars>
          <dgm:dir/>
          <dgm:animLvl val="lvl"/>
          <dgm:resizeHandles val="exact"/>
        </dgm:presLayoutVars>
      </dgm:prSet>
      <dgm:spPr/>
    </dgm:pt>
    <dgm:pt modelId="{A816BD0E-3B05-4D80-8D09-86E69DADF94A}" type="pres">
      <dgm:prSet presAssocID="{050A098E-265C-4391-8A02-18D41C9ACEF7}" presName="linNode" presStyleCnt="0"/>
      <dgm:spPr/>
    </dgm:pt>
    <dgm:pt modelId="{12490A3D-6938-465D-B09D-05FD246C6E9E}" type="pres">
      <dgm:prSet presAssocID="{050A098E-265C-4391-8A02-18D41C9ACEF7}" presName="parentText" presStyleLbl="node1" presStyleIdx="0" presStyleCnt="2" custScaleX="41980">
        <dgm:presLayoutVars>
          <dgm:chMax val="1"/>
          <dgm:bulletEnabled val="1"/>
        </dgm:presLayoutVars>
      </dgm:prSet>
      <dgm:spPr/>
    </dgm:pt>
    <dgm:pt modelId="{D8322834-D555-4278-B09F-615875E565CE}" type="pres">
      <dgm:prSet presAssocID="{050A098E-265C-4391-8A02-18D41C9ACEF7}" presName="descendantText" presStyleLbl="alignAccFollowNode1" presStyleIdx="0" presStyleCnt="2" custScaleX="127202">
        <dgm:presLayoutVars>
          <dgm:bulletEnabled val="1"/>
        </dgm:presLayoutVars>
      </dgm:prSet>
      <dgm:spPr/>
    </dgm:pt>
    <dgm:pt modelId="{D083337A-8E07-459D-A053-9228C089A47E}" type="pres">
      <dgm:prSet presAssocID="{1BCB1832-21C9-4CED-A453-F89D918E8026}" presName="sp" presStyleCnt="0"/>
      <dgm:spPr/>
    </dgm:pt>
    <dgm:pt modelId="{795B2B64-5D71-4F73-BF51-C77D11A4D022}" type="pres">
      <dgm:prSet presAssocID="{7D7D28CE-69F5-49A1-B14F-3045EE4444C5}" presName="linNode" presStyleCnt="0"/>
      <dgm:spPr/>
    </dgm:pt>
    <dgm:pt modelId="{90C011AE-3F91-416D-B2FD-433B35EC17A6}" type="pres">
      <dgm:prSet presAssocID="{7D7D28CE-69F5-49A1-B14F-3045EE4444C5}" presName="parentText" presStyleLbl="node1" presStyleIdx="1" presStyleCnt="2" custScaleX="41980" custLinFactNeighborY="-2899">
        <dgm:presLayoutVars>
          <dgm:chMax val="1"/>
          <dgm:bulletEnabled val="1"/>
        </dgm:presLayoutVars>
      </dgm:prSet>
      <dgm:spPr/>
    </dgm:pt>
    <dgm:pt modelId="{4EADB46F-8684-4B72-97FE-D18AEB647819}" type="pres">
      <dgm:prSet presAssocID="{7D7D28CE-69F5-49A1-B14F-3045EE4444C5}" presName="descendantText" presStyleLbl="alignAccFollowNode1" presStyleIdx="1" presStyleCnt="2" custScaleX="127202" custLinFactNeighborY="-3622">
        <dgm:presLayoutVars>
          <dgm:bulletEnabled val="1"/>
        </dgm:presLayoutVars>
      </dgm:prSet>
      <dgm:spPr/>
    </dgm:pt>
  </dgm:ptLst>
  <dgm:cxnLst>
    <dgm:cxn modelId="{83A05107-00D7-4222-B7C2-A60E72976CB4}" srcId="{050A098E-265C-4391-8A02-18D41C9ACEF7}" destId="{FEF4933F-9CB0-4FCB-8C1E-9CB99A07B49E}" srcOrd="0" destOrd="0" parTransId="{496C612B-0359-4353-8637-BF1552A99E99}" sibTransId="{E18C0578-B49C-4E15-96F8-93E15DFFC7F1}"/>
    <dgm:cxn modelId="{63CD9407-2941-47C4-89ED-D215479544D9}" type="presOf" srcId="{679FA712-BCAA-459B-A818-2FEE70636A61}" destId="{4EADB46F-8684-4B72-97FE-D18AEB647819}" srcOrd="0" destOrd="1" presId="urn:microsoft.com/office/officeart/2005/8/layout/vList5"/>
    <dgm:cxn modelId="{03AFA410-631A-40E5-B964-EC11BE5D8531}" type="presOf" srcId="{1B66B706-D603-46A5-9883-124C05B8E875}" destId="{D8322834-D555-4278-B09F-615875E565CE}" srcOrd="0" destOrd="2" presId="urn:microsoft.com/office/officeart/2005/8/layout/vList5"/>
    <dgm:cxn modelId="{C2EF7411-42DE-465C-8FAE-3EB55B7970F6}" type="presOf" srcId="{050A098E-265C-4391-8A02-18D41C9ACEF7}" destId="{12490A3D-6938-465D-B09D-05FD246C6E9E}" srcOrd="0" destOrd="0" presId="urn:microsoft.com/office/officeart/2005/8/layout/vList5"/>
    <dgm:cxn modelId="{FBD4A315-3663-4844-922B-3DBBE857371B}" type="presOf" srcId="{7D7D28CE-69F5-49A1-B14F-3045EE4444C5}" destId="{90C011AE-3F91-416D-B2FD-433B35EC17A6}" srcOrd="0" destOrd="0" presId="urn:microsoft.com/office/officeart/2005/8/layout/vList5"/>
    <dgm:cxn modelId="{1165B027-3233-4387-BD43-758F7EC8C9C7}" srcId="{050A098E-265C-4391-8A02-18D41C9ACEF7}" destId="{0C3747A4-6E14-4B4D-B352-09BA88A76C46}" srcOrd="1" destOrd="0" parTransId="{9C1E3CB2-E8C8-49AB-965B-AFC0CD4F794D}" sibTransId="{B78D8998-D0E8-4832-B8F9-C32C7B518B9A}"/>
    <dgm:cxn modelId="{A7DDFB38-9139-4A21-A289-C3FF5A2E42B4}" type="presOf" srcId="{E0DB3CE6-D371-46C6-BF5C-43B59AB6EDE2}" destId="{4EADB46F-8684-4B72-97FE-D18AEB647819}" srcOrd="0" destOrd="0" presId="urn:microsoft.com/office/officeart/2005/8/layout/vList5"/>
    <dgm:cxn modelId="{DC942A3B-33E6-4C36-96EA-7BED92D7AD9D}" srcId="{050A098E-265C-4391-8A02-18D41C9ACEF7}" destId="{1B66B706-D603-46A5-9883-124C05B8E875}" srcOrd="2" destOrd="0" parTransId="{89BD7969-E47A-44A1-A228-64CDDE384D58}" sibTransId="{CF6155F8-E999-4B3A-9320-1784222FDB2A}"/>
    <dgm:cxn modelId="{371AB66C-17E5-4EE2-947D-C610D4A3E588}" type="presOf" srcId="{F9AB813C-B06A-4F31-AE41-5FBC08019F61}" destId="{40E63CE6-BCF0-4D31-BF79-E0110AFBC97D}" srcOrd="0" destOrd="0" presId="urn:microsoft.com/office/officeart/2005/8/layout/vList5"/>
    <dgm:cxn modelId="{F099BD6E-6DE6-4DC8-8916-951CC33D3D91}" srcId="{7D7D28CE-69F5-49A1-B14F-3045EE4444C5}" destId="{E0DB3CE6-D371-46C6-BF5C-43B59AB6EDE2}" srcOrd="0" destOrd="0" parTransId="{EF117184-0A6B-450A-9F46-59148824F74C}" sibTransId="{3ECD476C-4C81-48A0-A49D-D9F381D723F0}"/>
    <dgm:cxn modelId="{60735D4F-A4F3-476D-AE58-8AE4EDAE2412}" srcId="{F9AB813C-B06A-4F31-AE41-5FBC08019F61}" destId="{7D7D28CE-69F5-49A1-B14F-3045EE4444C5}" srcOrd="1" destOrd="0" parTransId="{7BA8DCB6-F2BF-48A1-AE72-20D033A4AB32}" sibTransId="{56A15820-9812-4C8B-9CED-F317235A9064}"/>
    <dgm:cxn modelId="{2E444A85-2D22-48A3-8A02-211B5B9A1B48}" srcId="{7D7D28CE-69F5-49A1-B14F-3045EE4444C5}" destId="{679FA712-BCAA-459B-A818-2FEE70636A61}" srcOrd="1" destOrd="0" parTransId="{0A4C7176-71C6-4DA2-A49E-1FBD36EA537F}" sibTransId="{C008DC61-DEEE-4E2B-8DE7-4B2E6EECC852}"/>
    <dgm:cxn modelId="{EC4EA4BE-F7E1-4328-B1DB-6A0D15C7F420}" srcId="{F9AB813C-B06A-4F31-AE41-5FBC08019F61}" destId="{050A098E-265C-4391-8A02-18D41C9ACEF7}" srcOrd="0" destOrd="0" parTransId="{A6F7A116-B107-4EA4-9066-73D7E647AB1E}" sibTransId="{1BCB1832-21C9-4CED-A453-F89D918E8026}"/>
    <dgm:cxn modelId="{A9A0C1BE-E752-49A8-9D77-F0F4F763D66F}" type="presOf" srcId="{FEF4933F-9CB0-4FCB-8C1E-9CB99A07B49E}" destId="{D8322834-D555-4278-B09F-615875E565CE}" srcOrd="0" destOrd="0" presId="urn:microsoft.com/office/officeart/2005/8/layout/vList5"/>
    <dgm:cxn modelId="{C64A0FEB-C933-463E-AEB0-9AD63DC6FF69}" type="presOf" srcId="{0C3747A4-6E14-4B4D-B352-09BA88A76C46}" destId="{D8322834-D555-4278-B09F-615875E565CE}" srcOrd="0" destOrd="1" presId="urn:microsoft.com/office/officeart/2005/8/layout/vList5"/>
    <dgm:cxn modelId="{73C37479-3E4B-4A25-A901-743C14E100D2}" type="presParOf" srcId="{40E63CE6-BCF0-4D31-BF79-E0110AFBC97D}" destId="{A816BD0E-3B05-4D80-8D09-86E69DADF94A}" srcOrd="0" destOrd="0" presId="urn:microsoft.com/office/officeart/2005/8/layout/vList5"/>
    <dgm:cxn modelId="{C0E9B0E7-F95F-485D-A69A-8411C84912E4}" type="presParOf" srcId="{A816BD0E-3B05-4D80-8D09-86E69DADF94A}" destId="{12490A3D-6938-465D-B09D-05FD246C6E9E}" srcOrd="0" destOrd="0" presId="urn:microsoft.com/office/officeart/2005/8/layout/vList5"/>
    <dgm:cxn modelId="{0A3B23AB-91F2-43D6-BC1E-C7789C0BDD1D}" type="presParOf" srcId="{A816BD0E-3B05-4D80-8D09-86E69DADF94A}" destId="{D8322834-D555-4278-B09F-615875E565CE}" srcOrd="1" destOrd="0" presId="urn:microsoft.com/office/officeart/2005/8/layout/vList5"/>
    <dgm:cxn modelId="{185C4137-9E4F-4F19-A3CB-E491C911A7C5}" type="presParOf" srcId="{40E63CE6-BCF0-4D31-BF79-E0110AFBC97D}" destId="{D083337A-8E07-459D-A053-9228C089A47E}" srcOrd="1" destOrd="0" presId="urn:microsoft.com/office/officeart/2005/8/layout/vList5"/>
    <dgm:cxn modelId="{90C81B48-3660-4386-86E9-B2B326A264D4}" type="presParOf" srcId="{40E63CE6-BCF0-4D31-BF79-E0110AFBC97D}" destId="{795B2B64-5D71-4F73-BF51-C77D11A4D022}" srcOrd="2" destOrd="0" presId="urn:microsoft.com/office/officeart/2005/8/layout/vList5"/>
    <dgm:cxn modelId="{9BF1E6FC-7FE7-44BF-ADCB-9FE0476846EC}" type="presParOf" srcId="{795B2B64-5D71-4F73-BF51-C77D11A4D022}" destId="{90C011AE-3F91-416D-B2FD-433B35EC17A6}" srcOrd="0" destOrd="0" presId="urn:microsoft.com/office/officeart/2005/8/layout/vList5"/>
    <dgm:cxn modelId="{522D5519-935E-43DE-B65C-3F7A263B0C61}" type="presParOf" srcId="{795B2B64-5D71-4F73-BF51-C77D11A4D022}" destId="{4EADB46F-8684-4B72-97FE-D18AEB64781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B91ED-304D-4E30-917D-DB8A5D6E9F4E}">
      <dsp:nvSpPr>
        <dsp:cNvPr id="0" name=""/>
        <dsp:cNvSpPr/>
      </dsp:nvSpPr>
      <dsp:spPr>
        <a:xfrm>
          <a:off x="3016070" y="1389547"/>
          <a:ext cx="1586166" cy="158615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重要性能指标</a:t>
          </a:r>
        </a:p>
      </dsp:txBody>
      <dsp:txXfrm>
        <a:off x="3248359" y="1621834"/>
        <a:ext cx="1121588" cy="1121581"/>
      </dsp:txXfrm>
    </dsp:sp>
    <dsp:sp modelId="{C041081D-BE3D-40E6-B560-6CCAEF685BB2}">
      <dsp:nvSpPr>
        <dsp:cNvPr id="0" name=""/>
        <dsp:cNvSpPr/>
      </dsp:nvSpPr>
      <dsp:spPr>
        <a:xfrm rot="16200000">
          <a:off x="3660685" y="1228202"/>
          <a:ext cx="296937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96937" y="1287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801730" y="1233655"/>
        <a:ext cx="14846" cy="14846"/>
      </dsp:txXfrm>
    </dsp:sp>
    <dsp:sp modelId="{402F23A3-1405-4E62-9B6B-1BAD6AF3B058}">
      <dsp:nvSpPr>
        <dsp:cNvPr id="0" name=""/>
        <dsp:cNvSpPr/>
      </dsp:nvSpPr>
      <dsp:spPr>
        <a:xfrm>
          <a:off x="3264192" y="2685"/>
          <a:ext cx="1089923" cy="108992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速率</a:t>
          </a:r>
        </a:p>
      </dsp:txBody>
      <dsp:txXfrm>
        <a:off x="3423808" y="162301"/>
        <a:ext cx="770691" cy="770691"/>
      </dsp:txXfrm>
    </dsp:sp>
    <dsp:sp modelId="{1A688BA9-9980-46CE-92DD-5B540F6B173C}">
      <dsp:nvSpPr>
        <dsp:cNvPr id="0" name=""/>
        <dsp:cNvSpPr/>
      </dsp:nvSpPr>
      <dsp:spPr>
        <a:xfrm rot="19285714">
          <a:off x="4396818" y="1582703"/>
          <a:ext cx="296934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96934" y="1287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400" kern="1200"/>
        </a:p>
      </dsp:txBody>
      <dsp:txXfrm>
        <a:off x="4537862" y="1588156"/>
        <a:ext cx="14846" cy="14846"/>
      </dsp:txXfrm>
    </dsp:sp>
    <dsp:sp modelId="{9EB9B65F-4393-4612-9918-4B6EE32BE2B5}">
      <dsp:nvSpPr>
        <dsp:cNvPr id="0" name=""/>
        <dsp:cNvSpPr/>
      </dsp:nvSpPr>
      <dsp:spPr>
        <a:xfrm>
          <a:off x="4542468" y="618271"/>
          <a:ext cx="1089923" cy="1089923"/>
        </a:xfrm>
        <a:prstGeom prst="ellipse">
          <a:avLst/>
        </a:prstGeom>
        <a:gradFill rotWithShape="0">
          <a:gsLst>
            <a:gs pos="0">
              <a:schemeClr val="accent3">
                <a:hueOff val="451767"/>
                <a:satOff val="16667"/>
                <a:lumOff val="-2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51767"/>
                <a:satOff val="16667"/>
                <a:lumOff val="-2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51767"/>
                <a:satOff val="16667"/>
                <a:lumOff val="-2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itchFamily="34" charset="-122"/>
              <a:ea typeface="微软雅黑" pitchFamily="34" charset="-122"/>
            </a:rPr>
            <a:t>带宽</a:t>
          </a:r>
        </a:p>
      </dsp:txBody>
      <dsp:txXfrm>
        <a:off x="4702084" y="777887"/>
        <a:ext cx="770691" cy="770691"/>
      </dsp:txXfrm>
    </dsp:sp>
    <dsp:sp modelId="{CA2997A6-1A9D-4195-A4F9-95CB281E15D5}">
      <dsp:nvSpPr>
        <dsp:cNvPr id="0" name=""/>
        <dsp:cNvSpPr/>
      </dsp:nvSpPr>
      <dsp:spPr>
        <a:xfrm rot="771429">
          <a:off x="4578630" y="2379263"/>
          <a:ext cx="296932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96932" y="1287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719673" y="2384716"/>
        <a:ext cx="14846" cy="14846"/>
      </dsp:txXfrm>
    </dsp:sp>
    <dsp:sp modelId="{AA805C1A-016A-4092-AC58-C8C9626E154E}">
      <dsp:nvSpPr>
        <dsp:cNvPr id="0" name=""/>
        <dsp:cNvSpPr/>
      </dsp:nvSpPr>
      <dsp:spPr>
        <a:xfrm>
          <a:off x="4858177" y="2001480"/>
          <a:ext cx="1089923" cy="1089923"/>
        </a:xfrm>
        <a:prstGeom prst="ellipse">
          <a:avLst/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吞吐率</a:t>
          </a:r>
        </a:p>
      </dsp:txBody>
      <dsp:txXfrm>
        <a:off x="5017793" y="2161096"/>
        <a:ext cx="770691" cy="770691"/>
      </dsp:txXfrm>
    </dsp:sp>
    <dsp:sp modelId="{96B1DAAE-F63C-47BA-8420-AE7C9945D5FC}">
      <dsp:nvSpPr>
        <dsp:cNvPr id="0" name=""/>
        <dsp:cNvSpPr/>
      </dsp:nvSpPr>
      <dsp:spPr>
        <a:xfrm rot="3857143">
          <a:off x="4069207" y="3018054"/>
          <a:ext cx="296936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96936" y="1287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10252" y="3023506"/>
        <a:ext cx="14846" cy="14846"/>
      </dsp:txXfrm>
    </dsp:sp>
    <dsp:sp modelId="{3E830754-EFA7-4138-9FA6-3C9E92E74104}">
      <dsp:nvSpPr>
        <dsp:cNvPr id="0" name=""/>
        <dsp:cNvSpPr/>
      </dsp:nvSpPr>
      <dsp:spPr>
        <a:xfrm>
          <a:off x="3973582" y="3110727"/>
          <a:ext cx="1089923" cy="1089923"/>
        </a:xfrm>
        <a:prstGeom prst="ellipse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时延</a:t>
          </a:r>
        </a:p>
      </dsp:txBody>
      <dsp:txXfrm>
        <a:off x="4133198" y="3270343"/>
        <a:ext cx="770691" cy="770691"/>
      </dsp:txXfrm>
    </dsp:sp>
    <dsp:sp modelId="{78B2782A-5A1E-4DB7-8A32-C245B5326F9D}">
      <dsp:nvSpPr>
        <dsp:cNvPr id="0" name=""/>
        <dsp:cNvSpPr/>
      </dsp:nvSpPr>
      <dsp:spPr>
        <a:xfrm rot="6942857">
          <a:off x="3252163" y="3018054"/>
          <a:ext cx="296936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96936" y="1287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3393208" y="3023506"/>
        <a:ext cx="14846" cy="14846"/>
      </dsp:txXfrm>
    </dsp:sp>
    <dsp:sp modelId="{8473F692-BDED-4FE3-8EFA-3135EC8A8BE4}">
      <dsp:nvSpPr>
        <dsp:cNvPr id="0" name=""/>
        <dsp:cNvSpPr/>
      </dsp:nvSpPr>
      <dsp:spPr>
        <a:xfrm>
          <a:off x="2554801" y="3110727"/>
          <a:ext cx="1089923" cy="1089923"/>
        </a:xfrm>
        <a:prstGeom prst="ellipse">
          <a:avLst/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时延带宽积</a:t>
          </a:r>
        </a:p>
      </dsp:txBody>
      <dsp:txXfrm>
        <a:off x="2714417" y="3270343"/>
        <a:ext cx="770691" cy="770691"/>
      </dsp:txXfrm>
    </dsp:sp>
    <dsp:sp modelId="{8BB81BB8-E393-4F1D-8B7B-020AC5C16F2F}">
      <dsp:nvSpPr>
        <dsp:cNvPr id="0" name=""/>
        <dsp:cNvSpPr/>
      </dsp:nvSpPr>
      <dsp:spPr>
        <a:xfrm rot="10028571">
          <a:off x="2742745" y="2379263"/>
          <a:ext cx="296932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96932" y="1287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2883788" y="2384716"/>
        <a:ext cx="14846" cy="14846"/>
      </dsp:txXfrm>
    </dsp:sp>
    <dsp:sp modelId="{E239F5DF-E3F9-42F3-9ADB-15CF35E6CE45}">
      <dsp:nvSpPr>
        <dsp:cNvPr id="0" name=""/>
        <dsp:cNvSpPr/>
      </dsp:nvSpPr>
      <dsp:spPr>
        <a:xfrm>
          <a:off x="1670206" y="2001480"/>
          <a:ext cx="1089923" cy="1089923"/>
        </a:xfrm>
        <a:prstGeom prst="ellipse">
          <a:avLst/>
        </a:prstGeom>
        <a:gradFill rotWithShape="0">
          <a:gsLst>
            <a:gs pos="0">
              <a:schemeClr val="accent3">
                <a:hueOff val="2258833"/>
                <a:satOff val="83333"/>
                <a:lumOff val="-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258833"/>
                <a:satOff val="83333"/>
                <a:lumOff val="-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258833"/>
                <a:satOff val="83333"/>
                <a:lumOff val="-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往返</a:t>
          </a:r>
          <a:endParaRPr lang="en-US" altLang="zh-CN" sz="14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ctr" defTabSz="6223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时间</a:t>
          </a:r>
        </a:p>
      </dsp:txBody>
      <dsp:txXfrm>
        <a:off x="1829822" y="2161096"/>
        <a:ext cx="770691" cy="770691"/>
      </dsp:txXfrm>
    </dsp:sp>
    <dsp:sp modelId="{AF33E670-42AA-4676-8C3F-58C9EF27EB34}">
      <dsp:nvSpPr>
        <dsp:cNvPr id="0" name=""/>
        <dsp:cNvSpPr/>
      </dsp:nvSpPr>
      <dsp:spPr>
        <a:xfrm rot="13114286">
          <a:off x="2924554" y="1582703"/>
          <a:ext cx="296934" cy="25751"/>
        </a:xfrm>
        <a:custGeom>
          <a:avLst/>
          <a:gdLst/>
          <a:ahLst/>
          <a:cxnLst/>
          <a:rect l="0" t="0" r="0" b="0"/>
          <a:pathLst>
            <a:path>
              <a:moveTo>
                <a:pt x="0" y="12875"/>
              </a:moveTo>
              <a:lnTo>
                <a:pt x="296934" y="12875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endParaRPr lang="zh-CN" altLang="en-US" sz="16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10800000">
        <a:off x="3065598" y="1588156"/>
        <a:ext cx="14846" cy="14846"/>
      </dsp:txXfrm>
    </dsp:sp>
    <dsp:sp modelId="{26B2A20A-D83E-4FB4-8289-8E75F18D9F17}">
      <dsp:nvSpPr>
        <dsp:cNvPr id="0" name=""/>
        <dsp:cNvSpPr/>
      </dsp:nvSpPr>
      <dsp:spPr>
        <a:xfrm>
          <a:off x="1985915" y="618271"/>
          <a:ext cx="1089923" cy="1089923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利用率</a:t>
          </a:r>
        </a:p>
      </dsp:txBody>
      <dsp:txXfrm>
        <a:off x="2145531" y="777887"/>
        <a:ext cx="770691" cy="7706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22834-D555-4278-B09F-615875E565CE}">
      <dsp:nvSpPr>
        <dsp:cNvPr id="0" name=""/>
        <dsp:cNvSpPr/>
      </dsp:nvSpPr>
      <dsp:spPr>
        <a:xfrm rot="5400000">
          <a:off x="5438552" y="-3508000"/>
          <a:ext cx="1246073" cy="8573671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ts val="24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某个信号具有的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频带宽度。</a:t>
          </a:r>
        </a:p>
        <a:p>
          <a:pPr marL="171450" lvl="1" indent="-171450" algn="l" defTabSz="711200">
            <a:lnSpc>
              <a:spcPts val="24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单位是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赫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（或千赫、兆赫、吉赫等）。</a:t>
          </a:r>
        </a:p>
        <a:p>
          <a:pPr marL="171450" lvl="1" indent="-171450" algn="l" defTabSz="711200">
            <a:lnSpc>
              <a:spcPts val="24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某信道允许通过的信号频带范围称为该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信道的带宽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（或通频带）。</a:t>
          </a:r>
        </a:p>
      </dsp:txBody>
      <dsp:txXfrm rot="-5400000">
        <a:off x="1774753" y="216627"/>
        <a:ext cx="8512843" cy="1124417"/>
      </dsp:txXfrm>
    </dsp:sp>
    <dsp:sp modelId="{12490A3D-6938-465D-B09D-05FD246C6E9E}">
      <dsp:nvSpPr>
        <dsp:cNvPr id="0" name=""/>
        <dsp:cNvSpPr/>
      </dsp:nvSpPr>
      <dsp:spPr>
        <a:xfrm>
          <a:off x="183139" y="38"/>
          <a:ext cx="1591614" cy="15575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ts val="24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频域</a:t>
          </a:r>
        </a:p>
      </dsp:txBody>
      <dsp:txXfrm>
        <a:off x="259174" y="76073"/>
        <a:ext cx="1439544" cy="1405521"/>
      </dsp:txXfrm>
    </dsp:sp>
    <dsp:sp modelId="{4EADB46F-8684-4B72-97FE-D18AEB647819}">
      <dsp:nvSpPr>
        <dsp:cNvPr id="0" name=""/>
        <dsp:cNvSpPr/>
      </dsp:nvSpPr>
      <dsp:spPr>
        <a:xfrm rot="5400000">
          <a:off x="5438552" y="-1917662"/>
          <a:ext cx="1246073" cy="8573671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ts val="24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网络中某通道传送数据的能力，表示在单位时间内网络中的某信道所能通过的</a:t>
          </a:r>
          <a:r>
            <a:rPr lang="zh-CN" altLang="en-US" sz="1600" b="1" kern="1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“最高数据率”。</a:t>
          </a:r>
        </a:p>
        <a:p>
          <a:pPr marL="171450" lvl="1" indent="-171450" algn="l" defTabSz="711200">
            <a:lnSpc>
              <a:spcPts val="24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单位就是数据率的单位 </a:t>
          </a:r>
          <a:r>
            <a:rPr lang="en-US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bit/s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sp:txBody>
      <dsp:txXfrm rot="-5400000">
        <a:off x="1774753" y="1806965"/>
        <a:ext cx="8512843" cy="1124417"/>
      </dsp:txXfrm>
    </dsp:sp>
    <dsp:sp modelId="{90C011AE-3F91-416D-B2FD-433B35EC17A6}">
      <dsp:nvSpPr>
        <dsp:cNvPr id="0" name=""/>
        <dsp:cNvSpPr/>
      </dsp:nvSpPr>
      <dsp:spPr>
        <a:xfrm>
          <a:off x="183139" y="1590355"/>
          <a:ext cx="1591614" cy="155759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ts val="24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时域</a:t>
          </a:r>
        </a:p>
      </dsp:txBody>
      <dsp:txXfrm>
        <a:off x="259174" y="1666390"/>
        <a:ext cx="1439544" cy="14055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53933-BB6F-2447-9DB5-0FE3F80D28D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2571B-7984-1C41-B07D-10A7B1189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7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iterator in Go is non-deterministic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2571B-7984-1C41-B07D-10A7B11898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33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497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636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1CD96A-A6EF-4B0B-9885-C22D65D2CD20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99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7ECB-BB7B-CA46-8871-3B0877A24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FAA1A-A703-884C-ADD1-03D903D38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1629B-4E0C-AF43-96CD-86CEF9EE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F2EAB-0F7F-F349-A62F-FF2BFBB8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F1E41-EC22-1C4A-948F-38AAA313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0A02-C158-D44F-9409-762DF67F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A900-6B4D-4B45-8349-DAE647D8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1EE6C-F44A-E04F-8B6B-369C7281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722F2-FAD3-FB48-B798-6EAB6650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C51A1-A34B-0B4C-8B59-0A9C929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5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7E4B-86B2-BD4F-A3AD-32084ACB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3C4B-9E8E-9446-A0A4-8DD7FF2B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99D36-AFB3-574C-B3DA-B0E58E0E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848EF-0887-914E-ABB3-0398822F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BCF08-70DB-7042-B865-C53B3EC0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4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4459-16AB-A844-B2CC-42104A26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8ED5-08F6-224A-B14C-78214E63B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070CA-E27F-C04D-9FDD-B295BD56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E3B8-32D3-C549-8699-177389C2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5D4A4-210F-2240-B68B-92E56254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C1E28-8BFA-A144-B9F7-8CF0D954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3A73-4887-8845-BF82-B8869DC5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C71A8-DCEE-D042-B2B2-F69350F46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93AA2-C949-3F4C-B949-B04851AF8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408887-496A-2642-9C48-58A37EC7D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BBFA2-24A4-A948-88F3-4E736F842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9EE97-549F-684C-A499-B68A584C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5B745-EDCD-644C-92F1-AD20B927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AFC98-68E7-5A48-9B1D-099A33E6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0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84F2-776D-CD49-B7AE-5359AD71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E456B-A70D-004B-880B-41CF6C24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9A0D6-DDFA-944F-97DD-BF406134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56515-E25E-CC46-85D8-6B7D86B9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1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325E0-618C-0841-A695-DBB8A675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F0298-2303-5545-8ED4-54C81EDF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EB076-FB45-214D-8DEB-375B2239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3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E9AA-A214-F843-8310-31AE2EE5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F486-9B46-934A-8711-C32506238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1BE10-6A6A-C645-9EC1-CD347EB45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42CD4-1C7B-224F-AD84-07771F49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61EF3-B626-FE4D-9214-269D3A1C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1DC9E-E773-2347-B627-AD397F2F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6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BDA5-9822-4845-9E21-260B10F6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44F407-FA23-544C-BF8D-E80683CA1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1E4FC-12D4-854B-8D76-DAF368E02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33CB-3CDA-DB49-97BE-B44558A5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28C7C-CD55-E042-8457-3FA17A23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89C11-D4B9-D34E-8C24-9508AA72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C808-6844-794B-9FF4-68D6277F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A6AC1-B7E3-4446-8E52-A159D8550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31FAA-9414-0B4A-B8F0-41FA681A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D6133-3B37-0D4D-A3F2-E4483741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7BDC5-B7F6-F445-B071-C1723C29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8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367CA-B9E8-C943-9770-C39640B4F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96C49-726E-0C40-A9D3-84F68DB30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5162-236C-F340-A645-216AA3B3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33336-0B6C-F449-A687-E632A2B2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BD0ED-D3AD-D740-AB74-948A7FB2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26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12"/>
          <p:cNvSpPr>
            <a:spLocks noChangeArrowheads="1"/>
          </p:cNvSpPr>
          <p:nvPr userDrawn="1"/>
        </p:nvSpPr>
        <p:spPr bwMode="auto">
          <a:xfrm>
            <a:off x="621792" y="819778"/>
            <a:ext cx="10838688" cy="563033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1666122" y="858766"/>
            <a:ext cx="8843433" cy="49029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内容占位符 7"/>
          <p:cNvSpPr>
            <a:spLocks noGrp="1"/>
          </p:cNvSpPr>
          <p:nvPr>
            <p:ph sz="quarter" idx="11"/>
          </p:nvPr>
        </p:nvSpPr>
        <p:spPr>
          <a:xfrm>
            <a:off x="621792" y="1387279"/>
            <a:ext cx="10838688" cy="4399628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667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523962" indent="-304792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Ø"/>
              <a:defRPr sz="2133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0409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621792" y="812359"/>
            <a:ext cx="10838688" cy="472016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8" name="内容占位符 7"/>
          <p:cNvSpPr>
            <a:spLocks noGrp="1"/>
          </p:cNvSpPr>
          <p:nvPr>
            <p:ph sz="quarter" idx="10"/>
          </p:nvPr>
        </p:nvSpPr>
        <p:spPr>
          <a:xfrm>
            <a:off x="621792" y="1292835"/>
            <a:ext cx="10838688" cy="4519831"/>
          </a:xfrm>
          <a:prstGeom prst="rect">
            <a:avLst/>
          </a:prstGeom>
        </p:spPr>
        <p:txBody>
          <a:bodyPr/>
          <a:lstStyle>
            <a:lvl1pPr marL="457189" indent="-457189">
              <a:lnSpc>
                <a:spcPts val="4000"/>
              </a:lnSpc>
              <a:spcBef>
                <a:spcPts val="0"/>
              </a:spcBef>
              <a:buClr>
                <a:srgbClr val="0066CC"/>
              </a:buClr>
              <a:buFont typeface="Wingdings" panose="05000000000000000000" pitchFamily="2" charset="2"/>
              <a:buChar char="l"/>
              <a:defRPr lang="zh-CN" altLang="en-US" sz="2667" b="1" kern="1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990575" indent="-380990">
              <a:lnSpc>
                <a:spcPts val="4000"/>
              </a:lnSpc>
              <a:spcBef>
                <a:spcPts val="0"/>
              </a:spcBef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u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523962" indent="-304792">
              <a:lnSpc>
                <a:spcPts val="4000"/>
              </a:lnSpc>
              <a:spcBef>
                <a:spcPts val="0"/>
              </a:spcBef>
              <a:buClr>
                <a:srgbClr val="006600"/>
              </a:buClr>
              <a:buFont typeface="Wingdings" panose="05000000000000000000" pitchFamily="2" charset="2"/>
              <a:buChar char="Ø"/>
              <a:defRPr sz="2133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ts val="4000"/>
              </a:lnSpc>
              <a:spcBef>
                <a:spcPts val="0"/>
              </a:spcBef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ts val="4000"/>
              </a:lnSpc>
              <a:spcBef>
                <a:spcPts val="0"/>
              </a:spcBef>
              <a:defRPr sz="1867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666122" y="812359"/>
            <a:ext cx="8843433" cy="47201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222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621792" y="812359"/>
            <a:ext cx="10838688" cy="472016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1666122" y="812359"/>
            <a:ext cx="8843433" cy="47201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3913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CB551-8D0C-E448-9814-89032DF7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5F49F-4867-0C49-9D19-54B7D0AE1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59E86-437B-1544-BB76-E94ED5F95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F1A09-3A0F-8349-A68E-274B23B54CA1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03356-42F4-EF4F-A68E-6F66580EF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0490F-F2B7-4C49-9D3D-7C0554755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E8A03-C6C1-5A48-BC3D-130ADA147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87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1.10228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1.10228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1.10228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8716-2FC7-3A4D-8891-FD90A3D28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4426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	Hyperledger-Fabric</a:t>
            </a:r>
            <a:br>
              <a:rPr lang="en-US" sz="2800" dirty="0"/>
            </a:br>
            <a:r>
              <a:rPr lang="en-US" sz="2800" dirty="0"/>
              <a:t>	Open source, led by IBM and Linux foundation</a:t>
            </a:r>
            <a:br>
              <a:rPr lang="en-US" sz="2800" dirty="0"/>
            </a:br>
            <a:r>
              <a:rPr lang="en-US" sz="2800" dirty="0"/>
              <a:t>	Supply chain management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4A662-B850-2A42-A53D-1BA997411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62" y="158751"/>
            <a:ext cx="9144000" cy="1655762"/>
          </a:xfrm>
        </p:spPr>
        <p:txBody>
          <a:bodyPr>
            <a:normAutofit/>
          </a:bodyPr>
          <a:lstStyle/>
          <a:p>
            <a:endParaRPr lang="en-US" sz="3600" b="1" dirty="0"/>
          </a:p>
          <a:p>
            <a:r>
              <a:rPr lang="en-US" sz="3600" b="1" dirty="0"/>
              <a:t>Permission Blockchains</a:t>
            </a:r>
          </a:p>
        </p:txBody>
      </p:sp>
    </p:spTree>
    <p:extLst>
      <p:ext uri="{BB962C8B-B14F-4D97-AF65-F5344CB8AC3E}">
        <p14:creationId xmlns:p14="http://schemas.microsoft.com/office/powerpoint/2010/main" val="260927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8B1F-1675-7441-8CA5-AD534632C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Permissioned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5CDD8-4CDB-5E4C-9516-88F972F7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node has an identity provided by the Membership Service Provider(MSP)</a:t>
            </a:r>
          </a:p>
          <a:p>
            <a:r>
              <a:rPr lang="en-US" dirty="0"/>
              <a:t>Various level of identities: Trusted to non-trusted</a:t>
            </a:r>
          </a:p>
          <a:p>
            <a:r>
              <a:rPr lang="en-US" dirty="0"/>
              <a:t>Certain tasks are assigned to certain identities</a:t>
            </a:r>
          </a:p>
          <a:p>
            <a:r>
              <a:rPr lang="en-US" dirty="0"/>
              <a:t>Many voting based </a:t>
            </a:r>
            <a:r>
              <a:rPr lang="en-US" dirty="0" err="1"/>
              <a:t>PoS</a:t>
            </a:r>
            <a:r>
              <a:rPr lang="en-US" dirty="0"/>
              <a:t> blockchains can be converted to permissioned blockchains by allowing voting/mining rights to only certain identities</a:t>
            </a:r>
          </a:p>
          <a:p>
            <a:r>
              <a:rPr lang="en-US" dirty="0"/>
              <a:t>Allow only certain identities to mine</a:t>
            </a:r>
          </a:p>
        </p:txBody>
      </p:sp>
    </p:spTree>
    <p:extLst>
      <p:ext uri="{BB962C8B-B14F-4D97-AF65-F5344CB8AC3E}">
        <p14:creationId xmlns:p14="http://schemas.microsoft.com/office/powerpoint/2010/main" val="292593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4819-B780-7E4D-B384-56FF191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a permissioned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99D9D-D21A-6C47-AA5F-F3DC4AF3D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Identities on blockchain can be linked to identities in real world</a:t>
            </a:r>
          </a:p>
          <a:p>
            <a:r>
              <a:rPr lang="en-US" dirty="0"/>
              <a:t>Can track misbehavior (like certain DoS attacks) to identities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Weaker adversary assumption justified</a:t>
            </a:r>
          </a:p>
          <a:p>
            <a:endParaRPr lang="en-US" dirty="0"/>
          </a:p>
          <a:p>
            <a:r>
              <a:rPr lang="en-US" dirty="0"/>
              <a:t>Implications</a:t>
            </a:r>
          </a:p>
          <a:p>
            <a:pPr lvl="1"/>
            <a:r>
              <a:rPr lang="en-US" dirty="0"/>
              <a:t>No need for sybil/spam resistance</a:t>
            </a:r>
          </a:p>
          <a:p>
            <a:pPr lvl="1"/>
            <a:r>
              <a:rPr lang="en-US" dirty="0"/>
              <a:t>No need for on-chain incentives</a:t>
            </a:r>
          </a:p>
          <a:p>
            <a:pPr lvl="1"/>
            <a:r>
              <a:rPr lang="en-US" dirty="0"/>
              <a:t>No need for currency implementation</a:t>
            </a:r>
          </a:p>
          <a:p>
            <a:pPr lvl="1"/>
            <a:r>
              <a:rPr lang="en-US" dirty="0"/>
              <a:t>Potentially very efficient and scalable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91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BD13-333E-3E40-81C3-B8DE7DB8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lecture: Hyperledger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3EAE3-BE48-8A43-95E6-74110625A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917"/>
            <a:ext cx="10515600" cy="4351338"/>
          </a:xfrm>
        </p:spPr>
        <p:txBody>
          <a:bodyPr/>
          <a:lstStyle/>
          <a:p>
            <a:r>
              <a:rPr lang="en-US" dirty="0"/>
              <a:t>Modular permissioned blockchain</a:t>
            </a:r>
          </a:p>
          <a:p>
            <a:r>
              <a:rPr lang="en-US" dirty="0"/>
              <a:t>Pluggable consensus</a:t>
            </a:r>
          </a:p>
          <a:p>
            <a:r>
              <a:rPr lang="en-US" dirty="0"/>
              <a:t>Privacy preserving</a:t>
            </a:r>
          </a:p>
          <a:p>
            <a:r>
              <a:rPr lang="en-US" dirty="0"/>
              <a:t>Horizontal compute scaling: not requiring all nodes to execute State Transition function.</a:t>
            </a:r>
          </a:p>
          <a:p>
            <a:r>
              <a:rPr lang="en-US" dirty="0"/>
              <a:t>Main contribution: Order-Execute to Execute-Order-Validate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44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BFCA-E081-A04B-BB7C-0D95F0A3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Order-Execute</a:t>
            </a:r>
          </a:p>
        </p:txBody>
      </p:sp>
      <p:pic>
        <p:nvPicPr>
          <p:cNvPr id="5" name="Content Placeholder 4" descr="A picture containing clock&#10;&#10;Description automatically generated">
            <a:extLst>
              <a:ext uri="{FF2B5EF4-FFF2-40B4-BE49-F238E27FC236}">
                <a16:creationId xmlns:a16="http://schemas.microsoft.com/office/drawing/2014/main" id="{A69F4849-205F-BB40-A323-0A44286C4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0313"/>
            <a:ext cx="10515600" cy="303737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DBA20C-84F8-6A45-8E92-42DF1651B040}"/>
              </a:ext>
            </a:extLst>
          </p:cNvPr>
          <p:cNvSpPr txBox="1"/>
          <p:nvPr/>
        </p:nvSpPr>
        <p:spPr>
          <a:xfrm>
            <a:off x="8819132" y="6125228"/>
            <a:ext cx="2534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Source:</a:t>
            </a:r>
            <a:r>
              <a:rPr lang="en-US" sz="1000" dirty="0" err="1">
                <a:hlinkClick r:id="rId3"/>
              </a:rPr>
              <a:t>https</a:t>
            </a:r>
            <a:r>
              <a:rPr lang="en-US" sz="1000" dirty="0">
                <a:hlinkClick r:id="rId3"/>
              </a:rPr>
              <a:t>://arxiv.org/pdf/1801.10228.pdf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2663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ECB6-F6EF-1443-91F2-68947C902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Order-execute: Bitcoin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F54355-7066-A74D-BE62-C1C1FC643430}"/>
              </a:ext>
            </a:extLst>
          </p:cNvPr>
          <p:cNvSpPr/>
          <p:nvPr/>
        </p:nvSpPr>
        <p:spPr>
          <a:xfrm>
            <a:off x="8037325" y="3314525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1E8A8-A19E-F74D-BD36-4719916AE36F}"/>
              </a:ext>
            </a:extLst>
          </p:cNvPr>
          <p:cNvSpPr/>
          <p:nvPr/>
        </p:nvSpPr>
        <p:spPr>
          <a:xfrm>
            <a:off x="8037324" y="4068808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945914-3BD2-3748-B0B8-1CB3B1E064E6}"/>
              </a:ext>
            </a:extLst>
          </p:cNvPr>
          <p:cNvSpPr/>
          <p:nvPr/>
        </p:nvSpPr>
        <p:spPr>
          <a:xfrm>
            <a:off x="8037326" y="2560242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31BB80-0F94-1943-A40B-4FD6872EAA47}"/>
              </a:ext>
            </a:extLst>
          </p:cNvPr>
          <p:cNvCxnSpPr>
            <a:cxnSpLocks/>
            <a:stCxn id="6" idx="0"/>
            <a:endCxn id="10" idx="2"/>
          </p:cNvCxnSpPr>
          <p:nvPr/>
        </p:nvCxnSpPr>
        <p:spPr>
          <a:xfrm flipV="1">
            <a:off x="8326694" y="2279737"/>
            <a:ext cx="1" cy="28050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40B8D4-4D63-D848-BA22-673ED99669CE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326693" y="3034020"/>
            <a:ext cx="1" cy="2805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D8ED46-5EC9-9E4A-8D02-90502AD85435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8326692" y="3788303"/>
            <a:ext cx="1" cy="2805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99497B4-07C2-934E-AE60-64AD0965213C}"/>
              </a:ext>
            </a:extLst>
          </p:cNvPr>
          <p:cNvSpPr/>
          <p:nvPr/>
        </p:nvSpPr>
        <p:spPr>
          <a:xfrm>
            <a:off x="8037327" y="1805959"/>
            <a:ext cx="578735" cy="473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9B55A7-C733-CD4F-AF95-AE1BC15D8CF4}"/>
              </a:ext>
            </a:extLst>
          </p:cNvPr>
          <p:cNvSpPr/>
          <p:nvPr/>
        </p:nvSpPr>
        <p:spPr>
          <a:xfrm>
            <a:off x="8037324" y="4823091"/>
            <a:ext cx="578735" cy="47377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4788F4-311C-2347-A051-BFA5D3A5DAE2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8326692" y="4542586"/>
            <a:ext cx="1" cy="2805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9E5923E-D1C6-FC4F-9FF9-005EF3EBFD17}"/>
              </a:ext>
            </a:extLst>
          </p:cNvPr>
          <p:cNvSpPr txBox="1"/>
          <p:nvPr/>
        </p:nvSpPr>
        <p:spPr>
          <a:xfrm>
            <a:off x="1084535" y="3034020"/>
            <a:ext cx="55615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State transition function is executed</a:t>
            </a:r>
          </a:p>
          <a:p>
            <a:r>
              <a:rPr lang="en-US" sz="2800" dirty="0"/>
              <a:t>After ordering the block</a:t>
            </a:r>
          </a:p>
        </p:txBody>
      </p:sp>
    </p:spTree>
    <p:extLst>
      <p:ext uri="{BB962C8B-B14F-4D97-AF65-F5344CB8AC3E}">
        <p14:creationId xmlns:p14="http://schemas.microsoft.com/office/powerpoint/2010/main" val="286808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29545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64A2-93D1-E947-BFF7-5170623D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Order-execute </a:t>
            </a:r>
            <a:r>
              <a:rPr lang="en-US" sz="3200" dirty="0"/>
              <a:t>(as discussed in paper)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90A93-EF6E-A34D-8871-444A3565D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 execution can be throttled by a compute heavy state transition </a:t>
            </a:r>
          </a:p>
          <a:p>
            <a:pPr lvl="1"/>
            <a:r>
              <a:rPr lang="en-US" dirty="0"/>
              <a:t>Bypassed by transactions paying for execution cost</a:t>
            </a:r>
          </a:p>
          <a:p>
            <a:pPr lvl="1"/>
            <a:r>
              <a:rPr lang="en-US" dirty="0"/>
              <a:t>Cannot be done without any native cryptocurrency</a:t>
            </a:r>
          </a:p>
          <a:p>
            <a:r>
              <a:rPr lang="en-US" dirty="0"/>
              <a:t>Non-deterministic code</a:t>
            </a:r>
          </a:p>
          <a:p>
            <a:pPr lvl="1"/>
            <a:r>
              <a:rPr lang="en-US" dirty="0" err="1"/>
              <a:t>Eg.</a:t>
            </a:r>
            <a:r>
              <a:rPr lang="en-US" dirty="0"/>
              <a:t> Map iterator in go</a:t>
            </a:r>
          </a:p>
          <a:p>
            <a:pPr lvl="1"/>
            <a:r>
              <a:rPr lang="en-US" dirty="0"/>
              <a:t>Can lead to forks after ordering</a:t>
            </a:r>
          </a:p>
          <a:p>
            <a:pPr lvl="1"/>
            <a:r>
              <a:rPr lang="en-US" dirty="0"/>
              <a:t>Need to use limited languages like Solidity</a:t>
            </a:r>
          </a:p>
          <a:p>
            <a:r>
              <a:rPr lang="en-US" dirty="0"/>
              <a:t>Confidentiality in execution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68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3A7F-5513-BE4F-9F86-CA06DAC8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Hyperledger: </a:t>
            </a:r>
            <a:r>
              <a:rPr lang="en-US" dirty="0">
                <a:solidFill>
                  <a:srgbClr val="FF0000"/>
                </a:solidFill>
              </a:rPr>
              <a:t>Execute-Order-validate</a:t>
            </a:r>
          </a:p>
        </p:txBody>
      </p:sp>
      <p:pic>
        <p:nvPicPr>
          <p:cNvPr id="5" name="Content Placeholder 4" descr="A close up of a clock&#10;&#10;Description automatically generated">
            <a:extLst>
              <a:ext uri="{FF2B5EF4-FFF2-40B4-BE49-F238E27FC236}">
                <a16:creationId xmlns:a16="http://schemas.microsoft.com/office/drawing/2014/main" id="{CB8CBB3B-7794-164E-90E3-D42CA840D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8164"/>
            <a:ext cx="10515600" cy="312625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2ECF4A-402C-7345-9104-A148074594A1}"/>
              </a:ext>
            </a:extLst>
          </p:cNvPr>
          <p:cNvSpPr txBox="1"/>
          <p:nvPr/>
        </p:nvSpPr>
        <p:spPr>
          <a:xfrm>
            <a:off x="8819132" y="6125228"/>
            <a:ext cx="2534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Source:</a:t>
            </a:r>
            <a:r>
              <a:rPr lang="en-US" sz="1000" dirty="0" err="1">
                <a:hlinkClick r:id="rId3"/>
              </a:rPr>
              <a:t>https</a:t>
            </a:r>
            <a:r>
              <a:rPr lang="en-US" sz="1000" dirty="0">
                <a:hlinkClick r:id="rId3"/>
              </a:rPr>
              <a:t>://arxiv.org/pdf/1801.10228.pdf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9190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1894-DDEB-E641-85DF-3C1401ED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Chaincode and Endorsements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F909C-14A2-A44E-B43E-C4BC28FCD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Chaincode</a:t>
            </a:r>
            <a:r>
              <a:rPr lang="en-US" dirty="0"/>
              <a:t>: smart contract + endorsement policy</a:t>
            </a:r>
          </a:p>
          <a:p>
            <a:r>
              <a:rPr lang="en-US" dirty="0"/>
              <a:t>Smart contract implements the </a:t>
            </a:r>
            <a:r>
              <a:rPr lang="en-US" dirty="0">
                <a:solidFill>
                  <a:srgbClr val="0070C0"/>
                </a:solidFill>
              </a:rPr>
              <a:t>state transition function</a:t>
            </a:r>
            <a:r>
              <a:rPr lang="en-US" dirty="0"/>
              <a:t> for an application</a:t>
            </a:r>
          </a:p>
          <a:p>
            <a:r>
              <a:rPr lang="en-US" dirty="0"/>
              <a:t>State created by one Chaincode cannot be accessed by another Chaincode</a:t>
            </a:r>
          </a:p>
          <a:p>
            <a:r>
              <a:rPr lang="en-US" dirty="0"/>
              <a:t>Chaincode can </a:t>
            </a:r>
            <a:r>
              <a:rPr lang="en-US" dirty="0">
                <a:solidFill>
                  <a:srgbClr val="00B050"/>
                </a:solidFill>
              </a:rPr>
              <a:t>invoke</a:t>
            </a:r>
            <a:r>
              <a:rPr lang="en-US" dirty="0"/>
              <a:t> another </a:t>
            </a:r>
            <a:r>
              <a:rPr lang="en-US" dirty="0" err="1"/>
              <a:t>chaincode</a:t>
            </a:r>
            <a:endParaRPr lang="en-US" dirty="0"/>
          </a:p>
          <a:p>
            <a:r>
              <a:rPr lang="en-US" dirty="0"/>
              <a:t>Each Chaincode specifies an endorsement policy</a:t>
            </a:r>
          </a:p>
          <a:p>
            <a:pPr lvl="1"/>
            <a:r>
              <a:rPr lang="en-US" dirty="0" err="1"/>
              <a:t>Eg.</a:t>
            </a:r>
            <a:r>
              <a:rPr lang="en-US" dirty="0"/>
              <a:t> Need to collect 4 out of 10 signatures from a list of endorsers</a:t>
            </a:r>
          </a:p>
          <a:p>
            <a:pPr lvl="1"/>
            <a:r>
              <a:rPr lang="en-US" dirty="0"/>
              <a:t>Endorsers sign transactions that performs correct execution</a:t>
            </a:r>
          </a:p>
        </p:txBody>
      </p:sp>
    </p:spTree>
    <p:extLst>
      <p:ext uri="{BB962C8B-B14F-4D97-AF65-F5344CB8AC3E}">
        <p14:creationId xmlns:p14="http://schemas.microsoft.com/office/powerpoint/2010/main" val="867077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F9F2-54A2-7543-AF18-1EAA7D90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F3228-8E85-AC45-8F01-D1E22B0B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is maintained in a versioned key-value store</a:t>
            </a:r>
          </a:p>
          <a:p>
            <a:r>
              <a:rPr lang="en-US" dirty="0"/>
              <a:t>(key, value, version)</a:t>
            </a:r>
          </a:p>
          <a:p>
            <a:r>
              <a:rPr lang="en-US" dirty="0"/>
              <a:t>Each transaction has</a:t>
            </a:r>
          </a:p>
          <a:p>
            <a:pPr lvl="1"/>
            <a:r>
              <a:rPr lang="en-US" dirty="0" err="1"/>
              <a:t>Readset</a:t>
            </a:r>
            <a:r>
              <a:rPr lang="en-US" dirty="0"/>
              <a:t>: (key, value, version) accessed by the transaction</a:t>
            </a:r>
          </a:p>
          <a:p>
            <a:pPr lvl="1"/>
            <a:r>
              <a:rPr lang="en-US" dirty="0" err="1"/>
              <a:t>Writeset</a:t>
            </a:r>
            <a:r>
              <a:rPr lang="en-US" dirty="0"/>
              <a:t>: (key, value, version) changed by the transaction</a:t>
            </a:r>
          </a:p>
          <a:p>
            <a:r>
              <a:rPr lang="en-US" dirty="0"/>
              <a:t>Endorsers sign a transaction along with the </a:t>
            </a:r>
            <a:r>
              <a:rPr lang="en-US" dirty="0" err="1"/>
              <a:t>readset</a:t>
            </a:r>
            <a:r>
              <a:rPr lang="en-US" dirty="0"/>
              <a:t> and </a:t>
            </a:r>
            <a:r>
              <a:rPr lang="en-US" dirty="0" err="1"/>
              <a:t>writeset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50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49EE-7ABA-D34A-86AB-6792C48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Execution-Phase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F00DEEF5-EE45-A44A-9905-312DBBAD3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4038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Court">
            <a:extLst>
              <a:ext uri="{FF2B5EF4-FFF2-40B4-BE49-F238E27FC236}">
                <a16:creationId xmlns:a16="http://schemas.microsoft.com/office/drawing/2014/main" id="{26B8059F-5596-BB47-909B-0C3E69909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6113" y="1604963"/>
            <a:ext cx="914400" cy="914400"/>
          </a:xfrm>
          <a:prstGeom prst="rect">
            <a:avLst/>
          </a:prstGeom>
        </p:spPr>
      </p:pic>
      <p:pic>
        <p:nvPicPr>
          <p:cNvPr id="10" name="Graphic 9" descr="Court">
            <a:extLst>
              <a:ext uri="{FF2B5EF4-FFF2-40B4-BE49-F238E27FC236}">
                <a16:creationId xmlns:a16="http://schemas.microsoft.com/office/drawing/2014/main" id="{60CFEFB6-6038-B149-82B6-7ECB2F682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4288" y="2844801"/>
            <a:ext cx="914400" cy="914400"/>
          </a:xfrm>
          <a:prstGeom prst="rect">
            <a:avLst/>
          </a:prstGeom>
        </p:spPr>
      </p:pic>
      <p:pic>
        <p:nvPicPr>
          <p:cNvPr id="11" name="Graphic 10" descr="Court">
            <a:extLst>
              <a:ext uri="{FF2B5EF4-FFF2-40B4-BE49-F238E27FC236}">
                <a16:creationId xmlns:a16="http://schemas.microsoft.com/office/drawing/2014/main" id="{86C5F15A-04BD-5646-8940-4035C2864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8551" y="4041777"/>
            <a:ext cx="914400" cy="914400"/>
          </a:xfrm>
          <a:prstGeom prst="rect">
            <a:avLst/>
          </a:prstGeom>
        </p:spPr>
      </p:pic>
      <p:pic>
        <p:nvPicPr>
          <p:cNvPr id="12" name="Graphic 11" descr="Court">
            <a:extLst>
              <a:ext uri="{FF2B5EF4-FFF2-40B4-BE49-F238E27FC236}">
                <a16:creationId xmlns:a16="http://schemas.microsoft.com/office/drawing/2014/main" id="{0FD27BD7-D6DD-E54B-B263-C978DB832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4151" y="5210178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04A049-9207-FC47-824B-0764A7403EFB}"/>
              </a:ext>
            </a:extLst>
          </p:cNvPr>
          <p:cNvSpPr txBox="1"/>
          <p:nvPr/>
        </p:nvSpPr>
        <p:spPr>
          <a:xfrm>
            <a:off x="1976411" y="2519363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A6B0C-8DA5-E24B-A811-FCFEF7A3B3AD}"/>
              </a:ext>
            </a:extLst>
          </p:cNvPr>
          <p:cNvSpPr txBox="1"/>
          <p:nvPr/>
        </p:nvSpPr>
        <p:spPr>
          <a:xfrm>
            <a:off x="9813130" y="3371335"/>
            <a:ext cx="11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661DA0-2150-254C-9513-5A33713A2581}"/>
              </a:ext>
            </a:extLst>
          </p:cNvPr>
          <p:cNvSpPr txBox="1"/>
          <p:nvPr/>
        </p:nvSpPr>
        <p:spPr>
          <a:xfrm>
            <a:off x="1560559" y="3886200"/>
            <a:ext cx="1494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$10</a:t>
            </a:r>
          </a:p>
          <a:p>
            <a:r>
              <a:rPr lang="en-US" dirty="0"/>
              <a:t>Initial state:</a:t>
            </a:r>
          </a:p>
          <a:p>
            <a:r>
              <a:rPr lang="en-US" dirty="0"/>
              <a:t>A,2:20, B,1:10</a:t>
            </a:r>
          </a:p>
          <a:p>
            <a:r>
              <a:rPr lang="en-US" dirty="0"/>
              <a:t>Final state:</a:t>
            </a:r>
          </a:p>
          <a:p>
            <a:r>
              <a:rPr lang="en-US" dirty="0"/>
              <a:t>A,3:10, B,2:20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75CAE0-F423-CE43-A0DA-851A6680F8C6}"/>
              </a:ext>
            </a:extLst>
          </p:cNvPr>
          <p:cNvCxnSpPr/>
          <p:nvPr/>
        </p:nvCxnSpPr>
        <p:spPr>
          <a:xfrm flipV="1">
            <a:off x="3328988" y="2286000"/>
            <a:ext cx="3486150" cy="1016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17B980-6A60-364E-B7BC-FF95F440CA8A}"/>
              </a:ext>
            </a:extLst>
          </p:cNvPr>
          <p:cNvCxnSpPr>
            <a:cxnSpLocks/>
          </p:cNvCxnSpPr>
          <p:nvPr/>
        </p:nvCxnSpPr>
        <p:spPr>
          <a:xfrm flipV="1">
            <a:off x="3328988" y="3369471"/>
            <a:ext cx="4012406" cy="5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279398-5AB6-5042-957A-EFF2EA1B27B2}"/>
              </a:ext>
            </a:extLst>
          </p:cNvPr>
          <p:cNvCxnSpPr>
            <a:cxnSpLocks/>
          </p:cNvCxnSpPr>
          <p:nvPr/>
        </p:nvCxnSpPr>
        <p:spPr>
          <a:xfrm>
            <a:off x="3328988" y="3556001"/>
            <a:ext cx="4012406" cy="1068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DC9E71-B85A-9C44-B5BB-C1E801A6673F}"/>
              </a:ext>
            </a:extLst>
          </p:cNvPr>
          <p:cNvCxnSpPr>
            <a:cxnSpLocks/>
          </p:cNvCxnSpPr>
          <p:nvPr/>
        </p:nvCxnSpPr>
        <p:spPr>
          <a:xfrm>
            <a:off x="3328988" y="3759201"/>
            <a:ext cx="3081338" cy="1908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EB1C62-E8ED-CD45-9584-605F7ABCEFCE}"/>
              </a:ext>
            </a:extLst>
          </p:cNvPr>
          <p:cNvSpPr txBox="1"/>
          <p:nvPr/>
        </p:nvSpPr>
        <p:spPr>
          <a:xfrm>
            <a:off x="4643438" y="2528888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CC0405-4A5A-5D4B-826C-852F87944246}"/>
              </a:ext>
            </a:extLst>
          </p:cNvPr>
          <p:cNvSpPr txBox="1"/>
          <p:nvPr/>
        </p:nvSpPr>
        <p:spPr>
          <a:xfrm>
            <a:off x="5320904" y="2936639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D9DFE0-2B7A-A841-B168-D462C800411E}"/>
              </a:ext>
            </a:extLst>
          </p:cNvPr>
          <p:cNvSpPr txBox="1"/>
          <p:nvPr/>
        </p:nvSpPr>
        <p:spPr>
          <a:xfrm>
            <a:off x="5138554" y="3686732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FADB21-C4FA-6C4D-932A-915CFF7E9E62}"/>
              </a:ext>
            </a:extLst>
          </p:cNvPr>
          <p:cNvSpPr txBox="1"/>
          <p:nvPr/>
        </p:nvSpPr>
        <p:spPr>
          <a:xfrm>
            <a:off x="4869657" y="4392337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18A7A2-2427-8849-8E93-25603456BB02}"/>
              </a:ext>
            </a:extLst>
          </p:cNvPr>
          <p:cNvCxnSpPr>
            <a:cxnSpLocks/>
          </p:cNvCxnSpPr>
          <p:nvPr/>
        </p:nvCxnSpPr>
        <p:spPr>
          <a:xfrm flipH="1">
            <a:off x="3443288" y="2422247"/>
            <a:ext cx="3371850" cy="93289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D5A3998-87D2-7D44-AF17-A95A19D46690}"/>
              </a:ext>
            </a:extLst>
          </p:cNvPr>
          <p:cNvCxnSpPr>
            <a:cxnSpLocks/>
          </p:cNvCxnSpPr>
          <p:nvPr/>
        </p:nvCxnSpPr>
        <p:spPr>
          <a:xfrm flipH="1" flipV="1">
            <a:off x="3595688" y="3507540"/>
            <a:ext cx="3566745" cy="484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5BCB23-95BD-954F-A895-84CD3486C3AF}"/>
              </a:ext>
            </a:extLst>
          </p:cNvPr>
          <p:cNvCxnSpPr>
            <a:cxnSpLocks/>
          </p:cNvCxnSpPr>
          <p:nvPr/>
        </p:nvCxnSpPr>
        <p:spPr>
          <a:xfrm flipH="1" flipV="1">
            <a:off x="3416727" y="3683002"/>
            <a:ext cx="3574625" cy="10650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D595505-9C9F-014C-B7ED-E4D21EF1306E}"/>
              </a:ext>
            </a:extLst>
          </p:cNvPr>
          <p:cNvSpPr txBox="1"/>
          <p:nvPr/>
        </p:nvSpPr>
        <p:spPr>
          <a:xfrm>
            <a:off x="5929052" y="2607013"/>
            <a:ext cx="144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Endorsement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50EB10-15A5-BB4D-A3D2-025CC898ACB4}"/>
              </a:ext>
            </a:extLst>
          </p:cNvPr>
          <p:cNvCxnSpPr/>
          <p:nvPr/>
        </p:nvCxnSpPr>
        <p:spPr>
          <a:xfrm>
            <a:off x="2586065" y="5543550"/>
            <a:ext cx="0" cy="581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97DD555-5E68-E845-92BF-7169775F1DA5}"/>
              </a:ext>
            </a:extLst>
          </p:cNvPr>
          <p:cNvSpPr txBox="1"/>
          <p:nvPr/>
        </p:nvSpPr>
        <p:spPr>
          <a:xfrm>
            <a:off x="1745089" y="6137790"/>
            <a:ext cx="1741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Ordering Service</a:t>
            </a:r>
          </a:p>
        </p:txBody>
      </p:sp>
    </p:spTree>
    <p:extLst>
      <p:ext uri="{BB962C8B-B14F-4D97-AF65-F5344CB8AC3E}">
        <p14:creationId xmlns:p14="http://schemas.microsoft.com/office/powerpoint/2010/main" val="238547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41" grpId="0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96BC-CAED-F141-B393-EFFB239C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63A9-4E32-A84B-90E1-197F44C26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nodes responsible for consensus</a:t>
            </a:r>
          </a:p>
          <a:p>
            <a:r>
              <a:rPr lang="en-US" dirty="0"/>
              <a:t>Receive transactions with endorsements from peers</a:t>
            </a:r>
          </a:p>
          <a:p>
            <a:r>
              <a:rPr lang="en-US" dirty="0"/>
              <a:t>Orders them through some consensus mechanism</a:t>
            </a:r>
          </a:p>
          <a:p>
            <a:pPr lvl="1"/>
            <a:r>
              <a:rPr lang="en-US" dirty="0"/>
              <a:t>Can be Total-order broadcast of transactions</a:t>
            </a:r>
          </a:p>
          <a:p>
            <a:pPr lvl="1"/>
            <a:r>
              <a:rPr lang="en-US" dirty="0"/>
              <a:t>Can be any BFT based consensus algorithm</a:t>
            </a:r>
          </a:p>
          <a:p>
            <a:pPr lvl="1"/>
            <a:r>
              <a:rPr lang="en-US" dirty="0"/>
              <a:t>Can be Bitcoin like algorithm</a:t>
            </a:r>
          </a:p>
          <a:p>
            <a:r>
              <a:rPr lang="en-US" dirty="0"/>
              <a:t>Do not perform any validation</a:t>
            </a:r>
          </a:p>
        </p:txBody>
      </p:sp>
    </p:spTree>
    <p:extLst>
      <p:ext uri="{BB962C8B-B14F-4D97-AF65-F5344CB8AC3E}">
        <p14:creationId xmlns:p14="http://schemas.microsoft.com/office/powerpoint/2010/main" val="414840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4D6D-6195-0B47-ABC5-B99B83BC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6A3E2-1E1E-2545-831B-0C43D8347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Performed by all peers</a:t>
            </a:r>
          </a:p>
          <a:p>
            <a:r>
              <a:rPr lang="en-US" dirty="0">
                <a:solidFill>
                  <a:srgbClr val="C00000"/>
                </a:solidFill>
              </a:rPr>
              <a:t>Endorsement policy evaluation</a:t>
            </a:r>
            <a:r>
              <a:rPr lang="en-US" dirty="0"/>
              <a:t>: Check if the transaction has sufficient endorsements as specified by the Chaincode policy 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can be done in parallel</a:t>
            </a:r>
          </a:p>
          <a:p>
            <a:r>
              <a:rPr lang="en-US" dirty="0">
                <a:solidFill>
                  <a:srgbClr val="C00000"/>
                </a:solidFill>
              </a:rPr>
              <a:t>State update check</a:t>
            </a:r>
            <a:r>
              <a:rPr lang="en-US" dirty="0"/>
              <a:t>: Check if the </a:t>
            </a:r>
            <a:r>
              <a:rPr lang="en-US" dirty="0" err="1"/>
              <a:t>readset</a:t>
            </a:r>
            <a:r>
              <a:rPr lang="en-US" dirty="0"/>
              <a:t> uses the correct version of keys and the </a:t>
            </a:r>
            <a:r>
              <a:rPr lang="en-US" dirty="0" err="1"/>
              <a:t>writeset</a:t>
            </a:r>
            <a:r>
              <a:rPr lang="en-US" dirty="0"/>
              <a:t> updates the key version (Sequential, however do not need to perform execution)</a:t>
            </a:r>
          </a:p>
          <a:p>
            <a:r>
              <a:rPr lang="en-US" dirty="0">
                <a:solidFill>
                  <a:srgbClr val="C00000"/>
                </a:solidFill>
              </a:rPr>
              <a:t>Local state update</a:t>
            </a:r>
            <a:r>
              <a:rPr lang="en-US" dirty="0"/>
              <a:t>: Update the local state (sequential)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589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642A-8763-F049-9C98-96E2DAED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Endorsement policy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71285-8344-EE4C-8169-92CCA6719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</a:t>
            </a:r>
          </a:p>
          <a:p>
            <a:pPr lvl="1"/>
            <a:r>
              <a:rPr lang="en-US" dirty="0"/>
              <a:t>Chaincode A endorsement policy: need 2 of 3 endorsement from endorsers X,Y,Z</a:t>
            </a:r>
          </a:p>
          <a:p>
            <a:pPr lvl="1"/>
            <a:r>
              <a:rPr lang="en-US" dirty="0"/>
              <a:t>Chaincode A transaction: Contains endorsement from X,Z: Pass</a:t>
            </a:r>
          </a:p>
          <a:p>
            <a:pPr lvl="1"/>
            <a:r>
              <a:rPr lang="en-US" dirty="0"/>
              <a:t>Chaincode A transaction: Contains endorsement from W,X: Fail</a:t>
            </a:r>
          </a:p>
          <a:p>
            <a:pPr lvl="1"/>
            <a:r>
              <a:rPr lang="en-US" dirty="0"/>
              <a:t>Chaincode A transaction: Contains endorsement from Y: Fail</a:t>
            </a:r>
          </a:p>
          <a:p>
            <a:r>
              <a:rPr lang="en-US" dirty="0"/>
              <a:t>Example 2:</a:t>
            </a:r>
          </a:p>
          <a:p>
            <a:pPr lvl="1"/>
            <a:r>
              <a:rPr lang="en-US" dirty="0"/>
              <a:t>Chaincode B endorsement policy: need endorsement from central bank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58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B123A-F997-0A4B-8EC2-5CD1FDE4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8623-4834-314B-A6DD-432B57C5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46167"/>
          </a:xfrm>
        </p:spPr>
        <p:txBody>
          <a:bodyPr/>
          <a:lstStyle/>
          <a:p>
            <a:r>
              <a:rPr lang="en-US" dirty="0"/>
              <a:t>State update check example:</a:t>
            </a:r>
          </a:p>
          <a:p>
            <a:pPr lvl="1"/>
            <a:r>
              <a:rPr lang="en-US" dirty="0"/>
              <a:t>Tx: </a:t>
            </a:r>
            <a:r>
              <a:rPr lang="en-US" dirty="0" err="1"/>
              <a:t>Readset</a:t>
            </a:r>
            <a:r>
              <a:rPr lang="en-US" dirty="0"/>
              <a:t>: (Alice:20,1),(Bob:10,2) , </a:t>
            </a:r>
            <a:r>
              <a:rPr lang="en-US" dirty="0" err="1"/>
              <a:t>Writeset</a:t>
            </a:r>
            <a:r>
              <a:rPr lang="en-US" dirty="0"/>
              <a:t>: (Alice:10,2),(Bob:20,3)</a:t>
            </a:r>
          </a:p>
          <a:p>
            <a:pPr lvl="1"/>
            <a:r>
              <a:rPr lang="en-US" dirty="0"/>
              <a:t>Local state: (Alice:20,3), (Bob:10,2)</a:t>
            </a:r>
          </a:p>
          <a:p>
            <a:pPr lvl="1"/>
            <a:r>
              <a:rPr lang="en-US" dirty="0"/>
              <a:t>Tx </a:t>
            </a:r>
            <a:r>
              <a:rPr lang="en-US" dirty="0" err="1"/>
              <a:t>readset</a:t>
            </a:r>
            <a:r>
              <a:rPr lang="en-US" dirty="0"/>
              <a:t> does not match with local state: Fail</a:t>
            </a:r>
          </a:p>
          <a:p>
            <a:r>
              <a:rPr lang="en-US" dirty="0"/>
              <a:t>State update:</a:t>
            </a:r>
          </a:p>
          <a:p>
            <a:pPr lvl="1"/>
            <a:r>
              <a:rPr lang="en-US" dirty="0"/>
              <a:t>Locally store a validity bitmask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3238B3-52C0-F344-BF02-D288C34DDFA0}"/>
              </a:ext>
            </a:extLst>
          </p:cNvPr>
          <p:cNvSpPr/>
          <p:nvPr/>
        </p:nvSpPr>
        <p:spPr>
          <a:xfrm>
            <a:off x="2586345" y="4697444"/>
            <a:ext cx="1503123" cy="16158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TX1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TX2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TX3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TX4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DB58-C10F-0F45-8CCD-22EA5FB0A232}"/>
              </a:ext>
            </a:extLst>
          </p:cNvPr>
          <p:cNvSpPr/>
          <p:nvPr/>
        </p:nvSpPr>
        <p:spPr>
          <a:xfrm>
            <a:off x="4254395" y="4697444"/>
            <a:ext cx="586636" cy="16158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         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5DC2F-0535-B447-B533-583894B3DCE5}"/>
              </a:ext>
            </a:extLst>
          </p:cNvPr>
          <p:cNvSpPr txBox="1"/>
          <p:nvPr/>
        </p:nvSpPr>
        <p:spPr>
          <a:xfrm>
            <a:off x="2994703" y="6319565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8E6C0-0BA4-6C41-AAA3-D2AFD6F4A87F}"/>
              </a:ext>
            </a:extLst>
          </p:cNvPr>
          <p:cNvSpPr txBox="1"/>
          <p:nvPr/>
        </p:nvSpPr>
        <p:spPr>
          <a:xfrm>
            <a:off x="4083483" y="6313302"/>
            <a:ext cx="92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Validity </a:t>
            </a:r>
          </a:p>
          <a:p>
            <a:r>
              <a:rPr lang="en-US" dirty="0"/>
              <a:t>bitmask</a:t>
            </a:r>
          </a:p>
        </p:txBody>
      </p:sp>
    </p:spTree>
    <p:extLst>
      <p:ext uri="{BB962C8B-B14F-4D97-AF65-F5344CB8AC3E}">
        <p14:creationId xmlns:p14="http://schemas.microsoft.com/office/powerpoint/2010/main" val="93337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4E70-5D63-C048-832C-4CC937A3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9AD8C-0892-0444-8A06-41E8B675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7538"/>
          </a:xfrm>
        </p:spPr>
        <p:txBody>
          <a:bodyPr/>
          <a:lstStyle/>
          <a:p>
            <a:r>
              <a:rPr lang="en-US" dirty="0"/>
              <a:t>Each Chaincode can use different set of endorsers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ADBA72-A129-0242-89CD-F2918EAF2CB5}"/>
              </a:ext>
            </a:extLst>
          </p:cNvPr>
          <p:cNvSpPr/>
          <p:nvPr/>
        </p:nvSpPr>
        <p:spPr>
          <a:xfrm>
            <a:off x="5200650" y="3986213"/>
            <a:ext cx="1128713" cy="1028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Fabric chain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0A5A0C-F967-484C-8446-E49C497536B2}"/>
              </a:ext>
            </a:extLst>
          </p:cNvPr>
          <p:cNvSpPr/>
          <p:nvPr/>
        </p:nvSpPr>
        <p:spPr>
          <a:xfrm>
            <a:off x="4686300" y="3401614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F6BE84-1176-7D42-8ECF-8E7CCCD56315}"/>
              </a:ext>
            </a:extLst>
          </p:cNvPr>
          <p:cNvSpPr/>
          <p:nvPr/>
        </p:nvSpPr>
        <p:spPr>
          <a:xfrm>
            <a:off x="6081713" y="3269456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6206B0-D2D6-A146-9038-1D2099340065}"/>
              </a:ext>
            </a:extLst>
          </p:cNvPr>
          <p:cNvSpPr/>
          <p:nvPr/>
        </p:nvSpPr>
        <p:spPr>
          <a:xfrm>
            <a:off x="6924676" y="441483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D8175C-FD79-1C47-BF82-60B037CF053B}"/>
              </a:ext>
            </a:extLst>
          </p:cNvPr>
          <p:cNvSpPr/>
          <p:nvPr/>
        </p:nvSpPr>
        <p:spPr>
          <a:xfrm>
            <a:off x="5853113" y="544591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3D4E63-FAE1-8040-A0EA-F5930BCD858A}"/>
              </a:ext>
            </a:extLst>
          </p:cNvPr>
          <p:cNvSpPr/>
          <p:nvPr/>
        </p:nvSpPr>
        <p:spPr>
          <a:xfrm>
            <a:off x="4462462" y="5224461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2CF0D4-2127-B443-A27D-1BD67C50CF66}"/>
              </a:ext>
            </a:extLst>
          </p:cNvPr>
          <p:cNvSpPr/>
          <p:nvPr/>
        </p:nvSpPr>
        <p:spPr>
          <a:xfrm>
            <a:off x="4148137" y="4271960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782712-8398-4C41-9572-CB483DE01EC0}"/>
              </a:ext>
            </a:extLst>
          </p:cNvPr>
          <p:cNvSpPr/>
          <p:nvPr/>
        </p:nvSpPr>
        <p:spPr>
          <a:xfrm>
            <a:off x="9477376" y="5738812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646AEE-70E8-C247-9048-C7798822C153}"/>
              </a:ext>
            </a:extLst>
          </p:cNvPr>
          <p:cNvSpPr txBox="1"/>
          <p:nvPr/>
        </p:nvSpPr>
        <p:spPr>
          <a:xfrm>
            <a:off x="9934576" y="5793819"/>
            <a:ext cx="1277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Endorsers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58A033-5424-A24B-8ECD-22F446F9B007}"/>
              </a:ext>
            </a:extLst>
          </p:cNvPr>
          <p:cNvSpPr/>
          <p:nvPr/>
        </p:nvSpPr>
        <p:spPr>
          <a:xfrm rot="21369247">
            <a:off x="4376570" y="3196830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C64F9F6-D353-AB4A-9B86-221EEC7DFE19}"/>
              </a:ext>
            </a:extLst>
          </p:cNvPr>
          <p:cNvSpPr/>
          <p:nvPr/>
        </p:nvSpPr>
        <p:spPr>
          <a:xfrm rot="8278846">
            <a:off x="5338361" y="4866082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B3BDE8-F8A0-4D48-B8EB-05EBD89C0AE5}"/>
              </a:ext>
            </a:extLst>
          </p:cNvPr>
          <p:cNvSpPr/>
          <p:nvPr/>
        </p:nvSpPr>
        <p:spPr>
          <a:xfrm rot="14798782">
            <a:off x="3259662" y="4551034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AC2E48-8AED-7D49-9EB4-58422AAA6499}"/>
              </a:ext>
            </a:extLst>
          </p:cNvPr>
          <p:cNvSpPr txBox="1"/>
          <p:nvPr/>
        </p:nvSpPr>
        <p:spPr>
          <a:xfrm>
            <a:off x="6860050" y="3196994"/>
            <a:ext cx="135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662DE-4AEA-9A4B-9A56-F894BFB2DB6D}"/>
              </a:ext>
            </a:extLst>
          </p:cNvPr>
          <p:cNvSpPr txBox="1"/>
          <p:nvPr/>
        </p:nvSpPr>
        <p:spPr>
          <a:xfrm>
            <a:off x="7006824" y="5395647"/>
            <a:ext cx="134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6FEC85-E3E2-B14B-9C1A-48CAF8ABA7A4}"/>
              </a:ext>
            </a:extLst>
          </p:cNvPr>
          <p:cNvSpPr txBox="1"/>
          <p:nvPr/>
        </p:nvSpPr>
        <p:spPr>
          <a:xfrm>
            <a:off x="2652175" y="5014913"/>
            <a:ext cx="1346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C</a:t>
            </a:r>
          </a:p>
        </p:txBody>
      </p:sp>
    </p:spTree>
    <p:extLst>
      <p:ext uri="{BB962C8B-B14F-4D97-AF65-F5344CB8AC3E}">
        <p14:creationId xmlns:p14="http://schemas.microsoft.com/office/powerpoint/2010/main" val="737493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05A7-75E6-D14E-A3DD-7CF4B759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A01AB-10F4-0647-A758-DDA5112A7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1863"/>
          </a:xfrm>
        </p:spPr>
        <p:txBody>
          <a:bodyPr/>
          <a:lstStyle/>
          <a:p>
            <a:r>
              <a:rPr lang="en-US" dirty="0"/>
              <a:t>The Chaincode execution code can be made private, only make the </a:t>
            </a:r>
            <a:r>
              <a:rPr lang="en-US" dirty="0" err="1"/>
              <a:t>chaincode</a:t>
            </a:r>
            <a:r>
              <a:rPr lang="en-US" dirty="0"/>
              <a:t> endorsement policy and other metadata public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6FE6E2-C644-B647-9529-82AF8D5BAE2A}"/>
              </a:ext>
            </a:extLst>
          </p:cNvPr>
          <p:cNvSpPr/>
          <p:nvPr/>
        </p:nvSpPr>
        <p:spPr>
          <a:xfrm>
            <a:off x="5200650" y="3986213"/>
            <a:ext cx="1128713" cy="1028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Fabric chain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5B2AE-FB68-4147-AD17-A282F25E4937}"/>
              </a:ext>
            </a:extLst>
          </p:cNvPr>
          <p:cNvSpPr/>
          <p:nvPr/>
        </p:nvSpPr>
        <p:spPr>
          <a:xfrm>
            <a:off x="4686300" y="3401614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378736-0C8A-3444-A95E-9EACF81E7849}"/>
              </a:ext>
            </a:extLst>
          </p:cNvPr>
          <p:cNvSpPr/>
          <p:nvPr/>
        </p:nvSpPr>
        <p:spPr>
          <a:xfrm>
            <a:off x="6081713" y="3269456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ED9AE2-1BD3-AD4A-8ABA-5534A17E452B}"/>
              </a:ext>
            </a:extLst>
          </p:cNvPr>
          <p:cNvSpPr/>
          <p:nvPr/>
        </p:nvSpPr>
        <p:spPr>
          <a:xfrm>
            <a:off x="6924676" y="441483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131B85-02A1-B442-BBB6-5C84BFDF3904}"/>
              </a:ext>
            </a:extLst>
          </p:cNvPr>
          <p:cNvSpPr/>
          <p:nvPr/>
        </p:nvSpPr>
        <p:spPr>
          <a:xfrm>
            <a:off x="5853113" y="5445918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27F336A-EA89-A14C-833A-104D44A2F494}"/>
              </a:ext>
            </a:extLst>
          </p:cNvPr>
          <p:cNvSpPr/>
          <p:nvPr/>
        </p:nvSpPr>
        <p:spPr>
          <a:xfrm>
            <a:off x="4462462" y="5224461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C9D620F-6176-6A4C-A0EC-AE493E3C2E86}"/>
              </a:ext>
            </a:extLst>
          </p:cNvPr>
          <p:cNvSpPr/>
          <p:nvPr/>
        </p:nvSpPr>
        <p:spPr>
          <a:xfrm>
            <a:off x="4148137" y="4271960"/>
            <a:ext cx="457200" cy="44291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6BDA58E-CCC4-7D4D-A68B-B94BE2946BEB}"/>
              </a:ext>
            </a:extLst>
          </p:cNvPr>
          <p:cNvSpPr/>
          <p:nvPr/>
        </p:nvSpPr>
        <p:spPr>
          <a:xfrm rot="21369247">
            <a:off x="4376570" y="3196830"/>
            <a:ext cx="2462214" cy="716757"/>
          </a:xfrm>
          <a:prstGeom prst="ellipse">
            <a:avLst/>
          </a:prstGeom>
          <a:solidFill>
            <a:schemeClr val="accent6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2E5337-5485-0342-A998-FECA3A5B323A}"/>
              </a:ext>
            </a:extLst>
          </p:cNvPr>
          <p:cNvSpPr txBox="1"/>
          <p:nvPr/>
        </p:nvSpPr>
        <p:spPr>
          <a:xfrm>
            <a:off x="6860050" y="3196994"/>
            <a:ext cx="1356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Chaincode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A1249-B0FE-374D-801B-120CF91B3763}"/>
              </a:ext>
            </a:extLst>
          </p:cNvPr>
          <p:cNvSpPr txBox="1"/>
          <p:nvPr/>
        </p:nvSpPr>
        <p:spPr>
          <a:xfrm>
            <a:off x="7381876" y="5107880"/>
            <a:ext cx="4890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Other endorsers have limited knowledge of Chaincode A’s execution</a:t>
            </a:r>
          </a:p>
        </p:txBody>
      </p:sp>
    </p:spTree>
    <p:extLst>
      <p:ext uri="{BB962C8B-B14F-4D97-AF65-F5344CB8AC3E}">
        <p14:creationId xmlns:p14="http://schemas.microsoft.com/office/powerpoint/2010/main" val="709877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E96E-3408-CB4D-A735-8B0E84A3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332C-DE22-7D4E-812A-8CFCDD30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8"/>
          </a:xfrm>
        </p:spPr>
        <p:txBody>
          <a:bodyPr/>
          <a:lstStyle/>
          <a:p>
            <a:r>
              <a:rPr lang="en-US" dirty="0"/>
              <a:t>Random execution won’t collect enough endorsements</a:t>
            </a:r>
          </a:p>
        </p:txBody>
      </p:sp>
      <p:pic>
        <p:nvPicPr>
          <p:cNvPr id="4" name="Graphic 3" descr="User">
            <a:extLst>
              <a:ext uri="{FF2B5EF4-FFF2-40B4-BE49-F238E27FC236}">
                <a16:creationId xmlns:a16="http://schemas.microsoft.com/office/drawing/2014/main" id="{3B47CC4B-5289-C141-A100-56257B67A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9713" y="3695700"/>
            <a:ext cx="914400" cy="914400"/>
          </a:xfrm>
          <a:prstGeom prst="rect">
            <a:avLst/>
          </a:prstGeom>
        </p:spPr>
      </p:pic>
      <p:pic>
        <p:nvPicPr>
          <p:cNvPr id="5" name="Graphic 4" descr="Court">
            <a:extLst>
              <a:ext uri="{FF2B5EF4-FFF2-40B4-BE49-F238E27FC236}">
                <a16:creationId xmlns:a16="http://schemas.microsoft.com/office/drawing/2014/main" id="{0B2E7A94-DED0-314C-9DDD-C7A04E97E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1788" y="2328863"/>
            <a:ext cx="914400" cy="914400"/>
          </a:xfrm>
          <a:prstGeom prst="rect">
            <a:avLst/>
          </a:prstGeom>
        </p:spPr>
      </p:pic>
      <p:pic>
        <p:nvPicPr>
          <p:cNvPr id="6" name="Graphic 5" descr="Court">
            <a:extLst>
              <a:ext uri="{FF2B5EF4-FFF2-40B4-BE49-F238E27FC236}">
                <a16:creationId xmlns:a16="http://schemas.microsoft.com/office/drawing/2014/main" id="{10953BD7-9A26-9442-934A-E7431F227D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9963" y="3568701"/>
            <a:ext cx="914400" cy="914400"/>
          </a:xfrm>
          <a:prstGeom prst="rect">
            <a:avLst/>
          </a:prstGeom>
        </p:spPr>
      </p:pic>
      <p:pic>
        <p:nvPicPr>
          <p:cNvPr id="7" name="Graphic 6" descr="Court">
            <a:extLst>
              <a:ext uri="{FF2B5EF4-FFF2-40B4-BE49-F238E27FC236}">
                <a16:creationId xmlns:a16="http://schemas.microsoft.com/office/drawing/2014/main" id="{B4CCF9E4-7D4A-994C-BE92-576186B4B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4226" y="4765677"/>
            <a:ext cx="914400" cy="914400"/>
          </a:xfrm>
          <a:prstGeom prst="rect">
            <a:avLst/>
          </a:prstGeom>
        </p:spPr>
      </p:pic>
      <p:pic>
        <p:nvPicPr>
          <p:cNvPr id="8" name="Graphic 7" descr="Court">
            <a:extLst>
              <a:ext uri="{FF2B5EF4-FFF2-40B4-BE49-F238E27FC236}">
                <a16:creationId xmlns:a16="http://schemas.microsoft.com/office/drawing/2014/main" id="{7330B45D-F137-B349-804C-FF8FCCBD0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9826" y="593407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D83617-C4F3-7D4A-B488-99C45ABC0BE5}"/>
              </a:ext>
            </a:extLst>
          </p:cNvPr>
          <p:cNvSpPr txBox="1"/>
          <p:nvPr/>
        </p:nvSpPr>
        <p:spPr>
          <a:xfrm>
            <a:off x="1662086" y="3243263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FB3CD-BFB9-9049-8CBC-764DE8390248}"/>
              </a:ext>
            </a:extLst>
          </p:cNvPr>
          <p:cNvSpPr txBox="1"/>
          <p:nvPr/>
        </p:nvSpPr>
        <p:spPr>
          <a:xfrm>
            <a:off x="9498805" y="4095235"/>
            <a:ext cx="11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3BA97D-9D98-DE43-B70A-85E43C71FFEB}"/>
              </a:ext>
            </a:extLst>
          </p:cNvPr>
          <p:cNvSpPr txBox="1"/>
          <p:nvPr/>
        </p:nvSpPr>
        <p:spPr>
          <a:xfrm>
            <a:off x="1246234" y="4610100"/>
            <a:ext cx="14944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10</a:t>
            </a:r>
          </a:p>
          <a:p>
            <a:r>
              <a:rPr lang="en-US" dirty="0"/>
              <a:t>Initial state:</a:t>
            </a:r>
          </a:p>
          <a:p>
            <a:r>
              <a:rPr lang="en-US" dirty="0"/>
              <a:t>A,2:20, B,1:10</a:t>
            </a:r>
          </a:p>
          <a:p>
            <a:r>
              <a:rPr lang="en-US" dirty="0"/>
              <a:t>Final state:</a:t>
            </a:r>
          </a:p>
          <a:p>
            <a:r>
              <a:rPr lang="en-US" dirty="0"/>
              <a:t>A,3:10, B,2:20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8C4885-F009-8649-B161-9DA11DF143EF}"/>
              </a:ext>
            </a:extLst>
          </p:cNvPr>
          <p:cNvCxnSpPr/>
          <p:nvPr/>
        </p:nvCxnSpPr>
        <p:spPr>
          <a:xfrm flipV="1">
            <a:off x="3014663" y="3009900"/>
            <a:ext cx="3486150" cy="1016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BC7F3D-254F-A042-80B7-3F95B187C5C3}"/>
              </a:ext>
            </a:extLst>
          </p:cNvPr>
          <p:cNvCxnSpPr>
            <a:cxnSpLocks/>
          </p:cNvCxnSpPr>
          <p:nvPr/>
        </p:nvCxnSpPr>
        <p:spPr>
          <a:xfrm flipV="1">
            <a:off x="3014663" y="4093371"/>
            <a:ext cx="4012406" cy="59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58E911-C1CA-674A-9B6E-0A2FF93D2F34}"/>
              </a:ext>
            </a:extLst>
          </p:cNvPr>
          <p:cNvCxnSpPr>
            <a:cxnSpLocks/>
          </p:cNvCxnSpPr>
          <p:nvPr/>
        </p:nvCxnSpPr>
        <p:spPr>
          <a:xfrm>
            <a:off x="3014663" y="4279901"/>
            <a:ext cx="4012406" cy="1068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552934-A7A6-004E-B46C-820594859288}"/>
              </a:ext>
            </a:extLst>
          </p:cNvPr>
          <p:cNvCxnSpPr>
            <a:cxnSpLocks/>
          </p:cNvCxnSpPr>
          <p:nvPr/>
        </p:nvCxnSpPr>
        <p:spPr>
          <a:xfrm>
            <a:off x="3014663" y="4483101"/>
            <a:ext cx="3081338" cy="1908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4206731-67AD-0047-9BDE-5F4457EC1C6A}"/>
              </a:ext>
            </a:extLst>
          </p:cNvPr>
          <p:cNvSpPr txBox="1"/>
          <p:nvPr/>
        </p:nvSpPr>
        <p:spPr>
          <a:xfrm>
            <a:off x="4329113" y="3252788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CEB1A-9BC7-A54E-873E-EB1EAB1B17E3}"/>
              </a:ext>
            </a:extLst>
          </p:cNvPr>
          <p:cNvSpPr txBox="1"/>
          <p:nvPr/>
        </p:nvSpPr>
        <p:spPr>
          <a:xfrm>
            <a:off x="5006579" y="3660539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66802-ECE9-C54C-995F-56D5E15B1E00}"/>
              </a:ext>
            </a:extLst>
          </p:cNvPr>
          <p:cNvSpPr txBox="1"/>
          <p:nvPr/>
        </p:nvSpPr>
        <p:spPr>
          <a:xfrm>
            <a:off x="4824229" y="4410632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3E9C33-836F-8B4B-80C8-9DB5EF8EC5E2}"/>
              </a:ext>
            </a:extLst>
          </p:cNvPr>
          <p:cNvSpPr txBox="1"/>
          <p:nvPr/>
        </p:nvSpPr>
        <p:spPr>
          <a:xfrm>
            <a:off x="4555332" y="5116237"/>
            <a:ext cx="3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2A0682-1D55-444E-866E-4EA1248DABBE}"/>
              </a:ext>
            </a:extLst>
          </p:cNvPr>
          <p:cNvCxnSpPr>
            <a:cxnSpLocks/>
          </p:cNvCxnSpPr>
          <p:nvPr/>
        </p:nvCxnSpPr>
        <p:spPr>
          <a:xfrm flipH="1">
            <a:off x="3128963" y="3146147"/>
            <a:ext cx="3371850" cy="93289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AFB817-2179-CA46-9DCA-13694DCAB219}"/>
              </a:ext>
            </a:extLst>
          </p:cNvPr>
          <p:cNvCxnSpPr>
            <a:cxnSpLocks/>
          </p:cNvCxnSpPr>
          <p:nvPr/>
        </p:nvCxnSpPr>
        <p:spPr>
          <a:xfrm flipH="1" flipV="1">
            <a:off x="3281363" y="4231440"/>
            <a:ext cx="3566745" cy="484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12724A-5435-BC49-9709-0CB4DA69F125}"/>
              </a:ext>
            </a:extLst>
          </p:cNvPr>
          <p:cNvCxnSpPr>
            <a:cxnSpLocks/>
          </p:cNvCxnSpPr>
          <p:nvPr/>
        </p:nvCxnSpPr>
        <p:spPr>
          <a:xfrm flipH="1" flipV="1">
            <a:off x="3102402" y="4406902"/>
            <a:ext cx="3574625" cy="10650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69CEDC-C2BE-5F42-A250-E4687511A4BA}"/>
              </a:ext>
            </a:extLst>
          </p:cNvPr>
          <p:cNvSpPr txBox="1"/>
          <p:nvPr/>
        </p:nvSpPr>
        <p:spPr>
          <a:xfrm>
            <a:off x="5614727" y="3330913"/>
            <a:ext cx="144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Endorsement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4F1006-80A9-F943-BAE0-75DE0B0B7E91}"/>
              </a:ext>
            </a:extLst>
          </p:cNvPr>
          <p:cNvSpPr txBox="1"/>
          <p:nvPr/>
        </p:nvSpPr>
        <p:spPr>
          <a:xfrm>
            <a:off x="7631726" y="2583141"/>
            <a:ext cx="120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519DD2-C6DF-3A40-AC4D-81E7EA9F7148}"/>
              </a:ext>
            </a:extLst>
          </p:cNvPr>
          <p:cNvSpPr txBox="1"/>
          <p:nvPr/>
        </p:nvSpPr>
        <p:spPr>
          <a:xfrm>
            <a:off x="8301026" y="3845205"/>
            <a:ext cx="132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BBB34-7647-8E44-AE88-44941B907865}"/>
              </a:ext>
            </a:extLst>
          </p:cNvPr>
          <p:cNvSpPr txBox="1"/>
          <p:nvPr/>
        </p:nvSpPr>
        <p:spPr>
          <a:xfrm>
            <a:off x="8179946" y="5116237"/>
            <a:ext cx="132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11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6ADB66-0266-7346-B3AF-2020ADDEF3CC}"/>
              </a:ext>
            </a:extLst>
          </p:cNvPr>
          <p:cNvSpPr txBox="1"/>
          <p:nvPr/>
        </p:nvSpPr>
        <p:spPr>
          <a:xfrm>
            <a:off x="7319963" y="6212445"/>
            <a:ext cx="1207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 A-&gt;B: 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E2BA4A-82E1-554F-BF6F-359A582124D8}"/>
              </a:ext>
            </a:extLst>
          </p:cNvPr>
          <p:cNvCxnSpPr>
            <a:cxnSpLocks/>
          </p:cNvCxnSpPr>
          <p:nvPr/>
        </p:nvCxnSpPr>
        <p:spPr>
          <a:xfrm flipH="1" flipV="1">
            <a:off x="2978577" y="4655949"/>
            <a:ext cx="2780292" cy="18577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F2F45A0-13F8-2945-A53C-118A8D732BBA}"/>
              </a:ext>
            </a:extLst>
          </p:cNvPr>
          <p:cNvSpPr txBox="1"/>
          <p:nvPr/>
        </p:nvSpPr>
        <p:spPr>
          <a:xfrm>
            <a:off x="129917" y="3243263"/>
            <a:ext cx="1386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TX:</a:t>
            </a:r>
          </a:p>
          <a:p>
            <a:r>
              <a:rPr lang="en-US" dirty="0"/>
              <a:t>A-&gt;B:U[8,11]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BAB0B1-96C0-C444-AD5C-1044FBA5CD52}"/>
              </a:ext>
            </a:extLst>
          </p:cNvPr>
          <p:cNvSpPr txBox="1"/>
          <p:nvPr/>
        </p:nvSpPr>
        <p:spPr>
          <a:xfrm>
            <a:off x="318854" y="6212445"/>
            <a:ext cx="4645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endorsements are different,</a:t>
            </a:r>
          </a:p>
          <a:p>
            <a:r>
              <a:rPr lang="en-US" dirty="0"/>
              <a:t>No transaction satisfies the endorsement policy</a:t>
            </a:r>
          </a:p>
        </p:txBody>
      </p:sp>
    </p:spTree>
    <p:extLst>
      <p:ext uri="{BB962C8B-B14F-4D97-AF65-F5344CB8AC3E}">
        <p14:creationId xmlns:p14="http://schemas.microsoft.com/office/powerpoint/2010/main" val="201765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3" grpId="0"/>
      <p:bldP spid="24" grpId="0"/>
      <p:bldP spid="25" grpId="0"/>
      <p:bldP spid="26" grpId="0"/>
      <p:bldP spid="27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6951-31D7-FD4B-82AF-E23922E0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12133822-222E-E14C-9A61-D9E4BEB80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1498304"/>
            <a:ext cx="9363075" cy="5205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A7B75-CF93-374E-A8D4-BA8C3779C4FA}"/>
              </a:ext>
            </a:extLst>
          </p:cNvPr>
          <p:cNvSpPr txBox="1"/>
          <p:nvPr/>
        </p:nvSpPr>
        <p:spPr>
          <a:xfrm>
            <a:off x="9307647" y="6580783"/>
            <a:ext cx="2534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Source:</a:t>
            </a:r>
            <a:r>
              <a:rPr lang="en-US" sz="1000" dirty="0" err="1">
                <a:hlinkClick r:id="rId3"/>
              </a:rPr>
              <a:t>https</a:t>
            </a:r>
            <a:r>
              <a:rPr lang="en-US" sz="1000" dirty="0">
                <a:hlinkClick r:id="rId3"/>
              </a:rPr>
              <a:t>://arxiv.org/pdf/1801.10228.pdf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62288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网络的性能指标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3030586" y="1486161"/>
          <a:ext cx="7618308" cy="4203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矩形 6"/>
          <p:cNvSpPr/>
          <p:nvPr/>
        </p:nvSpPr>
        <p:spPr>
          <a:xfrm>
            <a:off x="810180" y="2076886"/>
            <a:ext cx="3376099" cy="1584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66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性能指标：</a:t>
            </a:r>
            <a:endParaRPr lang="en-US" altLang="zh-CN" sz="2667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从不同的方面来度量计算机网络的性能。</a:t>
            </a:r>
          </a:p>
        </p:txBody>
      </p:sp>
    </p:spTree>
    <p:extLst>
      <p:ext uri="{BB962C8B-B14F-4D97-AF65-F5344CB8AC3E}">
        <p14:creationId xmlns:p14="http://schemas.microsoft.com/office/powerpoint/2010/main" val="9284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最重要的一个性能指标。</a:t>
            </a:r>
            <a:endParaRPr lang="en-US" altLang="zh-CN" dirty="0"/>
          </a:p>
          <a:p>
            <a:r>
              <a:rPr lang="zh-CN" altLang="en-US" dirty="0"/>
              <a:t>指的是</a:t>
            </a:r>
            <a:r>
              <a:rPr lang="zh-CN" altLang="en-US" dirty="0">
                <a:solidFill>
                  <a:srgbClr val="C00000"/>
                </a:solidFill>
              </a:rPr>
              <a:t>数据的传送速率，</a:t>
            </a:r>
            <a:r>
              <a:rPr lang="zh-CN" altLang="en-US" dirty="0"/>
              <a:t>也称为</a:t>
            </a:r>
            <a:r>
              <a:rPr lang="zh-CN" altLang="en-US" dirty="0">
                <a:solidFill>
                  <a:srgbClr val="C00000"/>
                </a:solidFill>
              </a:rPr>
              <a:t>数据率</a:t>
            </a:r>
            <a:r>
              <a:rPr lang="zh-CN" altLang="en-US" dirty="0"/>
              <a:t> </a:t>
            </a:r>
            <a:r>
              <a:rPr lang="en-US" altLang="zh-CN" dirty="0"/>
              <a:t>(data rate) 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比特率</a:t>
            </a:r>
            <a:r>
              <a:rPr lang="zh-CN" altLang="en-US" dirty="0"/>
              <a:t> </a:t>
            </a:r>
            <a:r>
              <a:rPr lang="en-US" altLang="zh-CN" dirty="0"/>
              <a:t>(bit rate)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单位：</a:t>
            </a:r>
            <a:r>
              <a:rPr lang="en-US" altLang="zh-CN" dirty="0"/>
              <a:t>bit/s</a:t>
            </a:r>
            <a:r>
              <a:rPr lang="zh-CN" altLang="en-US" dirty="0"/>
              <a:t>，或 </a:t>
            </a:r>
            <a:r>
              <a:rPr lang="en-US" altLang="zh-CN" dirty="0" err="1"/>
              <a:t>kbit</a:t>
            </a:r>
            <a:r>
              <a:rPr lang="en-US" altLang="zh-CN" dirty="0"/>
              <a:t>/s</a:t>
            </a:r>
            <a:r>
              <a:rPr lang="zh-CN" altLang="en-US" dirty="0"/>
              <a:t>、</a:t>
            </a:r>
            <a:r>
              <a:rPr lang="en-US" altLang="zh-CN" dirty="0"/>
              <a:t>Mbit/s</a:t>
            </a:r>
            <a:r>
              <a:rPr lang="zh-CN" altLang="en-US" dirty="0"/>
              <a:t>、 </a:t>
            </a:r>
            <a:r>
              <a:rPr lang="en-US" altLang="zh-CN" dirty="0" err="1"/>
              <a:t>Gbit</a:t>
            </a:r>
            <a:r>
              <a:rPr lang="en-US" altLang="zh-CN" dirty="0"/>
              <a:t>/s </a:t>
            </a:r>
            <a:r>
              <a:rPr lang="zh-CN" altLang="en-US" dirty="0"/>
              <a:t>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例如 </a:t>
            </a:r>
            <a:r>
              <a:rPr lang="en-US" altLang="zh-CN" dirty="0"/>
              <a:t>4 </a:t>
            </a:r>
            <a:r>
              <a:rPr lang="en-US" altLang="zh-CN" dirty="0">
                <a:sym typeface="Symbol" pitchFamily="18" charset="2"/>
              </a:rPr>
              <a:t></a:t>
            </a:r>
            <a:r>
              <a:rPr lang="en-US" altLang="zh-CN" dirty="0"/>
              <a:t> 10</a:t>
            </a:r>
            <a:r>
              <a:rPr lang="en-US" altLang="zh-CN" baseline="30000" dirty="0"/>
              <a:t>10  </a:t>
            </a:r>
            <a:r>
              <a:rPr lang="en-US" altLang="zh-CN" dirty="0"/>
              <a:t>bit/s </a:t>
            </a:r>
            <a:r>
              <a:rPr lang="zh-CN" altLang="zh-CN" dirty="0"/>
              <a:t>的数据率就记为</a:t>
            </a:r>
            <a:r>
              <a:rPr lang="en-US" altLang="zh-CN" dirty="0"/>
              <a:t> 40 </a:t>
            </a:r>
            <a:r>
              <a:rPr lang="en-US" altLang="zh-CN" dirty="0" err="1"/>
              <a:t>Gbit</a:t>
            </a:r>
            <a:r>
              <a:rPr lang="en-US" altLang="zh-CN" dirty="0"/>
              <a:t>/s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速率往往是指</a:t>
            </a:r>
            <a:r>
              <a:rPr lang="zh-CN" altLang="en-US" dirty="0">
                <a:solidFill>
                  <a:srgbClr val="C00000"/>
                </a:solidFill>
              </a:rPr>
              <a:t>额定速率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标称速率，</a:t>
            </a:r>
            <a:r>
              <a:rPr lang="zh-CN" altLang="en-US" dirty="0"/>
              <a:t>非实际运行速率。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速率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23839" y="4511706"/>
            <a:ext cx="9637488" cy="11395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224521" y="4571376"/>
            <a:ext cx="9362636" cy="942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67"/>
              </a:lnSpc>
            </a:pPr>
            <a:r>
              <a:rPr lang="zh-CN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2133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1024</a:t>
            </a:r>
            <a:r>
              <a:rPr lang="zh-CN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，兆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2133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1024 K</a:t>
            </a:r>
            <a:r>
              <a:rPr lang="zh-CN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，吉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133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</a:t>
            </a:r>
            <a:r>
              <a:rPr lang="en-US" altLang="zh-CN" sz="2133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1024 M</a:t>
            </a:r>
          </a:p>
          <a:p>
            <a:pPr>
              <a:lnSpc>
                <a:spcPts val="3467"/>
              </a:lnSpc>
            </a:pP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(Byte) =  8 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比特 </a:t>
            </a:r>
            <a:r>
              <a:rPr lang="en-US" altLang="zh-CN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(bit</a:t>
            </a:r>
            <a:r>
              <a: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775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示 8"/>
          <p:cNvGraphicFramePr/>
          <p:nvPr/>
        </p:nvGraphicFramePr>
        <p:xfrm>
          <a:off x="731519" y="1446878"/>
          <a:ext cx="10531565" cy="3193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带宽 </a:t>
            </a:r>
            <a:r>
              <a:rPr lang="en-US" altLang="zh-CN" dirty="0"/>
              <a:t>(bandwidth)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748264" y="4617132"/>
            <a:ext cx="7882304" cy="13998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80990" indent="-380990">
              <a:lnSpc>
                <a:spcPts val="3467"/>
              </a:lnSpc>
              <a:buSzPct val="85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两者</a:t>
            </a:r>
            <a:r>
              <a:rPr lang="zh-CN" altLang="zh-CN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本质相同</a:t>
            </a: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ts val="3467"/>
              </a:lnSpc>
              <a:buSzPct val="85000"/>
              <a:buFont typeface="Wingdings" panose="05000000000000000000" pitchFamily="2" charset="2"/>
              <a:buChar char="u"/>
            </a:pP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一条通信链路的“带宽”越宽，其所能传输的“最高数据率”也越高。</a:t>
            </a:r>
          </a:p>
        </p:txBody>
      </p:sp>
    </p:spTree>
    <p:extLst>
      <p:ext uri="{BB962C8B-B14F-4D97-AF65-F5344CB8AC3E}">
        <p14:creationId xmlns:p14="http://schemas.microsoft.com/office/powerpoint/2010/main" val="132909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单位时间内通过某个网络（或信道、接口）的</a:t>
            </a:r>
            <a:r>
              <a:rPr lang="zh-CN" altLang="en-US" dirty="0">
                <a:solidFill>
                  <a:srgbClr val="C00000"/>
                </a:solidFill>
              </a:rPr>
              <a:t>实际数据量。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受网络的带宽或网络的额定速率的限制。</a:t>
            </a:r>
            <a:endParaRPr lang="en-US" altLang="zh-CN" dirty="0"/>
          </a:p>
          <a:p>
            <a:pPr lvl="1"/>
            <a:r>
              <a:rPr lang="zh-CN" altLang="en-US" dirty="0"/>
              <a:t>额定速率是绝对上限值。</a:t>
            </a:r>
            <a:endParaRPr lang="en-US" altLang="zh-CN" dirty="0"/>
          </a:p>
          <a:p>
            <a:pPr lvl="1"/>
            <a:r>
              <a:rPr lang="zh-CN" altLang="en-US" dirty="0"/>
              <a:t>可能会远小于额定速率，甚至下降到零！</a:t>
            </a:r>
            <a:endParaRPr lang="en-US" altLang="zh-CN" dirty="0"/>
          </a:p>
          <a:p>
            <a:r>
              <a:rPr lang="zh-CN" altLang="en-US" dirty="0"/>
              <a:t>有时可用</a:t>
            </a:r>
            <a:r>
              <a:rPr lang="zh-CN" altLang="en-US" dirty="0">
                <a:solidFill>
                  <a:srgbClr val="0000FF"/>
                </a:solidFill>
              </a:rPr>
              <a:t>每秒传送的字节数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帧数</a:t>
            </a:r>
            <a:r>
              <a:rPr lang="zh-CN" altLang="en-US" dirty="0"/>
              <a:t>来表示。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吞吐量 </a:t>
            </a:r>
            <a:r>
              <a:rPr lang="en-US" altLang="zh-CN" dirty="0"/>
              <a:t>(throughput)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128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指数据（一个报文或分组，甚至比特）从网络（或链路）的</a:t>
            </a:r>
            <a:r>
              <a:rPr lang="zh-CN" altLang="en-US" dirty="0">
                <a:solidFill>
                  <a:srgbClr val="C00000"/>
                </a:solidFill>
              </a:rPr>
              <a:t>一端传送到另一端所需的</a:t>
            </a:r>
            <a:r>
              <a:rPr lang="zh-CN" altLang="en-US" dirty="0">
                <a:solidFill>
                  <a:srgbClr val="0000CC"/>
                </a:solidFill>
              </a:rPr>
              <a:t>时间。</a:t>
            </a:r>
          </a:p>
          <a:p>
            <a:r>
              <a:rPr lang="zh-CN" altLang="en-US" dirty="0"/>
              <a:t>有时也称为</a:t>
            </a:r>
            <a:r>
              <a:rPr lang="zh-CN" altLang="en-US" dirty="0">
                <a:solidFill>
                  <a:srgbClr val="0000CC"/>
                </a:solidFill>
              </a:rPr>
              <a:t>延迟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CC"/>
                </a:solidFill>
              </a:rPr>
              <a:t>迟延。</a:t>
            </a:r>
            <a:endParaRPr lang="en-US" altLang="zh-CN" dirty="0">
              <a:solidFill>
                <a:srgbClr val="0000CC"/>
              </a:solidFill>
            </a:endParaRPr>
          </a:p>
          <a:p>
            <a:r>
              <a:rPr lang="zh-CN" altLang="en-US" dirty="0"/>
              <a:t>组成：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）发送时延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）传播时延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）处理时延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）排队时延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时延 </a:t>
            </a:r>
            <a:r>
              <a:rPr lang="en-US" altLang="zh-CN" dirty="0"/>
              <a:t>(delay </a:t>
            </a:r>
            <a:r>
              <a:rPr lang="zh-CN" altLang="en-US" dirty="0"/>
              <a:t>或 </a:t>
            </a:r>
            <a:r>
              <a:rPr lang="en-US" altLang="zh-CN" dirty="0"/>
              <a:t>latency)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931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也称为</a:t>
            </a:r>
            <a:r>
              <a:rPr lang="zh-CN" altLang="en-US" dirty="0">
                <a:solidFill>
                  <a:srgbClr val="0000FF"/>
                </a:solidFill>
              </a:rPr>
              <a:t>传输时延。</a:t>
            </a:r>
          </a:p>
          <a:p>
            <a:r>
              <a:rPr lang="zh-CN" altLang="en-US" dirty="0"/>
              <a:t>是主机或路由器发送数据帧所需要的时间，也就是从发送数据帧的</a:t>
            </a:r>
            <a:r>
              <a:rPr lang="zh-CN" altLang="en-US" dirty="0">
                <a:solidFill>
                  <a:srgbClr val="C00000"/>
                </a:solidFill>
              </a:rPr>
              <a:t>第一个比特</a:t>
            </a:r>
            <a:r>
              <a:rPr lang="zh-CN" altLang="en-US" dirty="0"/>
              <a:t>算起，到该帧的</a:t>
            </a:r>
            <a:r>
              <a:rPr lang="zh-CN" altLang="en-US" dirty="0">
                <a:solidFill>
                  <a:srgbClr val="C00000"/>
                </a:solidFill>
              </a:rPr>
              <a:t>最后一个比特</a:t>
            </a:r>
            <a:r>
              <a:rPr lang="zh-CN" altLang="en-US" dirty="0"/>
              <a:t>发送完毕所需的时间。</a:t>
            </a:r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1</a:t>
            </a:r>
            <a:r>
              <a:rPr lang="zh-CN" altLang="en-US" dirty="0">
                <a:solidFill>
                  <a:srgbClr val="FFFF00"/>
                </a:solidFill>
              </a:rPr>
              <a:t>）发送时延</a:t>
            </a: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1245855" y="3006535"/>
            <a:ext cx="8972099" cy="1634067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6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zh-CN" altLang="en-US" sz="2667" b="1">
              <a:ea typeface="黑体" pitchFamily="2" charset="-122"/>
            </a:endParaRPr>
          </a:p>
        </p:txBody>
      </p:sp>
      <p:grpSp>
        <p:nvGrpSpPr>
          <p:cNvPr id="6" name="组合 6"/>
          <p:cNvGrpSpPr>
            <a:grpSpLocks/>
          </p:cNvGrpSpPr>
          <p:nvPr/>
        </p:nvGrpSpPr>
        <p:grpSpPr bwMode="auto">
          <a:xfrm>
            <a:off x="2122527" y="3270736"/>
            <a:ext cx="7092335" cy="1099666"/>
            <a:chOff x="2539747" y="4370700"/>
            <a:chExt cx="4467381" cy="824749"/>
          </a:xfrm>
        </p:grpSpPr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2539747" y="4602475"/>
              <a:ext cx="1269411" cy="37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发送时延 </a:t>
              </a:r>
              <a:r>
                <a:rPr lang="en-US" altLang="zh-CN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= </a:t>
              </a:r>
            </a:p>
          </p:txBody>
        </p: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333881" y="4370700"/>
              <a:ext cx="1917647" cy="37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数据帧长度（</a:t>
              </a:r>
              <a:r>
                <a:rPr lang="en-US" altLang="zh-CN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bit</a:t>
              </a:r>
              <a:r>
                <a:rPr lang="zh-CN" altLang="en-US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4337429" y="4818375"/>
              <a:ext cx="1910580" cy="37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发送速率（</a:t>
              </a:r>
              <a:r>
                <a:rPr lang="en-US" altLang="zh-CN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bit/s</a:t>
              </a:r>
              <a:r>
                <a:rPr lang="zh-CN" altLang="en-US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3780428" y="4805675"/>
              <a:ext cx="3226700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solidFill>
                  <a:srgbClr val="0000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78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C00000"/>
                </a:solidFill>
              </a:rPr>
              <a:t>电磁波</a:t>
            </a:r>
            <a:r>
              <a:rPr lang="zh-CN" altLang="en-US" sz="2400" dirty="0"/>
              <a:t>在信道中传播一定的距离需要花费的时间。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电磁波传播速率：</a:t>
            </a:r>
            <a:endParaRPr lang="en-US" altLang="zh-CN" sz="2400" dirty="0"/>
          </a:p>
          <a:p>
            <a:pPr lvl="1"/>
            <a:r>
              <a:rPr lang="zh-CN" altLang="en-US" sz="2000" dirty="0"/>
              <a:t>自由空间的传播速率是光速 </a:t>
            </a:r>
            <a:r>
              <a:rPr lang="en-US" altLang="zh-CN" sz="2000" dirty="0"/>
              <a:t>= 3.0 </a:t>
            </a:r>
            <a:r>
              <a:rPr lang="zh-CN" altLang="en-US" sz="2000" dirty="0"/>
              <a:t>ⅹ</a:t>
            </a:r>
            <a:r>
              <a:rPr lang="en-US" altLang="zh-CN" sz="2000" dirty="0"/>
              <a:t> 10</a:t>
            </a:r>
            <a:r>
              <a:rPr lang="en-US" altLang="zh-CN" sz="2000" baseline="30000" dirty="0"/>
              <a:t>8</a:t>
            </a:r>
            <a:r>
              <a:rPr lang="en-US" altLang="zh-CN" sz="2000" dirty="0"/>
              <a:t> m/s</a:t>
            </a:r>
          </a:p>
          <a:p>
            <a:pPr lvl="1"/>
            <a:r>
              <a:rPr lang="zh-CN" altLang="en-US" sz="2000" dirty="0"/>
              <a:t>在铜线电缆中的传播速率约 </a:t>
            </a:r>
            <a:r>
              <a:rPr lang="en-US" altLang="zh-CN" sz="2000" dirty="0"/>
              <a:t>= 2.3 </a:t>
            </a:r>
            <a:r>
              <a:rPr lang="zh-CN" altLang="en-US" sz="2000" dirty="0"/>
              <a:t>ⅹ</a:t>
            </a:r>
            <a:r>
              <a:rPr lang="en-US" altLang="zh-CN" sz="2000" dirty="0"/>
              <a:t> 10</a:t>
            </a:r>
            <a:r>
              <a:rPr lang="en-US" altLang="zh-CN" sz="2000" baseline="30000" dirty="0"/>
              <a:t>8</a:t>
            </a:r>
            <a:r>
              <a:rPr lang="en-US" altLang="zh-CN" sz="2000" dirty="0"/>
              <a:t> m/s</a:t>
            </a:r>
          </a:p>
          <a:p>
            <a:pPr lvl="1"/>
            <a:r>
              <a:rPr lang="zh-CN" altLang="en-US" sz="2000" dirty="0"/>
              <a:t>在光纤中的传播速率约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2.0 </a:t>
            </a:r>
            <a:r>
              <a:rPr lang="zh-CN" altLang="en-US" sz="2000" dirty="0"/>
              <a:t>ⅹ </a:t>
            </a:r>
            <a:r>
              <a:rPr lang="en-US" altLang="zh-CN" sz="2000" dirty="0"/>
              <a:t>10</a:t>
            </a:r>
            <a:r>
              <a:rPr lang="en-US" altLang="zh-CN" sz="2000" baseline="30000" dirty="0"/>
              <a:t>8</a:t>
            </a:r>
            <a:r>
              <a:rPr lang="en-US" altLang="zh-CN" sz="2000" dirty="0"/>
              <a:t> m/s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2</a:t>
            </a:r>
            <a:r>
              <a:rPr lang="zh-CN" altLang="en-US" dirty="0">
                <a:solidFill>
                  <a:srgbClr val="FFFF00"/>
                </a:solidFill>
              </a:rPr>
              <a:t>）传播时延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1350459" y="2020991"/>
            <a:ext cx="9471391" cy="1634067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6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zh-CN" altLang="en-US" sz="2667" b="1">
              <a:ea typeface="黑体" pitchFamily="2" charset="-122"/>
            </a:endParaRPr>
          </a:p>
        </p:txBody>
      </p:sp>
      <p:grpSp>
        <p:nvGrpSpPr>
          <p:cNvPr id="13" name="组合 13"/>
          <p:cNvGrpSpPr>
            <a:grpSpLocks/>
          </p:cNvGrpSpPr>
          <p:nvPr/>
        </p:nvGrpSpPr>
        <p:grpSpPr bwMode="auto">
          <a:xfrm>
            <a:off x="1924998" y="2236546"/>
            <a:ext cx="8532561" cy="1111978"/>
            <a:chOff x="2196085" y="4343452"/>
            <a:chExt cx="5374557" cy="833983"/>
          </a:xfrm>
        </p:grpSpPr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2196085" y="4554685"/>
              <a:ext cx="1269410" cy="37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传播时延 </a:t>
              </a:r>
              <a:r>
                <a:rPr lang="en-US" altLang="zh-CN" sz="2667" b="1" dirty="0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= </a:t>
              </a: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4527837" y="4343452"/>
              <a:ext cx="1621800" cy="37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667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信道长度（米）</a:t>
              </a: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3429460" y="4800361"/>
              <a:ext cx="4141182" cy="37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zh-CN" altLang="en-US" sz="2667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信号在信道上的传播速率（米</a:t>
              </a:r>
              <a:r>
                <a:rPr lang="en-US" altLang="zh-CN" sz="2667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/</a:t>
              </a:r>
              <a:r>
                <a:rPr lang="zh-CN" altLang="en-US" sz="2667" b="1">
                  <a:solidFill>
                    <a:srgbClr val="000066"/>
                  </a:solidFill>
                  <a:latin typeface="微软雅黑" pitchFamily="34" charset="-122"/>
                  <a:ea typeface="微软雅黑" pitchFamily="34" charset="-122"/>
                </a:rPr>
                <a:t>秒）</a:t>
              </a: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3429459" y="4759955"/>
              <a:ext cx="3842413" cy="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solidFill>
                  <a:srgbClr val="0000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751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189" lvl="1" indent="-457189"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zh-CN" altLang="en-US" sz="2667" dirty="0">
                <a:solidFill>
                  <a:srgbClr val="C00000"/>
                </a:solidFill>
              </a:rPr>
              <a:t>注意：</a:t>
            </a:r>
            <a:r>
              <a:rPr lang="zh-CN" altLang="en-US" sz="2667" dirty="0">
                <a:solidFill>
                  <a:srgbClr val="0000CC"/>
                </a:solidFill>
              </a:rPr>
              <a:t>发送时延</a:t>
            </a:r>
            <a:r>
              <a:rPr lang="zh-CN" altLang="en-US" sz="2667" dirty="0">
                <a:solidFill>
                  <a:srgbClr val="C00000"/>
                </a:solidFill>
              </a:rPr>
              <a:t>与</a:t>
            </a:r>
            <a:r>
              <a:rPr lang="zh-CN" altLang="en-US" sz="2667" dirty="0">
                <a:solidFill>
                  <a:srgbClr val="0000CC"/>
                </a:solidFill>
              </a:rPr>
              <a:t>传播时延</a:t>
            </a:r>
            <a:r>
              <a:rPr lang="zh-CN" altLang="zh-CN" sz="2667" dirty="0">
                <a:solidFill>
                  <a:srgbClr val="C00000"/>
                </a:solidFill>
              </a:rPr>
              <a:t>有本质上的不同</a:t>
            </a:r>
            <a:r>
              <a:rPr lang="zh-CN" altLang="en-US" sz="2667" dirty="0">
                <a:solidFill>
                  <a:srgbClr val="C00000"/>
                </a:solidFill>
              </a:rPr>
              <a:t>。</a:t>
            </a:r>
            <a:endParaRPr lang="en-US" altLang="zh-CN" sz="2667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发送时延</a:t>
            </a:r>
            <a:r>
              <a:rPr lang="zh-CN" altLang="en-US" dirty="0"/>
              <a:t>发生在机器内部的发送器中，与传输信道的长度（或信号传送的距离）没有任何关系。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传播时延</a:t>
            </a:r>
            <a:r>
              <a:rPr lang="zh-CN" altLang="en-US" dirty="0"/>
              <a:t>则发生在机器外部的传输信道媒体上，而与信号的发送速率无关。信号传送的距离越远，传播时延就越大。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2</a:t>
            </a:r>
            <a:r>
              <a:rPr lang="zh-CN" altLang="en-US" dirty="0">
                <a:solidFill>
                  <a:srgbClr val="FFFF00"/>
                </a:solidFill>
              </a:rPr>
              <a:t>）传播时延</a:t>
            </a:r>
          </a:p>
        </p:txBody>
      </p:sp>
    </p:spTree>
    <p:extLst>
      <p:ext uri="{BB962C8B-B14F-4D97-AF65-F5344CB8AC3E}">
        <p14:creationId xmlns:p14="http://schemas.microsoft.com/office/powerpoint/2010/main" val="183324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）处理时延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主机或路由器在收到分组时，为</a:t>
            </a:r>
            <a:r>
              <a:rPr lang="zh-CN" altLang="en-US" dirty="0">
                <a:solidFill>
                  <a:srgbClr val="C00000"/>
                </a:solidFill>
              </a:rPr>
              <a:t>处理</a:t>
            </a:r>
            <a:r>
              <a:rPr lang="zh-CN" altLang="en-US" dirty="0"/>
              <a:t>分组（例如分析首部、提取数据、差错检验或查找路由）所花费的时间。 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）排队时延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分组在路由器输入输出队列中</a:t>
            </a:r>
            <a:r>
              <a:rPr lang="zh-CN" altLang="en-US" dirty="0">
                <a:solidFill>
                  <a:srgbClr val="C00000"/>
                </a:solidFill>
              </a:rPr>
              <a:t>排队等待</a:t>
            </a:r>
            <a:r>
              <a:rPr lang="zh-CN" altLang="en-US" dirty="0"/>
              <a:t>处理和转发所经历的时延。</a:t>
            </a:r>
          </a:p>
          <a:p>
            <a:pPr lvl="1"/>
            <a:r>
              <a:rPr lang="zh-CN" altLang="en-US" dirty="0"/>
              <a:t>排队时延的长短往往取决于网络中当时的通信量。当网络的通信量很大时会发生队列溢出，使分组丢失，这相当于排队时延为无穷大。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FF00"/>
                </a:solidFill>
              </a:rPr>
              <a:t>（</a:t>
            </a:r>
            <a:r>
              <a:rPr lang="en-US" altLang="zh-CN" dirty="0">
                <a:solidFill>
                  <a:srgbClr val="FFFF00"/>
                </a:solidFill>
              </a:rPr>
              <a:t>3</a:t>
            </a:r>
            <a:r>
              <a:rPr lang="zh-CN" altLang="en-US" dirty="0">
                <a:solidFill>
                  <a:srgbClr val="FFFF00"/>
                </a:solidFill>
              </a:rPr>
              <a:t>）处理时延 和（</a:t>
            </a:r>
            <a:r>
              <a:rPr lang="en-US" altLang="zh-CN" dirty="0">
                <a:solidFill>
                  <a:srgbClr val="FFFF00"/>
                </a:solidFill>
              </a:rPr>
              <a:t>4</a:t>
            </a:r>
            <a:r>
              <a:rPr lang="zh-CN" altLang="en-US" dirty="0">
                <a:solidFill>
                  <a:srgbClr val="FFFF00"/>
                </a:solidFill>
              </a:rPr>
              <a:t>）排队时延</a:t>
            </a:r>
          </a:p>
        </p:txBody>
      </p:sp>
    </p:spTree>
    <p:extLst>
      <p:ext uri="{BB962C8B-B14F-4D97-AF65-F5344CB8AC3E}">
        <p14:creationId xmlns:p14="http://schemas.microsoft.com/office/powerpoint/2010/main" val="104160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一般说来，小时延的网络要</a:t>
            </a:r>
            <a:r>
              <a:rPr lang="zh-CN" altLang="en-US" dirty="0">
                <a:solidFill>
                  <a:srgbClr val="C00000"/>
                </a:solidFill>
              </a:rPr>
              <a:t>优于</a:t>
            </a:r>
            <a:r>
              <a:rPr lang="zh-CN" altLang="en-US" dirty="0"/>
              <a:t>大时延的网络。</a:t>
            </a:r>
            <a:endParaRPr lang="en-US" altLang="zh-CN" dirty="0"/>
          </a:p>
          <a:p>
            <a:r>
              <a:rPr lang="zh-CN" altLang="en-US" dirty="0"/>
              <a:t>在某些情况下，一个低速率、小时延的网络很可能要</a:t>
            </a:r>
            <a:r>
              <a:rPr lang="zh-CN" altLang="en-US" dirty="0">
                <a:solidFill>
                  <a:srgbClr val="C00000"/>
                </a:solidFill>
              </a:rPr>
              <a:t>优于</a:t>
            </a:r>
            <a:r>
              <a:rPr lang="zh-CN" altLang="en-US" dirty="0"/>
              <a:t>一个高速率但大时延的网络。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时延 </a:t>
            </a:r>
            <a:r>
              <a:rPr lang="en-US" altLang="zh-CN" dirty="0"/>
              <a:t>(delay </a:t>
            </a:r>
            <a:r>
              <a:rPr lang="zh-CN" altLang="en-US" dirty="0"/>
              <a:t>或 </a:t>
            </a:r>
            <a:r>
              <a:rPr lang="en-US" altLang="zh-CN" dirty="0"/>
              <a:t>latency)</a:t>
            </a:r>
            <a:endParaRPr lang="zh-CN" altLang="en-US" dirty="0"/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1488745" y="1652444"/>
            <a:ext cx="9530500" cy="1087856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66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zh-CN" altLang="en-US" sz="2667" b="1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6" name="矩形 13"/>
          <p:cNvSpPr>
            <a:spLocks noChangeArrowheads="1"/>
          </p:cNvSpPr>
          <p:nvPr/>
        </p:nvSpPr>
        <p:spPr bwMode="auto">
          <a:xfrm>
            <a:off x="1880771" y="1939674"/>
            <a:ext cx="8763779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总时延 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发送时延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传播时延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处理时延 </a:t>
            </a:r>
            <a:r>
              <a:rPr lang="en-US" altLang="zh-CN" sz="2667" b="1" dirty="0"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2667" b="1" dirty="0">
                <a:latin typeface="微软雅黑" pitchFamily="34" charset="-122"/>
                <a:ea typeface="微软雅黑" pitchFamily="34" charset="-122"/>
              </a:rPr>
              <a:t>排队时延</a:t>
            </a:r>
          </a:p>
        </p:txBody>
      </p:sp>
      <p:sp>
        <p:nvSpPr>
          <p:cNvPr id="4" name="矩形 3"/>
          <p:cNvSpPr/>
          <p:nvPr/>
        </p:nvSpPr>
        <p:spPr>
          <a:xfrm>
            <a:off x="2749426" y="4568727"/>
            <a:ext cx="6302959" cy="9510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3467"/>
              </a:lnSpc>
            </a:pP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必须指出，在总时延中，究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竟是哪一种时延</a:t>
            </a:r>
            <a:r>
              <a:rPr lang="zh-CN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占主导地位</a:t>
            </a: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，必须具体分析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5093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33417" y="1344791"/>
            <a:ext cx="9765211" cy="397807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8551" name="Rectangle 7"/>
          <p:cNvSpPr>
            <a:spLocks noChangeArrowheads="1"/>
          </p:cNvSpPr>
          <p:nvPr/>
        </p:nvSpPr>
        <p:spPr bwMode="auto">
          <a:xfrm>
            <a:off x="4008929" y="4040831"/>
            <a:ext cx="5132916" cy="226483"/>
          </a:xfrm>
          <a:prstGeom prst="rect">
            <a:avLst/>
          </a:prstGeom>
          <a:gradFill rotWithShape="1">
            <a:gsLst>
              <a:gs pos="0">
                <a:srgbClr val="339933"/>
              </a:gs>
              <a:gs pos="50000">
                <a:srgbClr val="CDF3CD"/>
              </a:gs>
              <a:gs pos="100000">
                <a:srgbClr val="339933"/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2830510" y="3582631"/>
            <a:ext cx="1262724" cy="1142443"/>
          </a:xfrm>
          <a:prstGeom prst="ellipse">
            <a:avLst/>
          </a:prstGeom>
          <a:gradFill flip="none" rotWithShape="1">
            <a:gsLst>
              <a:gs pos="2000">
                <a:srgbClr val="CDF3CD"/>
              </a:gs>
              <a:gs pos="100000">
                <a:srgbClr val="339933"/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1">
              <a:ea typeface="黑体" pitchFamily="2" charset="-122"/>
            </a:endParaRPr>
          </a:p>
        </p:txBody>
      </p:sp>
      <p:sp>
        <p:nvSpPr>
          <p:cNvPr id="108555" name="Oval 10"/>
          <p:cNvSpPr>
            <a:spLocks noChangeArrowheads="1"/>
          </p:cNvSpPr>
          <p:nvPr/>
        </p:nvSpPr>
        <p:spPr bwMode="auto">
          <a:xfrm>
            <a:off x="9057177" y="3583631"/>
            <a:ext cx="1263651" cy="1140883"/>
          </a:xfrm>
          <a:prstGeom prst="ellipse">
            <a:avLst/>
          </a:prstGeom>
          <a:gradFill rotWithShape="1">
            <a:gsLst>
              <a:gs pos="0">
                <a:srgbClr val="85D1F7"/>
              </a:gs>
              <a:gs pos="100000">
                <a:srgbClr val="0070C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grpSp>
        <p:nvGrpSpPr>
          <p:cNvPr id="108556" name="Group 11"/>
          <p:cNvGrpSpPr>
            <a:grpSpLocks/>
          </p:cNvGrpSpPr>
          <p:nvPr/>
        </p:nvGrpSpPr>
        <p:grpSpPr bwMode="auto">
          <a:xfrm>
            <a:off x="3166495" y="3932881"/>
            <a:ext cx="673100" cy="393700"/>
            <a:chOff x="1567" y="1056"/>
            <a:chExt cx="384" cy="336"/>
          </a:xfrm>
        </p:grpSpPr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1664" y="1056"/>
              <a:ext cx="287" cy="336"/>
            </a:xfrm>
            <a:prstGeom prst="rect">
              <a:avLst/>
            </a:prstGeom>
            <a:solidFill>
              <a:srgbClr val="85D1F7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16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黑体" pitchFamily="2" charset="-122"/>
              </a:endParaRPr>
            </a:p>
          </p:txBody>
        </p:sp>
        <p:sp>
          <p:nvSpPr>
            <p:cNvPr id="108579" name="Freeform 13"/>
            <p:cNvSpPr>
              <a:spLocks/>
            </p:cNvSpPr>
            <p:nvPr/>
          </p:nvSpPr>
          <p:spPr bwMode="auto">
            <a:xfrm>
              <a:off x="1567" y="1056"/>
              <a:ext cx="384" cy="336"/>
            </a:xfrm>
            <a:custGeom>
              <a:avLst/>
              <a:gdLst>
                <a:gd name="T0" fmla="*/ 0 w 384"/>
                <a:gd name="T1" fmla="*/ 0 h 336"/>
                <a:gd name="T2" fmla="*/ 384 w 384"/>
                <a:gd name="T3" fmla="*/ 0 h 336"/>
                <a:gd name="T4" fmla="*/ 384 w 384"/>
                <a:gd name="T5" fmla="*/ 336 h 336"/>
                <a:gd name="T6" fmla="*/ 0 w 384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336">
                  <a:moveTo>
                    <a:pt x="0" y="0"/>
                  </a:moveTo>
                  <a:lnTo>
                    <a:pt x="384" y="0"/>
                  </a:lnTo>
                  <a:lnTo>
                    <a:pt x="384" y="336"/>
                  </a:lnTo>
                  <a:lnTo>
                    <a:pt x="0" y="336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80" name="Line 14"/>
            <p:cNvSpPr>
              <a:spLocks noChangeShapeType="1"/>
            </p:cNvSpPr>
            <p:nvPr/>
          </p:nvSpPr>
          <p:spPr bwMode="auto">
            <a:xfrm>
              <a:off x="1855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81" name="Line 15"/>
            <p:cNvSpPr>
              <a:spLocks noChangeShapeType="1"/>
            </p:cNvSpPr>
            <p:nvPr/>
          </p:nvSpPr>
          <p:spPr bwMode="auto">
            <a:xfrm>
              <a:off x="1759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82" name="Line 16"/>
            <p:cNvSpPr>
              <a:spLocks noChangeShapeType="1"/>
            </p:cNvSpPr>
            <p:nvPr/>
          </p:nvSpPr>
          <p:spPr bwMode="auto">
            <a:xfrm>
              <a:off x="1663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08557" name="Line 17"/>
          <p:cNvSpPr>
            <a:spLocks noChangeShapeType="1"/>
          </p:cNvSpPr>
          <p:nvPr/>
        </p:nvSpPr>
        <p:spPr bwMode="auto">
          <a:xfrm>
            <a:off x="3835361" y="4144548"/>
            <a:ext cx="251883" cy="423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08558" name="Rectangle 18"/>
          <p:cNvSpPr>
            <a:spLocks noChangeArrowheads="1"/>
          </p:cNvSpPr>
          <p:nvPr/>
        </p:nvSpPr>
        <p:spPr bwMode="auto">
          <a:xfrm>
            <a:off x="3903095" y="4064114"/>
            <a:ext cx="158749" cy="165100"/>
          </a:xfrm>
          <a:prstGeom prst="rect">
            <a:avLst/>
          </a:prstGeom>
          <a:solidFill>
            <a:srgbClr val="9AFEA6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59" name="AutoShape 21"/>
          <p:cNvSpPr>
            <a:spLocks noChangeArrowheads="1"/>
          </p:cNvSpPr>
          <p:nvPr/>
        </p:nvSpPr>
        <p:spPr bwMode="auto">
          <a:xfrm>
            <a:off x="4597361" y="4085280"/>
            <a:ext cx="1176867" cy="152400"/>
          </a:xfrm>
          <a:prstGeom prst="rightArrow">
            <a:avLst>
              <a:gd name="adj1" fmla="val 50000"/>
              <a:gd name="adj2" fmla="val 178219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60" name="AutoShape 26"/>
          <p:cNvSpPr>
            <a:spLocks noChangeArrowheads="1"/>
          </p:cNvSpPr>
          <p:nvPr/>
        </p:nvSpPr>
        <p:spPr bwMode="auto">
          <a:xfrm>
            <a:off x="2271144" y="4085280"/>
            <a:ext cx="1060451" cy="152400"/>
          </a:xfrm>
          <a:prstGeom prst="rightArrow">
            <a:avLst>
              <a:gd name="adj1" fmla="val 50000"/>
              <a:gd name="adj2" fmla="val 178436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61" name="AutoShape 27"/>
          <p:cNvSpPr>
            <a:spLocks noChangeArrowheads="1"/>
          </p:cNvSpPr>
          <p:nvPr/>
        </p:nvSpPr>
        <p:spPr bwMode="auto">
          <a:xfrm>
            <a:off x="8417944" y="4078931"/>
            <a:ext cx="1176867" cy="150283"/>
          </a:xfrm>
          <a:prstGeom prst="rightArrow">
            <a:avLst>
              <a:gd name="adj1" fmla="val 50000"/>
              <a:gd name="adj2" fmla="val 180730"/>
            </a:avLst>
          </a:prstGeom>
          <a:solidFill>
            <a:srgbClr val="FFCC00"/>
          </a:solidFill>
          <a:ln>
            <a:solidFill>
              <a:srgbClr val="000066"/>
            </a:solidFill>
          </a:ln>
        </p:spPr>
        <p:txBody>
          <a:bodyPr wrap="none" anchor="ctr"/>
          <a:lstStyle/>
          <a:p>
            <a:endParaRPr lang="zh-CN" altLang="en-US" sz="1600" b="1">
              <a:ea typeface="黑体" pitchFamily="49" charset="-122"/>
            </a:endParaRPr>
          </a:p>
        </p:txBody>
      </p:sp>
      <p:sp>
        <p:nvSpPr>
          <p:cNvPr id="108563" name="Text Box 29"/>
          <p:cNvSpPr txBox="1">
            <a:spLocks noChangeArrowheads="1"/>
          </p:cNvSpPr>
          <p:nvPr/>
        </p:nvSpPr>
        <p:spPr bwMode="auto">
          <a:xfrm>
            <a:off x="7298228" y="3843980"/>
            <a:ext cx="42832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en-US" altLang="zh-CN" sz="2667" b="1">
                <a:ea typeface="黑体" pitchFamily="49" charset="-122"/>
              </a:rPr>
              <a:t>…</a:t>
            </a:r>
          </a:p>
        </p:txBody>
      </p:sp>
      <p:sp>
        <p:nvSpPr>
          <p:cNvPr id="108564" name="Text Box 32"/>
          <p:cNvSpPr txBox="1">
            <a:spLocks noChangeArrowheads="1"/>
          </p:cNvSpPr>
          <p:nvPr/>
        </p:nvSpPr>
        <p:spPr bwMode="auto">
          <a:xfrm>
            <a:off x="4364529" y="4495913"/>
            <a:ext cx="901209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>
                <a:latin typeface="微软雅黑" pitchFamily="34" charset="-122"/>
                <a:ea typeface="微软雅黑" pitchFamily="34" charset="-122"/>
              </a:rPr>
              <a:t>发送器</a:t>
            </a:r>
          </a:p>
        </p:txBody>
      </p:sp>
      <p:sp>
        <p:nvSpPr>
          <p:cNvPr id="108565" name="Text Box 34"/>
          <p:cNvSpPr txBox="1">
            <a:spLocks noChangeArrowheads="1"/>
          </p:cNvSpPr>
          <p:nvPr/>
        </p:nvSpPr>
        <p:spPr bwMode="auto">
          <a:xfrm>
            <a:off x="3185545" y="4290656"/>
            <a:ext cx="665567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 dirty="0">
                <a:ea typeface="黑体" pitchFamily="49" charset="-122"/>
              </a:rPr>
              <a:t>队列</a:t>
            </a:r>
          </a:p>
        </p:txBody>
      </p:sp>
      <p:grpSp>
        <p:nvGrpSpPr>
          <p:cNvPr id="25" name="Group 45"/>
          <p:cNvGrpSpPr>
            <a:grpSpLocks/>
          </p:cNvGrpSpPr>
          <p:nvPr/>
        </p:nvGrpSpPr>
        <p:grpSpPr bwMode="auto">
          <a:xfrm>
            <a:off x="6814183" y="2511791"/>
            <a:ext cx="2192064" cy="1383459"/>
            <a:chOff x="3363" y="1933"/>
            <a:chExt cx="1486" cy="1016"/>
          </a:xfrm>
          <a:solidFill>
            <a:srgbClr val="0070C0"/>
          </a:solidFill>
        </p:grpSpPr>
        <p:sp>
          <p:nvSpPr>
            <p:cNvPr id="26" name="Line 33"/>
            <p:cNvSpPr>
              <a:spLocks noChangeShapeType="1"/>
            </p:cNvSpPr>
            <p:nvPr/>
          </p:nvSpPr>
          <p:spPr bwMode="auto">
            <a:xfrm flipH="1">
              <a:off x="3363" y="2369"/>
              <a:ext cx="322" cy="580"/>
            </a:xfrm>
            <a:prstGeom prst="line">
              <a:avLst/>
            </a:prstGeom>
            <a:grp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133" b="1">
                <a:ln>
                  <a:solidFill>
                    <a:srgbClr val="993300"/>
                  </a:solidFill>
                </a:ln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Text Box 36"/>
            <p:cNvSpPr txBox="1">
              <a:spLocks noChangeArrowheads="1"/>
            </p:cNvSpPr>
            <p:nvPr/>
          </p:nvSpPr>
          <p:spPr bwMode="auto">
            <a:xfrm>
              <a:off x="3506" y="1933"/>
              <a:ext cx="1343" cy="490"/>
            </a:xfrm>
            <a:prstGeom prst="rect">
              <a:avLst/>
            </a:prstGeom>
            <a:solidFill>
              <a:srgbClr val="663300"/>
            </a:solidFill>
            <a:ln w="76200" cmpd="tri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在链路上产生</a:t>
              </a:r>
            </a:p>
            <a:p>
              <a:pPr algn="ctr">
                <a:defRPr/>
              </a:pP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传播时延</a:t>
              </a:r>
            </a:p>
          </p:txBody>
        </p:sp>
      </p:grpSp>
      <p:sp>
        <p:nvSpPr>
          <p:cNvPr id="108567" name="Text Box 37"/>
          <p:cNvSpPr txBox="1">
            <a:spLocks noChangeArrowheads="1"/>
          </p:cNvSpPr>
          <p:nvPr/>
        </p:nvSpPr>
        <p:spPr bwMode="auto">
          <a:xfrm>
            <a:off x="9188411" y="4746768"/>
            <a:ext cx="1002197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结点 </a:t>
            </a:r>
            <a:r>
              <a:rPr kumimoji="1"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</a:p>
        </p:txBody>
      </p:sp>
      <p:sp>
        <p:nvSpPr>
          <p:cNvPr id="108568" name="Text Box 38"/>
          <p:cNvSpPr txBox="1">
            <a:spLocks noChangeArrowheads="1"/>
          </p:cNvSpPr>
          <p:nvPr/>
        </p:nvSpPr>
        <p:spPr bwMode="auto">
          <a:xfrm>
            <a:off x="2945155" y="4740715"/>
            <a:ext cx="1019831" cy="42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结点 </a:t>
            </a:r>
            <a:r>
              <a:rPr kumimoji="1"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grpSp>
        <p:nvGrpSpPr>
          <p:cNvPr id="30" name="Group 44"/>
          <p:cNvGrpSpPr>
            <a:grpSpLocks/>
          </p:cNvGrpSpPr>
          <p:nvPr/>
        </p:nvGrpSpPr>
        <p:grpSpPr bwMode="auto">
          <a:xfrm>
            <a:off x="3983218" y="2304365"/>
            <a:ext cx="2670010" cy="1839619"/>
            <a:chOff x="1118" y="1781"/>
            <a:chExt cx="1810" cy="1351"/>
          </a:xfrm>
          <a:solidFill>
            <a:srgbClr val="0070C0"/>
          </a:solidFill>
        </p:grpSpPr>
        <p:sp>
          <p:nvSpPr>
            <p:cNvPr id="32" name="Line 40"/>
            <p:cNvSpPr>
              <a:spLocks noChangeShapeType="1"/>
            </p:cNvSpPr>
            <p:nvPr/>
          </p:nvSpPr>
          <p:spPr bwMode="auto">
            <a:xfrm flipH="1">
              <a:off x="1118" y="2195"/>
              <a:ext cx="122" cy="937"/>
            </a:xfrm>
            <a:prstGeom prst="line">
              <a:avLst/>
            </a:prstGeom>
            <a:grp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2133" b="1"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1184" y="1781"/>
              <a:ext cx="1744" cy="490"/>
            </a:xfrm>
            <a:prstGeom prst="rect">
              <a:avLst/>
            </a:prstGeom>
            <a:solidFill>
              <a:srgbClr val="006600"/>
            </a:solidFill>
            <a:ln w="76200" cmpd="tri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在发送器产生发送时延</a:t>
              </a:r>
            </a:p>
            <a:p>
              <a:pPr algn="ctr">
                <a:defRPr/>
              </a:pP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(</a:t>
              </a:r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即传输时延</a:t>
              </a:r>
              <a:r>
                <a:rPr kumimoji="1" lang="en-US" altLang="zh-CN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)</a:t>
              </a:r>
            </a:p>
          </p:txBody>
        </p:sp>
      </p:grpSp>
      <p:sp>
        <p:nvSpPr>
          <p:cNvPr id="108570" name="Line 41"/>
          <p:cNvSpPr>
            <a:spLocks noChangeShapeType="1"/>
          </p:cNvSpPr>
          <p:nvPr/>
        </p:nvSpPr>
        <p:spPr bwMode="auto">
          <a:xfrm flipH="1" flipV="1">
            <a:off x="4036443" y="4237681"/>
            <a:ext cx="374648" cy="486831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108571" name="组合 40"/>
          <p:cNvGrpSpPr>
            <a:grpSpLocks/>
          </p:cNvGrpSpPr>
          <p:nvPr/>
        </p:nvGrpSpPr>
        <p:grpSpPr bwMode="auto">
          <a:xfrm>
            <a:off x="1292383" y="2235807"/>
            <a:ext cx="2334293" cy="1845799"/>
            <a:chOff x="948464" y="1819146"/>
            <a:chExt cx="1750981" cy="1384449"/>
          </a:xfrm>
        </p:grpSpPr>
        <p:sp>
          <p:nvSpPr>
            <p:cNvPr id="108576" name="Line 39"/>
            <p:cNvSpPr>
              <a:spLocks noChangeShapeType="1"/>
            </p:cNvSpPr>
            <p:nvPr/>
          </p:nvSpPr>
          <p:spPr bwMode="auto">
            <a:xfrm>
              <a:off x="2011307" y="2293868"/>
              <a:ext cx="673995" cy="909727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8577" name="Text Box 42"/>
            <p:cNvSpPr txBox="1">
              <a:spLocks noChangeArrowheads="1"/>
            </p:cNvSpPr>
            <p:nvPr/>
          </p:nvSpPr>
          <p:spPr bwMode="auto">
            <a:xfrm>
              <a:off x="948464" y="1819146"/>
              <a:ext cx="1750981" cy="50026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76200" cmpd="tri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ctr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在这里产生</a:t>
              </a:r>
            </a:p>
            <a:p>
              <a:pPr algn="ctr"/>
              <a:r>
                <a:rPr kumimoji="1" lang="zh-CN" altLang="en-US" sz="1867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处理时延和排队时延</a:t>
              </a:r>
            </a:p>
          </p:txBody>
        </p:sp>
      </p:grpSp>
      <p:sp>
        <p:nvSpPr>
          <p:cNvPr id="108572" name="Text Box 46"/>
          <p:cNvSpPr txBox="1">
            <a:spLocks noChangeArrowheads="1"/>
          </p:cNvSpPr>
          <p:nvPr/>
        </p:nvSpPr>
        <p:spPr bwMode="auto">
          <a:xfrm>
            <a:off x="2220345" y="4326580"/>
            <a:ext cx="662361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>
                <a:latin typeface="微软雅黑" pitchFamily="34" charset="-122"/>
                <a:ea typeface="微软雅黑" pitchFamily="34" charset="-122"/>
              </a:rPr>
              <a:t>数据</a:t>
            </a:r>
          </a:p>
        </p:txBody>
      </p:sp>
      <p:sp>
        <p:nvSpPr>
          <p:cNvPr id="108573" name="Text Box 47"/>
          <p:cNvSpPr txBox="1">
            <a:spLocks noChangeArrowheads="1"/>
          </p:cNvSpPr>
          <p:nvPr/>
        </p:nvSpPr>
        <p:spPr bwMode="auto">
          <a:xfrm>
            <a:off x="3022119" y="1336581"/>
            <a:ext cx="5790956" cy="51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>
              <a:lnSpc>
                <a:spcPts val="3600"/>
              </a:lnSpc>
              <a:spcBef>
                <a:spcPts val="800"/>
              </a:spcBef>
            </a:pPr>
            <a:r>
              <a:rPr kumimoji="1"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假设从结点 </a:t>
            </a:r>
            <a:r>
              <a:rPr kumimoji="1"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 </a:t>
            </a:r>
            <a:r>
              <a:rPr kumimoji="1"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向结点 </a:t>
            </a:r>
            <a:r>
              <a:rPr kumimoji="1" lang="en-US" altLang="zh-CN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 </a:t>
            </a:r>
            <a:r>
              <a:rPr kumimoji="1"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发送数据</a:t>
            </a:r>
          </a:p>
        </p:txBody>
      </p:sp>
      <p:sp>
        <p:nvSpPr>
          <p:cNvPr id="108574" name="Text Box 48"/>
          <p:cNvSpPr txBox="1">
            <a:spLocks noChangeArrowheads="1"/>
          </p:cNvSpPr>
          <p:nvPr/>
        </p:nvSpPr>
        <p:spPr bwMode="auto">
          <a:xfrm>
            <a:off x="6070562" y="4307531"/>
            <a:ext cx="662361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kumimoji="1" lang="zh-CN" altLang="en-US" sz="1867" b="1">
                <a:latin typeface="微软雅黑" pitchFamily="34" charset="-122"/>
                <a:ea typeface="微软雅黑" pitchFamily="34" charset="-122"/>
              </a:rPr>
              <a:t>链路</a:t>
            </a:r>
          </a:p>
        </p:txBody>
      </p:sp>
      <p:sp>
        <p:nvSpPr>
          <p:cNvPr id="108575" name="矩形 38"/>
          <p:cNvSpPr>
            <a:spLocks noChangeArrowheads="1"/>
          </p:cNvSpPr>
          <p:nvPr/>
        </p:nvSpPr>
        <p:spPr bwMode="auto">
          <a:xfrm>
            <a:off x="3022119" y="5371848"/>
            <a:ext cx="60968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altLang="zh-CN" sz="2400" b="1" dirty="0">
                <a:latin typeface="微软雅黑" pitchFamily="34" charset="-122"/>
                <a:ea typeface="微软雅黑" pitchFamily="34" charset="-122"/>
              </a:rPr>
              <a:t>种时延产生的地方不一样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093233" y="3708876"/>
            <a:ext cx="0" cy="3827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9057177" y="3708876"/>
            <a:ext cx="0" cy="3827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093233" y="3895249"/>
            <a:ext cx="491314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119"/>
          <p:cNvSpPr>
            <a:spLocks/>
          </p:cNvSpPr>
          <p:nvPr/>
        </p:nvSpPr>
        <p:spPr bwMode="auto">
          <a:xfrm>
            <a:off x="5829790" y="4087133"/>
            <a:ext cx="1341629" cy="128513"/>
          </a:xfrm>
          <a:custGeom>
            <a:avLst/>
            <a:gdLst>
              <a:gd name="T0" fmla="*/ 0 w 680"/>
              <a:gd name="T1" fmla="*/ 90 h 90"/>
              <a:gd name="T2" fmla="*/ 45 w 680"/>
              <a:gd name="T3" fmla="*/ 90 h 90"/>
              <a:gd name="T4" fmla="*/ 45 w 680"/>
              <a:gd name="T5" fmla="*/ 0 h 90"/>
              <a:gd name="T6" fmla="*/ 91 w 680"/>
              <a:gd name="T7" fmla="*/ 0 h 90"/>
              <a:gd name="T8" fmla="*/ 91 w 680"/>
              <a:gd name="T9" fmla="*/ 90 h 90"/>
              <a:gd name="T10" fmla="*/ 136 w 680"/>
              <a:gd name="T11" fmla="*/ 90 h 90"/>
              <a:gd name="T12" fmla="*/ 136 w 680"/>
              <a:gd name="T13" fmla="*/ 0 h 90"/>
              <a:gd name="T14" fmla="*/ 181 w 680"/>
              <a:gd name="T15" fmla="*/ 0 h 90"/>
              <a:gd name="T16" fmla="*/ 181 w 680"/>
              <a:gd name="T17" fmla="*/ 90 h 90"/>
              <a:gd name="T18" fmla="*/ 227 w 680"/>
              <a:gd name="T19" fmla="*/ 90 h 90"/>
              <a:gd name="T20" fmla="*/ 227 w 680"/>
              <a:gd name="T21" fmla="*/ 0 h 90"/>
              <a:gd name="T22" fmla="*/ 317 w 680"/>
              <a:gd name="T23" fmla="*/ 0 h 90"/>
              <a:gd name="T24" fmla="*/ 317 w 680"/>
              <a:gd name="T25" fmla="*/ 90 h 90"/>
              <a:gd name="T26" fmla="*/ 363 w 680"/>
              <a:gd name="T27" fmla="*/ 90 h 90"/>
              <a:gd name="T28" fmla="*/ 363 w 680"/>
              <a:gd name="T29" fmla="*/ 0 h 90"/>
              <a:gd name="T30" fmla="*/ 408 w 680"/>
              <a:gd name="T31" fmla="*/ 0 h 90"/>
              <a:gd name="T32" fmla="*/ 408 w 680"/>
              <a:gd name="T33" fmla="*/ 90 h 90"/>
              <a:gd name="T34" fmla="*/ 499 w 680"/>
              <a:gd name="T35" fmla="*/ 90 h 90"/>
              <a:gd name="T36" fmla="*/ 499 w 680"/>
              <a:gd name="T37" fmla="*/ 0 h 90"/>
              <a:gd name="T38" fmla="*/ 544 w 680"/>
              <a:gd name="T39" fmla="*/ 0 h 90"/>
              <a:gd name="T40" fmla="*/ 544 w 680"/>
              <a:gd name="T41" fmla="*/ 90 h 90"/>
              <a:gd name="T42" fmla="*/ 589 w 680"/>
              <a:gd name="T43" fmla="*/ 90 h 90"/>
              <a:gd name="T44" fmla="*/ 589 w 680"/>
              <a:gd name="T45" fmla="*/ 0 h 90"/>
              <a:gd name="T46" fmla="*/ 635 w 680"/>
              <a:gd name="T47" fmla="*/ 0 h 90"/>
              <a:gd name="T48" fmla="*/ 635 w 680"/>
              <a:gd name="T49" fmla="*/ 90 h 90"/>
              <a:gd name="T50" fmla="*/ 680 w 680"/>
              <a:gd name="T51" fmla="*/ 90 h 9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680"/>
              <a:gd name="T79" fmla="*/ 0 h 90"/>
              <a:gd name="T80" fmla="*/ 680 w 680"/>
              <a:gd name="T81" fmla="*/ 90 h 90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680" h="90">
                <a:moveTo>
                  <a:pt x="0" y="90"/>
                </a:moveTo>
                <a:lnTo>
                  <a:pt x="45" y="90"/>
                </a:lnTo>
                <a:lnTo>
                  <a:pt x="45" y="0"/>
                </a:lnTo>
                <a:lnTo>
                  <a:pt x="91" y="0"/>
                </a:lnTo>
                <a:lnTo>
                  <a:pt x="91" y="90"/>
                </a:lnTo>
                <a:lnTo>
                  <a:pt x="136" y="90"/>
                </a:lnTo>
                <a:lnTo>
                  <a:pt x="136" y="0"/>
                </a:lnTo>
                <a:lnTo>
                  <a:pt x="181" y="0"/>
                </a:lnTo>
                <a:lnTo>
                  <a:pt x="181" y="90"/>
                </a:lnTo>
                <a:lnTo>
                  <a:pt x="227" y="90"/>
                </a:lnTo>
                <a:lnTo>
                  <a:pt x="227" y="0"/>
                </a:lnTo>
                <a:lnTo>
                  <a:pt x="317" y="0"/>
                </a:lnTo>
                <a:lnTo>
                  <a:pt x="317" y="90"/>
                </a:lnTo>
                <a:lnTo>
                  <a:pt x="363" y="90"/>
                </a:lnTo>
                <a:lnTo>
                  <a:pt x="363" y="0"/>
                </a:lnTo>
                <a:lnTo>
                  <a:pt x="408" y="0"/>
                </a:lnTo>
                <a:lnTo>
                  <a:pt x="408" y="90"/>
                </a:lnTo>
                <a:lnTo>
                  <a:pt x="499" y="90"/>
                </a:lnTo>
                <a:lnTo>
                  <a:pt x="499" y="0"/>
                </a:lnTo>
                <a:lnTo>
                  <a:pt x="544" y="0"/>
                </a:lnTo>
                <a:lnTo>
                  <a:pt x="544" y="90"/>
                </a:lnTo>
                <a:lnTo>
                  <a:pt x="589" y="90"/>
                </a:lnTo>
                <a:lnTo>
                  <a:pt x="589" y="0"/>
                </a:lnTo>
                <a:lnTo>
                  <a:pt x="635" y="0"/>
                </a:lnTo>
                <a:lnTo>
                  <a:pt x="635" y="90"/>
                </a:lnTo>
                <a:lnTo>
                  <a:pt x="680" y="90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四种时延产生的地方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0000" lnSpcReduction="20000"/>
          </a:bodyPr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>
              <a:lnSpc>
                <a:spcPts val="3733"/>
              </a:lnSpc>
            </a:pPr>
            <a:r>
              <a:rPr lang="zh-CN" altLang="en-US" sz="2400" dirty="0"/>
              <a:t>结点 </a:t>
            </a:r>
            <a:r>
              <a:rPr lang="en-US" altLang="zh-CN" sz="2400" dirty="0"/>
              <a:t>A </a:t>
            </a:r>
            <a:r>
              <a:rPr lang="zh-CN" altLang="en-US" sz="2400" dirty="0"/>
              <a:t>要将一个数据块通过 </a:t>
            </a:r>
            <a:r>
              <a:rPr lang="en-US" altLang="zh-CN" sz="2400" dirty="0"/>
              <a:t>1000 km </a:t>
            </a:r>
            <a:r>
              <a:rPr lang="zh-CN" altLang="en-US" sz="2400" dirty="0"/>
              <a:t>的光纤链路发送给结点 </a:t>
            </a:r>
            <a:r>
              <a:rPr lang="en-US" altLang="zh-CN" sz="2400" dirty="0"/>
              <a:t>B</a:t>
            </a:r>
            <a:r>
              <a:rPr lang="zh-CN" altLang="en-US" sz="2400" dirty="0"/>
              <a:t>。假设忽略处理时延和排队时延。请分别计算下列情况时的总时延，并验证“数据的发送速率越高，其传送的总时延就越小”的说法是否正确。</a:t>
            </a:r>
            <a:endParaRPr lang="en-US" altLang="zh-CN" sz="2400" dirty="0"/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1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100 MB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 Mbit/s </a:t>
            </a:r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2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100 MB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100 Mbit/s</a:t>
            </a:r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3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 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 Mbit/s </a:t>
            </a:r>
          </a:p>
          <a:p>
            <a:pPr lvl="1">
              <a:lnSpc>
                <a:spcPts val="3733"/>
              </a:lnSpc>
            </a:pPr>
            <a:r>
              <a:rPr lang="zh-CN" altLang="en-US" sz="2133" dirty="0"/>
              <a:t>（</a:t>
            </a:r>
            <a:r>
              <a:rPr lang="en-US" altLang="zh-CN" sz="2133" dirty="0"/>
              <a:t>4</a:t>
            </a:r>
            <a:r>
              <a:rPr lang="zh-CN" altLang="en-US" sz="2133" dirty="0"/>
              <a:t>）数据块大小为 </a:t>
            </a:r>
            <a:r>
              <a:rPr lang="en-US" altLang="zh-CN" sz="2133" dirty="0"/>
              <a:t>1 B</a:t>
            </a:r>
            <a:r>
              <a:rPr lang="zh-CN" altLang="en-US" sz="2133" dirty="0"/>
              <a:t>，信道带宽为 </a:t>
            </a:r>
            <a:r>
              <a:rPr lang="en-US" altLang="zh-CN" sz="2133" dirty="0"/>
              <a:t>1 </a:t>
            </a:r>
            <a:r>
              <a:rPr lang="en-US" altLang="zh-CN" sz="2133" dirty="0" err="1"/>
              <a:t>Gbit</a:t>
            </a:r>
            <a:r>
              <a:rPr lang="en-US" altLang="zh-CN" sz="2133" dirty="0"/>
              <a:t>/s</a:t>
            </a:r>
          </a:p>
          <a:p>
            <a:pPr>
              <a:lnSpc>
                <a:spcPts val="3733"/>
              </a:lnSpc>
            </a:pPr>
            <a:endParaRPr lang="zh-CN" altLang="en-US" sz="24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923036" y="1449463"/>
            <a:ext cx="6269234" cy="1163668"/>
            <a:chOff x="2163416" y="1246399"/>
            <a:chExt cx="4701925" cy="872751"/>
          </a:xfrm>
        </p:grpSpPr>
        <p:sp>
          <p:nvSpPr>
            <p:cNvPr id="4" name="椭圆 3"/>
            <p:cNvSpPr/>
            <p:nvPr/>
          </p:nvSpPr>
          <p:spPr>
            <a:xfrm>
              <a:off x="2360014" y="1375948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" name="椭圆 4"/>
            <p:cNvSpPr/>
            <p:nvPr/>
          </p:nvSpPr>
          <p:spPr>
            <a:xfrm>
              <a:off x="6287580" y="1375948"/>
              <a:ext cx="418008" cy="418009"/>
            </a:xfrm>
            <a:prstGeom prst="ellipse">
              <a:avLst/>
            </a:prstGeom>
            <a:solidFill>
              <a:srgbClr val="9933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7" name="直接连接符 6"/>
            <p:cNvCxnSpPr>
              <a:stCxn id="4" idx="6"/>
              <a:endCxn id="5" idx="2"/>
            </p:cNvCxnSpPr>
            <p:nvPr/>
          </p:nvCxnSpPr>
          <p:spPr>
            <a:xfrm>
              <a:off x="2778022" y="1584953"/>
              <a:ext cx="350955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618544" y="1246399"/>
              <a:ext cx="1913023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光纤链路 </a:t>
              </a:r>
              <a:r>
                <a:rPr lang="en-US" altLang="zh-CN" sz="2133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 km</a:t>
              </a:r>
              <a:endParaRPr lang="zh-CN" altLang="en-US" sz="2133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37"/>
            <p:cNvSpPr txBox="1">
              <a:spLocks noChangeArrowheads="1"/>
            </p:cNvSpPr>
            <p:nvPr/>
          </p:nvSpPr>
          <p:spPr bwMode="auto">
            <a:xfrm>
              <a:off x="6113693" y="1803727"/>
              <a:ext cx="751648" cy="3154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结点 </a:t>
              </a:r>
              <a:r>
                <a:rPr kumimoji="1" lang="en-US" altLang="zh-CN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B</a:t>
              </a:r>
            </a:p>
          </p:txBody>
        </p:sp>
        <p:sp>
          <p:nvSpPr>
            <p:cNvPr id="12" name="Text Box 38"/>
            <p:cNvSpPr txBox="1">
              <a:spLocks noChangeArrowheads="1"/>
            </p:cNvSpPr>
            <p:nvPr/>
          </p:nvSpPr>
          <p:spPr bwMode="auto">
            <a:xfrm>
              <a:off x="2163416" y="1803727"/>
              <a:ext cx="764873" cy="3154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kumimoji="1" lang="zh-CN" altLang="en-US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结点 </a:t>
              </a:r>
              <a:r>
                <a:rPr kumimoji="1" lang="en-US" altLang="zh-CN" sz="2133" b="1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927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ts val="3467"/>
              </a:lnSpc>
            </a:pPr>
            <a:r>
              <a:rPr lang="zh-CN" altLang="en-US" sz="2400" dirty="0"/>
              <a:t>解：</a:t>
            </a:r>
            <a:endParaRPr lang="en-US" altLang="zh-CN" sz="2400" dirty="0"/>
          </a:p>
          <a:p>
            <a:pPr marL="0" lvl="1" indent="0">
              <a:lnSpc>
                <a:spcPts val="3467"/>
              </a:lnSpc>
              <a:buClr>
                <a:srgbClr val="0066CC"/>
              </a:buClr>
              <a:buNone/>
            </a:pPr>
            <a:r>
              <a:rPr lang="zh-CN" altLang="en-US" sz="2267" dirty="0"/>
              <a:t>     </a:t>
            </a:r>
            <a:r>
              <a:rPr lang="zh-CN" altLang="en-US" sz="2267" dirty="0">
                <a:solidFill>
                  <a:srgbClr val="0000FF"/>
                </a:solidFill>
              </a:rPr>
              <a:t>传播时延 </a:t>
            </a:r>
            <a:r>
              <a:rPr lang="en-US" altLang="zh-CN" sz="2267" dirty="0"/>
              <a:t>= 1000 km / 2.0 </a:t>
            </a:r>
            <a:r>
              <a:rPr lang="zh-CN" altLang="en-US" sz="2267" dirty="0"/>
              <a:t>ⅹ </a:t>
            </a:r>
            <a:r>
              <a:rPr lang="en-US" altLang="zh-CN" sz="2267" dirty="0"/>
              <a:t>10</a:t>
            </a:r>
            <a:r>
              <a:rPr lang="en-US" altLang="zh-CN" sz="2267" baseline="30000" dirty="0"/>
              <a:t>5</a:t>
            </a:r>
            <a:r>
              <a:rPr lang="en-US" altLang="zh-CN" sz="2267" dirty="0"/>
              <a:t> km/s =</a:t>
            </a:r>
            <a:r>
              <a:rPr lang="zh-CN" altLang="en-US" sz="2267" dirty="0"/>
              <a:t> </a:t>
            </a:r>
            <a:r>
              <a:rPr lang="en-US" altLang="zh-CN" sz="2267" dirty="0"/>
              <a:t>5 </a:t>
            </a:r>
            <a:r>
              <a:rPr lang="en-US" altLang="zh-CN" sz="2267" dirty="0" err="1"/>
              <a:t>ms</a:t>
            </a:r>
            <a:r>
              <a:rPr lang="zh-CN" altLang="en-US" sz="2267" dirty="0"/>
              <a:t>。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1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100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2</a:t>
            </a:r>
            <a:r>
              <a:rPr lang="en-US" altLang="zh-CN" sz="2267" baseline="30000" dirty="0"/>
              <a:t>20</a:t>
            </a:r>
            <a:r>
              <a:rPr lang="en-US" altLang="zh-CN" sz="2267" dirty="0"/>
              <a:t>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6</a:t>
            </a:r>
            <a:r>
              <a:rPr lang="en-US" altLang="zh-CN" sz="2267" dirty="0"/>
              <a:t> = 838.9 s</a:t>
            </a:r>
            <a:r>
              <a:rPr lang="zh-CN" altLang="en-US" sz="2267" dirty="0"/>
              <a:t>，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/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838.9 + 0.005 ≈ 838.9 s</a:t>
            </a:r>
            <a:r>
              <a:rPr lang="zh-CN" altLang="en-US" sz="2267" dirty="0"/>
              <a:t>。</a:t>
            </a:r>
            <a:endParaRPr lang="zh-CN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2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100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2</a:t>
            </a:r>
            <a:r>
              <a:rPr lang="en-US" altLang="zh-CN" sz="2267" baseline="30000" dirty="0"/>
              <a:t>20</a:t>
            </a:r>
            <a:r>
              <a:rPr lang="en-US" altLang="zh-CN" sz="2267" dirty="0"/>
              <a:t>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8</a:t>
            </a:r>
            <a:r>
              <a:rPr lang="en-US" altLang="zh-CN" sz="2267" dirty="0"/>
              <a:t> = 8.389 s</a:t>
            </a:r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/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8.389 + 0.005</a:t>
            </a:r>
            <a:r>
              <a:rPr lang="zh-CN" altLang="en-US" sz="2267" dirty="0"/>
              <a:t> </a:t>
            </a:r>
            <a:r>
              <a:rPr lang="en-US" altLang="zh-CN" sz="2267" dirty="0"/>
              <a:t>= 8.394 s</a:t>
            </a:r>
            <a:r>
              <a:rPr lang="zh-CN" altLang="en-US" sz="2267" dirty="0"/>
              <a:t>。</a:t>
            </a:r>
            <a:endParaRPr lang="en-US" altLang="zh-CN" sz="2267" dirty="0">
              <a:solidFill>
                <a:srgbClr val="0000FF"/>
              </a:solidFill>
            </a:endParaRPr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3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6</a:t>
            </a:r>
            <a:r>
              <a:rPr lang="en-US" altLang="zh-CN" sz="2267" dirty="0"/>
              <a:t> = 8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–6 </a:t>
            </a:r>
            <a:r>
              <a:rPr lang="en-US" altLang="zh-CN" sz="2267" dirty="0"/>
              <a:t>s = 8 </a:t>
            </a:r>
            <a:r>
              <a:rPr lang="en-US" altLang="zh-CN" sz="2267" dirty="0">
                <a:sym typeface="Symbol" panose="05050102010706020507" pitchFamily="18" charset="2"/>
              </a:rPr>
              <a:t></a:t>
            </a:r>
            <a:r>
              <a:rPr lang="en-US" altLang="zh-CN" sz="2267" dirty="0"/>
              <a:t>s, </a:t>
            </a:r>
            <a:r>
              <a:rPr lang="zh-CN" altLang="en-US" sz="2267" dirty="0"/>
              <a:t> 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>
                <a:solidFill>
                  <a:srgbClr val="C00000"/>
                </a:solidFill>
              </a:rPr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0.008 + 5 = 5.008 </a:t>
            </a:r>
            <a:r>
              <a:rPr lang="en-US" altLang="zh-CN" sz="2267" dirty="0" err="1"/>
              <a:t>ms</a:t>
            </a:r>
            <a:r>
              <a:rPr lang="zh-CN" altLang="en-US" sz="2267" dirty="0"/>
              <a:t>。</a:t>
            </a:r>
            <a:endParaRPr lang="en-US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zh-CN" altLang="en-US" sz="2267" dirty="0"/>
              <a:t>（</a:t>
            </a:r>
            <a:r>
              <a:rPr lang="en-US" altLang="zh-CN" sz="2267" dirty="0"/>
              <a:t>4</a:t>
            </a:r>
            <a:r>
              <a:rPr lang="zh-CN" altLang="en-US" sz="2267" dirty="0"/>
              <a:t>）</a:t>
            </a:r>
            <a:r>
              <a:rPr lang="zh-CN" altLang="zh-CN" sz="2267" dirty="0"/>
              <a:t>发送时延</a:t>
            </a:r>
            <a:r>
              <a:rPr lang="en-US" altLang="zh-CN" sz="2267" dirty="0"/>
              <a:t> = 1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8 </a:t>
            </a:r>
            <a:r>
              <a:rPr lang="en-US" altLang="zh-CN" sz="2267" dirty="0">
                <a:sym typeface="Symbol" panose="05050102010706020507" pitchFamily="18" charset="2"/>
              </a:rPr>
              <a:t>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9</a:t>
            </a:r>
            <a:r>
              <a:rPr lang="en-US" altLang="zh-CN" sz="2267" dirty="0"/>
              <a:t> = 8 </a:t>
            </a:r>
            <a:r>
              <a:rPr lang="en-US" altLang="zh-CN" sz="2267" dirty="0">
                <a:sym typeface="Symbol" panose="05050102010706020507" pitchFamily="18" charset="2"/>
              </a:rPr>
              <a:t></a:t>
            </a:r>
            <a:r>
              <a:rPr lang="en-US" altLang="zh-CN" sz="2267" dirty="0"/>
              <a:t> 10</a:t>
            </a:r>
            <a:r>
              <a:rPr lang="en-US" altLang="zh-CN" sz="2267" baseline="30000" dirty="0"/>
              <a:t>–9 </a:t>
            </a:r>
            <a:r>
              <a:rPr lang="en-US" altLang="zh-CN" sz="2267" dirty="0"/>
              <a:t>s = 0.008 </a:t>
            </a:r>
            <a:r>
              <a:rPr lang="en-US" altLang="zh-CN" sz="2267" dirty="0">
                <a:sym typeface="Symbol" panose="05050102010706020507" pitchFamily="18" charset="2"/>
              </a:rPr>
              <a:t></a:t>
            </a:r>
            <a:r>
              <a:rPr lang="en-US" altLang="zh-CN" sz="2267" dirty="0"/>
              <a:t>s</a:t>
            </a:r>
            <a:endParaRPr lang="zh-CN" altLang="zh-CN" sz="2267" dirty="0"/>
          </a:p>
          <a:p>
            <a:pPr marL="0" indent="0">
              <a:lnSpc>
                <a:spcPts val="3467"/>
              </a:lnSpc>
              <a:buNone/>
            </a:pPr>
            <a:r>
              <a:rPr lang="en-US" altLang="zh-CN" sz="2267" dirty="0">
                <a:solidFill>
                  <a:srgbClr val="C00000"/>
                </a:solidFill>
              </a:rPr>
              <a:t>        </a:t>
            </a:r>
            <a:r>
              <a:rPr lang="zh-CN" altLang="en-US" sz="2267" dirty="0">
                <a:solidFill>
                  <a:srgbClr val="C00000"/>
                </a:solidFill>
              </a:rPr>
              <a:t>总时延 </a:t>
            </a:r>
            <a:r>
              <a:rPr lang="en-US" altLang="zh-CN" sz="2267" dirty="0"/>
              <a:t>= 0.000008 + 5 = 5.000008 </a:t>
            </a:r>
            <a:r>
              <a:rPr lang="en-US" altLang="zh-CN" sz="2267" dirty="0" err="1"/>
              <a:t>ms</a:t>
            </a:r>
            <a:r>
              <a:rPr lang="zh-CN" altLang="en-US" sz="2267" dirty="0"/>
              <a:t>。</a:t>
            </a:r>
            <a:endParaRPr lang="zh-CN" altLang="en-US" sz="2267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54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1980</Words>
  <Application>Microsoft Office PowerPoint</Application>
  <PresentationFormat>宽屏</PresentationFormat>
  <Paragraphs>272</Paragraphs>
  <Slides>32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Wingdings</vt:lpstr>
      <vt:lpstr>微软雅黑</vt:lpstr>
      <vt:lpstr>Office Theme</vt:lpstr>
      <vt:lpstr> Hyperledger-Fabric  Open source, led by IBM and Linux foundation  Supply chain management </vt:lpstr>
      <vt:lpstr>Permissioned blockchain</vt:lpstr>
      <vt:lpstr>Why need a permissioned blockchain</vt:lpstr>
      <vt:lpstr>This lecture: Hyperledger Fabric</vt:lpstr>
      <vt:lpstr>Order-Execute</vt:lpstr>
      <vt:lpstr>Order-execute: Bitcoin</vt:lpstr>
      <vt:lpstr>Limitations of Order-execute (as discussed in paper)</vt:lpstr>
      <vt:lpstr>Hyperledger: Execute-Order-validate</vt:lpstr>
      <vt:lpstr>Chaincode and Endorsements</vt:lpstr>
      <vt:lpstr>State management</vt:lpstr>
      <vt:lpstr>Execution-Phase</vt:lpstr>
      <vt:lpstr>Ordering Service</vt:lpstr>
      <vt:lpstr>Validation</vt:lpstr>
      <vt:lpstr>Endorsement policy evaluation</vt:lpstr>
      <vt:lpstr>State update</vt:lpstr>
      <vt:lpstr>Concurrent execution</vt:lpstr>
      <vt:lpstr>Confidentiality</vt:lpstr>
      <vt:lpstr>Deterministic execution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Hyperledger-Fabric</dc:title>
  <dc:creator>Rana, Ranvir B</dc:creator>
  <cp:lastModifiedBy>Canhui Wang</cp:lastModifiedBy>
  <cp:revision>32</cp:revision>
  <dcterms:created xsi:type="dcterms:W3CDTF">2020-04-13T16:22:29Z</dcterms:created>
  <dcterms:modified xsi:type="dcterms:W3CDTF">2026-04-28T13:30:50Z</dcterms:modified>
</cp:coreProperties>
</file>