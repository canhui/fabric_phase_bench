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330" r:id="rId2"/>
    <p:sldId id="1138" r:id="rId3"/>
    <p:sldId id="454" r:id="rId4"/>
    <p:sldId id="1139" r:id="rId5"/>
    <p:sldId id="1140" r:id="rId6"/>
    <p:sldId id="1141" r:id="rId7"/>
    <p:sldId id="1142" r:id="rId8"/>
    <p:sldId id="1143" r:id="rId9"/>
    <p:sldId id="1145" r:id="rId10"/>
    <p:sldId id="1146" r:id="rId11"/>
    <p:sldId id="1068" r:id="rId12"/>
    <p:sldId id="1065" r:id="rId13"/>
    <p:sldId id="1085" r:id="rId14"/>
    <p:sldId id="1066" r:id="rId15"/>
    <p:sldId id="1087" r:id="rId16"/>
    <p:sldId id="1088" r:id="rId17"/>
    <p:sldId id="1089" r:id="rId18"/>
    <p:sldId id="1090" r:id="rId19"/>
    <p:sldId id="1091" r:id="rId20"/>
    <p:sldId id="1092" r:id="rId21"/>
    <p:sldId id="1094" r:id="rId22"/>
    <p:sldId id="1095" r:id="rId23"/>
    <p:sldId id="1097" r:id="rId24"/>
    <p:sldId id="1099" r:id="rId25"/>
    <p:sldId id="1100" r:id="rId26"/>
    <p:sldId id="1101" r:id="rId27"/>
    <p:sldId id="1102" r:id="rId28"/>
    <p:sldId id="1103" r:id="rId29"/>
    <p:sldId id="1105" r:id="rId30"/>
    <p:sldId id="1107" r:id="rId31"/>
    <p:sldId id="1106" r:id="rId32"/>
    <p:sldId id="1110" r:id="rId33"/>
    <p:sldId id="1111" r:id="rId34"/>
    <p:sldId id="1112" r:id="rId35"/>
    <p:sldId id="1108" r:id="rId36"/>
    <p:sldId id="1109" r:id="rId37"/>
    <p:sldId id="1116" r:id="rId38"/>
    <p:sldId id="1117" r:id="rId39"/>
    <p:sldId id="1118" r:id="rId40"/>
    <p:sldId id="1119" r:id="rId41"/>
    <p:sldId id="1120" r:id="rId42"/>
    <p:sldId id="1121" r:id="rId43"/>
    <p:sldId id="1122" r:id="rId44"/>
    <p:sldId id="1123" r:id="rId45"/>
    <p:sldId id="1124" r:id="rId46"/>
    <p:sldId id="1125" r:id="rId47"/>
    <p:sldId id="1126" r:id="rId48"/>
    <p:sldId id="1127" r:id="rId49"/>
    <p:sldId id="1128" r:id="rId50"/>
    <p:sldId id="1129" r:id="rId51"/>
    <p:sldId id="1131" r:id="rId52"/>
    <p:sldId id="1133" r:id="rId53"/>
    <p:sldId id="1134" r:id="rId54"/>
    <p:sldId id="1135" r:id="rId55"/>
    <p:sldId id="1136" r:id="rId56"/>
    <p:sldId id="1137" r:id="rId57"/>
    <p:sldId id="1083" r:id="rId58"/>
  </p:sldIdLst>
  <p:sldSz cx="9144000" cy="5143500" type="screen16x9"/>
  <p:notesSz cx="6858000" cy="9144000"/>
  <p:custDataLst>
    <p:tags r:id="rId6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9" userDrawn="1">
          <p15:clr>
            <a:srgbClr val="A4A3A4"/>
          </p15:clr>
        </p15:guide>
        <p15:guide id="2" pos="288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nhui Wang" initials="CW" lastIdx="2" clrIdx="0">
    <p:extLst>
      <p:ext uri="{19B8F6BF-5375-455C-9EA6-DF929625EA0E}">
        <p15:presenceInfo xmlns:p15="http://schemas.microsoft.com/office/powerpoint/2012/main" userId="0327246e59f940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A96"/>
    <a:srgbClr val="FFC5C5"/>
    <a:srgbClr val="FF3F3F"/>
    <a:srgbClr val="FF0000"/>
    <a:srgbClr val="FF3300"/>
    <a:srgbClr val="FFFFFF"/>
    <a:srgbClr val="1D4E89"/>
    <a:srgbClr val="013B6D"/>
    <a:srgbClr val="EEF2F5"/>
    <a:srgbClr val="F6F6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95" autoAdjust="0"/>
    <p:restoredTop sz="83392" autoAdjust="0"/>
  </p:normalViewPr>
  <p:slideViewPr>
    <p:cSldViewPr snapToGrid="0" showGuides="1">
      <p:cViewPr varScale="1">
        <p:scale>
          <a:sx n="120" d="100"/>
          <a:sy n="120" d="100"/>
        </p:scale>
        <p:origin x="1434" y="84"/>
      </p:cViewPr>
      <p:guideLst>
        <p:guide orient="horz" pos="1609"/>
        <p:guide pos="2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301940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598170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3695350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matplotlib.pyplot</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plt</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(mod):</a:t>
            </a: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(x**</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mod</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x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 mod):</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libnum.has_sqrtmod_prime_power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libnum.sqrtmod_prime_power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we might have two solutions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ys.append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xs.append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fig, (ax1) = </a:t>
            </a:r>
            <a:r>
              <a:rPr lang="en-US" altLang="zh-CN" sz="1800" dirty="0" err="1">
                <a:solidFill>
                  <a:srgbClr val="000000"/>
                </a:solidFill>
                <a:effectLst/>
                <a:latin typeface="Consolas" panose="020B0609020204030204" pitchFamily="49" charset="0"/>
              </a:rPr>
              <a:t>plt.subplots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fig.suptitle</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'y^2 = x^3 + 3 (</a:t>
            </a:r>
            <a:r>
              <a:rPr lang="en-US" altLang="zh-CN" sz="1800" i="1" u="sng" dirty="0">
                <a:solidFill>
                  <a:srgbClr val="00AA00"/>
                </a:solidFill>
                <a:effectLst/>
                <a:latin typeface="Consolas" panose="020B0609020204030204" pitchFamily="49" charset="0"/>
              </a:rPr>
              <a:t>mod</a:t>
            </a:r>
            <a:r>
              <a:rPr lang="en-US" altLang="zh-CN" sz="1800" i="1" dirty="0">
                <a:solidFill>
                  <a:srgbClr val="00AA00"/>
                </a:solidFill>
                <a:effectLst/>
                <a:latin typeface="Consolas" panose="020B0609020204030204" pitchFamily="49" charset="0"/>
              </a:rPr>
              <a:t> 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fig.set_size_inches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ax1.set_xticks(range(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ax1.set_yticks(range(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plt.grid</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plt.scatter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plt.plot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plt.show</a:t>
            </a:r>
            <a:r>
              <a:rPr lang="en-US" altLang="zh-CN" sz="1800" dirty="0">
                <a:solidFill>
                  <a:srgbClr val="000000"/>
                </a:solidFill>
                <a:effectLst/>
                <a:latin typeface="Consolas" panose="020B0609020204030204" pitchFamily="49" charset="0"/>
              </a:rPr>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48</a:t>
            </a:fld>
            <a:endParaRPr lang="zh-CN" altLang="en-US"/>
          </a:p>
        </p:txBody>
      </p:sp>
    </p:spTree>
    <p:extLst>
      <p:ext uri="{BB962C8B-B14F-4D97-AF65-F5344CB8AC3E}">
        <p14:creationId xmlns:p14="http://schemas.microsoft.com/office/powerpoint/2010/main" val="1299965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52</a:t>
            </a:fld>
            <a:endParaRPr lang="zh-CN" altLang="en-US"/>
          </a:p>
        </p:txBody>
      </p:sp>
    </p:spTree>
    <p:extLst>
      <p:ext uri="{BB962C8B-B14F-4D97-AF65-F5344CB8AC3E}">
        <p14:creationId xmlns:p14="http://schemas.microsoft.com/office/powerpoint/2010/main" val="1525378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53</a:t>
            </a:fld>
            <a:endParaRPr lang="zh-CN" altLang="en-US"/>
          </a:p>
        </p:txBody>
      </p:sp>
    </p:spTree>
    <p:extLst>
      <p:ext uri="{BB962C8B-B14F-4D97-AF65-F5344CB8AC3E}">
        <p14:creationId xmlns:p14="http://schemas.microsoft.com/office/powerpoint/2010/main" val="1165256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54</a:t>
            </a:fld>
            <a:endParaRPr lang="zh-CN" altLang="en-US"/>
          </a:p>
        </p:txBody>
      </p:sp>
    </p:spTree>
    <p:extLst>
      <p:ext uri="{BB962C8B-B14F-4D97-AF65-F5344CB8AC3E}">
        <p14:creationId xmlns:p14="http://schemas.microsoft.com/office/powerpoint/2010/main" val="2230383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55</a:t>
            </a:fld>
            <a:endParaRPr lang="zh-CN" altLang="en-US"/>
          </a:p>
        </p:txBody>
      </p:sp>
    </p:spTree>
    <p:extLst>
      <p:ext uri="{BB962C8B-B14F-4D97-AF65-F5344CB8AC3E}">
        <p14:creationId xmlns:p14="http://schemas.microsoft.com/office/powerpoint/2010/main" val="1821264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56</a:t>
            </a:fld>
            <a:endParaRPr lang="zh-CN" altLang="en-US"/>
          </a:p>
        </p:txBody>
      </p:sp>
    </p:spTree>
    <p:extLst>
      <p:ext uri="{BB962C8B-B14F-4D97-AF65-F5344CB8AC3E}">
        <p14:creationId xmlns:p14="http://schemas.microsoft.com/office/powerpoint/2010/main" val="98148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BB0BF97-9FE3-4597-AC51-C65A1915AFD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3305F4D-846D-4906-B4CB-51D76D91958B}"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2026/4/27</a:t>
            </a:fld>
            <a:endParaRPr lang="zh-CN" altLang="en-US" dirty="0"/>
          </a:p>
        </p:txBody>
      </p:sp>
      <p:sp>
        <p:nvSpPr>
          <p:cNvPr id="3" name="Footer Placeholder 4">
            <a:extLst>
              <a:ext uri="{FF2B5EF4-FFF2-40B4-BE49-F238E27FC236}">
                <a16:creationId xmlns:a16="http://schemas.microsoft.com/office/drawing/2014/main" id="{C4B32133-725C-4CDB-A599-08805ED905E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4" name="Slide Number Placeholder 5">
            <a:extLst>
              <a:ext uri="{FF2B5EF4-FFF2-40B4-BE49-F238E27FC236}">
                <a16:creationId xmlns:a16="http://schemas.microsoft.com/office/drawing/2014/main" id="{F9CAA301-A97F-4465-91EF-7EE0FB5582E0}"/>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3">
            <a:extLst>
              <a:ext uri="{FF2B5EF4-FFF2-40B4-BE49-F238E27FC236}">
                <a16:creationId xmlns:a16="http://schemas.microsoft.com/office/drawing/2014/main" id="{F0E70BA5-C075-47B0-9E96-8C4BB2756F7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8A0D9A4-5022-4B99-99A1-5D51B6AD7F7A}"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2026/4/27</a:t>
            </a:fld>
            <a:endParaRPr lang="zh-CN" altLang="en-US" dirty="0"/>
          </a:p>
        </p:txBody>
      </p:sp>
      <p:sp>
        <p:nvSpPr>
          <p:cNvPr id="5" name="Footer Placeholder 4">
            <a:extLst>
              <a:ext uri="{FF2B5EF4-FFF2-40B4-BE49-F238E27FC236}">
                <a16:creationId xmlns:a16="http://schemas.microsoft.com/office/drawing/2014/main" id="{144D5350-E2F1-45CA-A1E0-A048D2918F6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a:extLst>
              <a:ext uri="{FF2B5EF4-FFF2-40B4-BE49-F238E27FC236}">
                <a16:creationId xmlns:a16="http://schemas.microsoft.com/office/drawing/2014/main" id="{63D69EA7-A868-4421-B310-BA26FC6AAD4E}"/>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icture Placeholder 7"/>
          <p:cNvSpPr>
            <a:spLocks noGrp="1"/>
          </p:cNvSpPr>
          <p:nvPr>
            <p:ph type="pic" sz="quarter" idx="16"/>
          </p:nvPr>
        </p:nvSpPr>
        <p:spPr>
          <a:xfrm>
            <a:off x="280555" y="1023974"/>
            <a:ext cx="8638309" cy="188710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Date Placeholder 3">
            <a:extLst>
              <a:ext uri="{FF2B5EF4-FFF2-40B4-BE49-F238E27FC236}">
                <a16:creationId xmlns:a16="http://schemas.microsoft.com/office/drawing/2014/main" id="{1B7F4C54-B500-43BB-A3D7-59B9660D6E7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4DA1C0C-F063-40E8-84C1-43F7B17829DE}"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2026/4/27</a:t>
            </a:fld>
            <a:endParaRPr lang="zh-CN" altLang="en-US" dirty="0"/>
          </a:p>
        </p:txBody>
      </p:sp>
      <p:sp>
        <p:nvSpPr>
          <p:cNvPr id="6" name="Footer Placeholder 4">
            <a:extLst>
              <a:ext uri="{FF2B5EF4-FFF2-40B4-BE49-F238E27FC236}">
                <a16:creationId xmlns:a16="http://schemas.microsoft.com/office/drawing/2014/main" id="{36655510-19BF-488F-8224-6CDB006484D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7" name="Slide Number Placeholder 5">
            <a:extLst>
              <a:ext uri="{FF2B5EF4-FFF2-40B4-BE49-F238E27FC236}">
                <a16:creationId xmlns:a16="http://schemas.microsoft.com/office/drawing/2014/main" id="{21A52DB9-B461-4E23-8803-0D3241BECA6B}"/>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6087F590-C63B-442B-BCF6-23EC57133B3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31B8C6B-9C1E-4011-877C-92C57B3A2027}"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2026/4/27</a:t>
            </a:fld>
            <a:endParaRPr lang="zh-CN" altLang="en-US" dirty="0"/>
          </a:p>
        </p:txBody>
      </p:sp>
      <p:sp>
        <p:nvSpPr>
          <p:cNvPr id="8" name="Footer Placeholder 4">
            <a:extLst>
              <a:ext uri="{FF2B5EF4-FFF2-40B4-BE49-F238E27FC236}">
                <a16:creationId xmlns:a16="http://schemas.microsoft.com/office/drawing/2014/main" id="{F7F3970F-CB22-4181-804F-ADC5D1984A31}"/>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9" name="Slide Number Placeholder 5">
            <a:extLst>
              <a:ext uri="{FF2B5EF4-FFF2-40B4-BE49-F238E27FC236}">
                <a16:creationId xmlns:a16="http://schemas.microsoft.com/office/drawing/2014/main" id="{B97E6335-7C8D-4A10-815B-3B8EA944AB5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49FB1BC-566C-41B6-9AE0-896B7D840693}"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2026/4/27</a:t>
            </a:fld>
            <a:endParaRPr lang="zh-CN" alt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3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3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2.png"/><Relationship Id="rId5" Type="http://schemas.openxmlformats.org/officeDocument/2006/relationships/image" Target="../media/image31.emf"/><Relationship Id="rId4" Type="http://schemas.openxmlformats.org/officeDocument/2006/relationships/oleObject" Target="../embeddings/oleObject1.bin"/></Relationships>
</file>

<file path=ppt/slides/_rels/slide4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80.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80.png"/><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40.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矩形 20"/>
          <p:cNvSpPr/>
          <p:nvPr/>
        </p:nvSpPr>
        <p:spPr bwMode="auto">
          <a:xfrm>
            <a:off x="3536016" y="1040755"/>
            <a:ext cx="5280758" cy="954107"/>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现代密码学</a:t>
            </a: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第十一章第一节</a:t>
            </a:r>
            <a:endPar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区块链的基本原理及应用</a:t>
            </a:r>
          </a:p>
        </p:txBody>
      </p:sp>
      <p:cxnSp>
        <p:nvCxnSpPr>
          <p:cNvPr id="28" name="直接连接符 27"/>
          <p:cNvCxnSpPr>
            <a:cxnSpLocks/>
          </p:cNvCxnSpPr>
          <p:nvPr/>
        </p:nvCxnSpPr>
        <p:spPr>
          <a:xfrm>
            <a:off x="3092450" y="2122560"/>
            <a:ext cx="572432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4955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TextBox 6"/>
          <p:cNvSpPr txBox="1"/>
          <p:nvPr/>
        </p:nvSpPr>
        <p:spPr>
          <a:xfrm>
            <a:off x="4176431" y="2571750"/>
            <a:ext cx="3430597" cy="1210307"/>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主讲人：王灿辉</a:t>
            </a:r>
            <a:endParaRPr lang="en-US" altLang="zh-CN" sz="1600" b="1" dirty="0">
              <a:solidFill>
                <a:schemeClr val="accent1"/>
              </a:solidFill>
              <a:latin typeface="楷体" panose="02010609060101010101" pitchFamily="49" charset="-122"/>
              <a:ea typeface="楷体" panose="02010609060101010101" pitchFamily="49" charset="-122"/>
            </a:endParaRP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邮箱：</a:t>
            </a:r>
            <a:r>
              <a:rPr lang="en-US" altLang="zh-CN" sz="1600" b="1" dirty="0">
                <a:solidFill>
                  <a:schemeClr val="accent1"/>
                </a:solidFill>
                <a:latin typeface="Times New Roman" panose="02020603050405020304" pitchFamily="18" charset="0"/>
                <a:ea typeface="楷体" panose="02010609060101010101" pitchFamily="49" charset="-122"/>
                <a:cs typeface="Times New Roman" panose="02020603050405020304" pitchFamily="18" charset="0"/>
              </a:rPr>
              <a:t>chwang@hqu.edu.cn</a:t>
            </a: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日期：</a:t>
            </a:r>
            <a:r>
              <a:rPr lang="en-US" altLang="zh-CN" sz="1600" b="1" dirty="0">
                <a:solidFill>
                  <a:schemeClr val="accent1"/>
                </a:solidFill>
                <a:latin typeface="楷体" panose="02010609060101010101" pitchFamily="49" charset="-122"/>
                <a:ea typeface="楷体" panose="02010609060101010101" pitchFamily="49" charset="-122"/>
              </a:rPr>
              <a:t>2026</a:t>
            </a:r>
            <a:r>
              <a:rPr lang="zh-CN" altLang="en-US" sz="1600" b="1" dirty="0">
                <a:solidFill>
                  <a:schemeClr val="accent1"/>
                </a:solidFill>
                <a:latin typeface="楷体" panose="02010609060101010101" pitchFamily="49" charset="-122"/>
                <a:ea typeface="楷体" panose="02010609060101010101" pitchFamily="49" charset="-122"/>
              </a:rPr>
              <a:t>年</a:t>
            </a:r>
            <a:r>
              <a:rPr lang="en-US" altLang="zh-CN" sz="1600" b="1" dirty="0">
                <a:solidFill>
                  <a:schemeClr val="accent1"/>
                </a:solidFill>
                <a:latin typeface="楷体" panose="02010609060101010101" pitchFamily="49" charset="-122"/>
                <a:ea typeface="楷体" panose="02010609060101010101" pitchFamily="49" charset="-122"/>
              </a:rPr>
              <a:t>4</a:t>
            </a:r>
            <a:r>
              <a:rPr lang="zh-CN" altLang="en-US" sz="1600" b="1" dirty="0">
                <a:solidFill>
                  <a:schemeClr val="accent1"/>
                </a:solidFill>
                <a:latin typeface="楷体" panose="02010609060101010101" pitchFamily="49" charset="-122"/>
                <a:ea typeface="楷体" panose="02010609060101010101" pitchFamily="49" charset="-122"/>
              </a:rPr>
              <a:t>月</a:t>
            </a:r>
            <a:r>
              <a:rPr lang="en-US" altLang="zh-CN" sz="1600" b="1" dirty="0">
                <a:solidFill>
                  <a:schemeClr val="accent1"/>
                </a:solidFill>
                <a:latin typeface="楷体" panose="02010609060101010101" pitchFamily="49" charset="-122"/>
                <a:ea typeface="楷体" panose="02010609060101010101" pitchFamily="49" charset="-122"/>
              </a:rPr>
              <a:t>28</a:t>
            </a:r>
            <a:r>
              <a:rPr lang="zh-CN" altLang="en-US" sz="1600" b="1" dirty="0">
                <a:solidFill>
                  <a:schemeClr val="accent1"/>
                </a:solidFill>
                <a:latin typeface="楷体" panose="02010609060101010101" pitchFamily="49" charset="-122"/>
                <a:ea typeface="楷体" panose="02010609060101010101" pitchFamily="49" charset="-122"/>
              </a:rPr>
              <a:t>日</a:t>
            </a:r>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E60B9881-53B3-4B0D-8D9A-99038AAC2A22}"/>
              </a:ext>
            </a:extLst>
          </p:cNvPr>
          <p:cNvSpPr txBox="1"/>
          <p:nvPr/>
        </p:nvSpPr>
        <p:spPr>
          <a:xfrm>
            <a:off x="6045200" y="123707"/>
            <a:ext cx="3098800" cy="319255"/>
          </a:xfrm>
          <a:prstGeom prst="rect">
            <a:avLst/>
          </a:prstGeom>
          <a:noFill/>
        </p:spPr>
        <p:txBody>
          <a:bodyPr wrap="square">
            <a:spAutoFit/>
          </a:bodyPr>
          <a:lstStyle/>
          <a:p>
            <a:pPr algn="ctr">
              <a:lnSpc>
                <a:spcPct val="160000"/>
              </a:lnSpc>
            </a:pPr>
            <a:r>
              <a:rPr lang="zh-CN" altLang="en-US" sz="1100" b="1" dirty="0">
                <a:solidFill>
                  <a:srgbClr val="FF0000"/>
                </a:solidFill>
                <a:latin typeface="楷体" panose="02010609060101010101" pitchFamily="49" charset="-122"/>
                <a:ea typeface="楷体" panose="02010609060101010101" pitchFamily="49" charset="-122"/>
              </a:rPr>
              <a:t>华侨大学第十四届青年教师“精彩一堂课”</a:t>
            </a:r>
            <a:endParaRPr lang="en-US" altLang="zh-CN" sz="11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8346" y="1745465"/>
            <a:ext cx="7710805" cy="430887"/>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cs typeface="楷体" panose="02010609060101010101" pitchFamily="49" charset="-122"/>
              </a:rPr>
              <a:t>把区块链作为核心技术自主创新重要突破口</a:t>
            </a: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习近平总书记强调：</a:t>
            </a:r>
          </a:p>
        </p:txBody>
      </p:sp>
      <p:sp>
        <p:nvSpPr>
          <p:cNvPr id="20" name="文本框 19"/>
          <p:cNvSpPr txBox="1"/>
          <p:nvPr/>
        </p:nvSpPr>
        <p:spPr>
          <a:xfrm>
            <a:off x="748347" y="2349927"/>
            <a:ext cx="7710805" cy="430887"/>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cs typeface="楷体" panose="02010609060101010101" pitchFamily="49" charset="-122"/>
              </a:rPr>
              <a:t>加快推动区块链技术和产业创新发展</a:t>
            </a:r>
          </a:p>
        </p:txBody>
      </p:sp>
      <p:sp>
        <p:nvSpPr>
          <p:cNvPr id="24" name="文本框 23">
            <a:extLst>
              <a:ext uri="{FF2B5EF4-FFF2-40B4-BE49-F238E27FC236}">
                <a16:creationId xmlns:a16="http://schemas.microsoft.com/office/drawing/2014/main" id="{DE14BCD3-F49B-4E19-AA30-22287B36FCAA}"/>
              </a:ext>
            </a:extLst>
          </p:cNvPr>
          <p:cNvSpPr txBox="1"/>
          <p:nvPr/>
        </p:nvSpPr>
        <p:spPr>
          <a:xfrm>
            <a:off x="743430" y="3141431"/>
            <a:ext cx="7710805" cy="646331"/>
          </a:xfrm>
          <a:prstGeom prst="rect">
            <a:avLst/>
          </a:prstGeom>
        </p:spPr>
        <p:txBody>
          <a:bodyPr wrap="square">
            <a:spAutoFit/>
          </a:bodyPr>
          <a:lstStyle/>
          <a:p>
            <a:pPr algn="just" defTabSz="266700">
              <a:buClr>
                <a:schemeClr val="accent1"/>
              </a:buClr>
            </a:pPr>
            <a:r>
              <a:rPr lang="en-US" altLang="zh-CN" sz="1800" dirty="0">
                <a:latin typeface="楷体" panose="02010609060101010101" pitchFamily="49" charset="-122"/>
                <a:ea typeface="楷体" panose="02010609060101010101" pitchFamily="49" charset="-122"/>
                <a:cs typeface="楷体" panose="02010609060101010101" pitchFamily="49" charset="-122"/>
              </a:rPr>
              <a:t>2019</a:t>
            </a:r>
            <a:r>
              <a:rPr lang="zh-CN" altLang="en-US" sz="1800" dirty="0">
                <a:latin typeface="楷体" panose="02010609060101010101" pitchFamily="49" charset="-122"/>
                <a:ea typeface="楷体" panose="02010609060101010101" pitchFamily="49" charset="-122"/>
                <a:cs typeface="楷体" panose="02010609060101010101" pitchFamily="49" charset="-122"/>
              </a:rPr>
              <a:t>年</a:t>
            </a:r>
            <a:r>
              <a:rPr lang="en-US" altLang="zh-CN" sz="1800" dirty="0">
                <a:latin typeface="楷体" panose="02010609060101010101" pitchFamily="49" charset="-122"/>
                <a:ea typeface="楷体" panose="02010609060101010101" pitchFamily="49" charset="-122"/>
                <a:cs typeface="楷体" panose="02010609060101010101" pitchFamily="49" charset="-122"/>
              </a:rPr>
              <a:t>10</a:t>
            </a:r>
            <a:r>
              <a:rPr lang="zh-CN" altLang="en-US" sz="1800" dirty="0">
                <a:latin typeface="楷体" panose="02010609060101010101" pitchFamily="49" charset="-122"/>
                <a:ea typeface="楷体" panose="02010609060101010101" pitchFamily="49" charset="-122"/>
                <a:cs typeface="楷体" panose="02010609060101010101" pitchFamily="49" charset="-122"/>
              </a:rPr>
              <a:t>月</a:t>
            </a:r>
            <a:r>
              <a:rPr lang="en-US" altLang="zh-CN" sz="1800" dirty="0">
                <a:latin typeface="楷体" panose="02010609060101010101" pitchFamily="49" charset="-122"/>
                <a:ea typeface="楷体" panose="02010609060101010101" pitchFamily="49" charset="-122"/>
                <a:cs typeface="楷体" panose="02010609060101010101" pitchFamily="49" charset="-122"/>
              </a:rPr>
              <a:t>24</a:t>
            </a:r>
            <a:r>
              <a:rPr lang="zh-CN" altLang="en-US" sz="1800" dirty="0">
                <a:latin typeface="楷体" panose="02010609060101010101" pitchFamily="49" charset="-122"/>
                <a:ea typeface="楷体" panose="02010609060101010101" pitchFamily="49" charset="-122"/>
                <a:cs typeface="楷体" panose="02010609060101010101" pitchFamily="49" charset="-122"/>
              </a:rPr>
              <a:t>日中央政治局就区块链技术发展现状和趋势进行集体学习。区块链</a:t>
            </a:r>
            <a:r>
              <a:rPr lang="en-US" altLang="zh-CN" sz="1800" dirty="0">
                <a:latin typeface="楷体" panose="02010609060101010101" pitchFamily="49" charset="-122"/>
                <a:ea typeface="楷体" panose="02010609060101010101" pitchFamily="49" charset="-122"/>
                <a:cs typeface="楷体" panose="02010609060101010101" pitchFamily="49" charset="-122"/>
              </a:rPr>
              <a:t>+</a:t>
            </a:r>
            <a:r>
              <a:rPr lang="zh-CN" altLang="en-US" sz="1800" dirty="0">
                <a:latin typeface="楷体" panose="02010609060101010101" pitchFamily="49" charset="-122"/>
                <a:ea typeface="楷体" panose="02010609060101010101" pitchFamily="49" charset="-122"/>
                <a:cs typeface="楷体" panose="02010609060101010101" pitchFamily="49" charset="-122"/>
              </a:rPr>
              <a:t>：使区块链服务于各行各业。</a:t>
            </a:r>
          </a:p>
        </p:txBody>
      </p:sp>
      <p:sp>
        <p:nvSpPr>
          <p:cNvPr id="25" name="矩形: 圆角 24">
            <a:extLst>
              <a:ext uri="{FF2B5EF4-FFF2-40B4-BE49-F238E27FC236}">
                <a16:creationId xmlns:a16="http://schemas.microsoft.com/office/drawing/2014/main" id="{02574B30-D023-4556-B8FC-A0BB543B314D}"/>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808A852-51ED-4DF9-9A72-FFCB5B72E1AB}"/>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7">
            <a:extLst>
              <a:ext uri="{FF2B5EF4-FFF2-40B4-BE49-F238E27FC236}">
                <a16:creationId xmlns:a16="http://schemas.microsoft.com/office/drawing/2014/main" id="{FEB1AEA2-6FFD-4E1D-ADD9-B58E92958B1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28" name="TextBox 9">
            <a:extLst>
              <a:ext uri="{FF2B5EF4-FFF2-40B4-BE49-F238E27FC236}">
                <a16:creationId xmlns:a16="http://schemas.microsoft.com/office/drawing/2014/main" id="{F47C2C52-3F69-404F-B453-D0625BF67CD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29" name="TextBox 10">
            <a:extLst>
              <a:ext uri="{FF2B5EF4-FFF2-40B4-BE49-F238E27FC236}">
                <a16:creationId xmlns:a16="http://schemas.microsoft.com/office/drawing/2014/main" id="{859BC4B7-B095-49B5-AD31-CF68714DBC0A}"/>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0" name="TextBox 11">
            <a:extLst>
              <a:ext uri="{FF2B5EF4-FFF2-40B4-BE49-F238E27FC236}">
                <a16:creationId xmlns:a16="http://schemas.microsoft.com/office/drawing/2014/main" id="{6E95EC44-C13A-42CA-9FEC-92EB297D96B1}"/>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1" name="矩形 30">
            <a:extLst>
              <a:ext uri="{FF2B5EF4-FFF2-40B4-BE49-F238E27FC236}">
                <a16:creationId xmlns:a16="http://schemas.microsoft.com/office/drawing/2014/main" id="{E5804D27-70E3-4469-BAC0-BE97DBCF911F}"/>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灯片编号占位符 7">
            <a:extLst>
              <a:ext uri="{FF2B5EF4-FFF2-40B4-BE49-F238E27FC236}">
                <a16:creationId xmlns:a16="http://schemas.microsoft.com/office/drawing/2014/main" id="{C07557BC-932F-4E93-986C-D584CD9B87B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349086D8-3D16-47EA-8ACA-EDFDCCCEB911}"/>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840650" y="1589682"/>
            <a:ext cx="7653532" cy="3041858"/>
          </a:xfrm>
          <a:prstGeom prst="rect">
            <a:avLst/>
          </a:prstGeom>
        </p:spPr>
        <p:txBody>
          <a:bodyPr wrap="square">
            <a:spAutoFit/>
          </a:bodyPr>
          <a:lstStyle/>
          <a:p>
            <a:pPr marL="342900" indent="-342900" algn="just" defTabSz="266700">
              <a:buFont typeface="+mj-lt"/>
              <a:buAutoNum type="arabicPeriod"/>
            </a:pP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普通高等教育“十一五”国家级规划教材，教科书</a:t>
            </a:r>
            <a:endParaRPr lang="en-US" altLang="zh-CN"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algn="just" defTabSz="266700"/>
            <a:r>
              <a:rPr lang="en-US" altLang="zh-CN" dirty="0">
                <a:latin typeface="楷体" panose="02010609060101010101" pitchFamily="49" charset="-122"/>
                <a:ea typeface="楷体" panose="02010609060101010101" pitchFamily="49" charset="-122"/>
                <a:cs typeface="楷体" panose="02010609060101010101" pitchFamily="49" charset="-122"/>
              </a:rPr>
              <a:t>  《</a:t>
            </a:r>
            <a:r>
              <a:rPr lang="zh-CN" altLang="en-US" dirty="0">
                <a:latin typeface="楷体" panose="02010609060101010101" pitchFamily="49" charset="-122"/>
                <a:ea typeface="楷体" panose="02010609060101010101" pitchFamily="49" charset="-122"/>
                <a:cs typeface="楷体" panose="02010609060101010101" pitchFamily="49" charset="-122"/>
              </a:rPr>
              <a:t>现代密码学</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（第五版），杨波</a:t>
            </a:r>
            <a:r>
              <a:rPr lang="zh-CN" altLang="en-US" sz="1800" dirty="0">
                <a:latin typeface="楷体" panose="02010609060101010101" pitchFamily="49" charset="-122"/>
                <a:ea typeface="楷体" panose="02010609060101010101" pitchFamily="49" charset="-122"/>
                <a:cs typeface="楷体" panose="02010609060101010101" pitchFamily="49" charset="-122"/>
              </a:rPr>
              <a:t>，清华大学出版社，</a:t>
            </a:r>
            <a:r>
              <a:rPr lang="en-US" altLang="zh-CN" sz="1800" dirty="0">
                <a:latin typeface="楷体" panose="02010609060101010101" pitchFamily="49" charset="-122"/>
                <a:ea typeface="楷体" panose="02010609060101010101" pitchFamily="49" charset="-122"/>
                <a:cs typeface="楷体" panose="02010609060101010101" pitchFamily="49" charset="-122"/>
              </a:rPr>
              <a:t>2022</a:t>
            </a:r>
            <a:r>
              <a:rPr lang="en-US" altLang="zh-CN" dirty="0">
                <a:latin typeface="楷体" panose="02010609060101010101" pitchFamily="49" charset="-122"/>
                <a:ea typeface="楷体" panose="02010609060101010101" pitchFamily="49" charset="-122"/>
                <a:cs typeface="楷体" panose="02010609060101010101" pitchFamily="49" charset="-122"/>
              </a:rPr>
              <a:t>.</a:t>
            </a:r>
          </a:p>
          <a:p>
            <a:pPr algn="just" defTabSz="266700"/>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algn="just" defTabSz="266700"/>
            <a:r>
              <a:rPr lang="en-US" altLang="zh-CN" dirty="0">
                <a:latin typeface="楷体" panose="02010609060101010101" pitchFamily="49" charset="-122"/>
                <a:ea typeface="楷体" panose="02010609060101010101" pitchFamily="49" charset="-122"/>
                <a:cs typeface="楷体" panose="02010609060101010101" pitchFamily="49" charset="-122"/>
              </a:rPr>
              <a:t>2. </a:t>
            </a:r>
            <a:r>
              <a:rPr lang="zh-CN" altLang="en-US" sz="1800" dirty="0">
                <a:latin typeface="楷体" panose="02010609060101010101" pitchFamily="49" charset="-122"/>
                <a:ea typeface="楷体" panose="02010609060101010101" pitchFamily="49" charset="-122"/>
                <a:cs typeface="楷体" panose="02010609060101010101" pitchFamily="49" charset="-122"/>
              </a:rPr>
              <a:t>课后阅读</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algn="just" defTabSz="266700"/>
            <a:r>
              <a:rPr lang="en-US" altLang="zh-CN" dirty="0">
                <a:latin typeface="楷体" panose="02010609060101010101" pitchFamily="49" charset="-122"/>
                <a:ea typeface="楷体" panose="02010609060101010101" pitchFamily="49" charset="-122"/>
                <a:cs typeface="Times New Roman" panose="02020603050405020304" pitchFamily="18" charset="0"/>
              </a:rPr>
              <a:t>  </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密码编码学与网络安全：原理与实践</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（第八版），</a:t>
            </a:r>
            <a:r>
              <a:rPr lang="en-US" altLang="zh-CN" dirty="0">
                <a:latin typeface="Times New Roman" panose="02020603050405020304" pitchFamily="18" charset="0"/>
                <a:ea typeface="楷体" panose="02010609060101010101" pitchFamily="49" charset="-122"/>
                <a:cs typeface="Times New Roman" panose="02020603050405020304" pitchFamily="18" charset="0"/>
              </a:rPr>
              <a:t>William Stallings</a:t>
            </a:r>
            <a:r>
              <a:rPr lang="zh-CN" altLang="en-US" dirty="0">
                <a:latin typeface="楷体" panose="02010609060101010101" pitchFamily="49" charset="-122"/>
                <a:ea typeface="楷体" panose="02010609060101010101" pitchFamily="49" charset="-122"/>
                <a:cs typeface="Times New Roman" panose="02020603050405020304" pitchFamily="18" charset="0"/>
              </a:rPr>
              <a:t>，</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algn="just" defTabSz="266700"/>
            <a:r>
              <a:rPr lang="zh-CN" altLang="en-US" dirty="0">
                <a:latin typeface="楷体" panose="02010609060101010101" pitchFamily="49" charset="-122"/>
                <a:ea typeface="楷体" panose="02010609060101010101" pitchFamily="49" charset="-122"/>
                <a:cs typeface="Times New Roman" panose="02020603050405020304" pitchFamily="18" charset="0"/>
              </a:rPr>
              <a:t>   电子工业出版社，</a:t>
            </a:r>
            <a:r>
              <a:rPr lang="en-US" altLang="zh-CN" dirty="0">
                <a:latin typeface="楷体" panose="02010609060101010101" pitchFamily="49" charset="-122"/>
                <a:ea typeface="楷体" panose="02010609060101010101" pitchFamily="49" charset="-122"/>
                <a:cs typeface="Times New Roman" panose="02020603050405020304" pitchFamily="18" charset="0"/>
              </a:rPr>
              <a:t>2021.</a:t>
            </a:r>
            <a:endParaRPr lang="en-US" altLang="zh-CN" sz="1800" dirty="0">
              <a:latin typeface="楷体" panose="02010609060101010101" pitchFamily="49" charset="-122"/>
              <a:ea typeface="楷体" panose="02010609060101010101" pitchFamily="49" charset="-122"/>
              <a:cs typeface="楷体" panose="02010609060101010101" pitchFamily="49" charset="-122"/>
            </a:endParaRPr>
          </a:p>
          <a:p>
            <a:pPr algn="just" defTabSz="266700">
              <a:spcBef>
                <a:spcPts val="1400"/>
              </a:spcBef>
            </a:pPr>
            <a:r>
              <a:rPr lang="en-US" altLang="zh-CN" sz="1800" dirty="0">
                <a:latin typeface="楷体" panose="02010609060101010101" pitchFamily="49" charset="-122"/>
                <a:ea typeface="楷体" panose="02010609060101010101" pitchFamily="49" charset="-122"/>
                <a:cs typeface="楷体" panose="02010609060101010101" pitchFamily="49" charset="-122"/>
              </a:rPr>
              <a:t>3.</a:t>
            </a:r>
            <a:r>
              <a:rPr lang="zh-CN" altLang="en-US" sz="1800" dirty="0">
                <a:latin typeface="楷体" panose="02010609060101010101" pitchFamily="49" charset="-122"/>
                <a:ea typeface="楷体" panose="02010609060101010101" pitchFamily="49" charset="-122"/>
                <a:cs typeface="楷体" panose="02010609060101010101" pitchFamily="49" charset="-122"/>
              </a:rPr>
              <a:t> 课后阅读</a:t>
            </a:r>
            <a:endParaRPr lang="en-US" altLang="zh-CN" sz="1800" dirty="0">
              <a:latin typeface="楷体" panose="02010609060101010101" pitchFamily="49" charset="-122"/>
              <a:ea typeface="楷体" panose="02010609060101010101" pitchFamily="49" charset="-122"/>
              <a:cs typeface="楷体" panose="02010609060101010101" pitchFamily="49" charset="-122"/>
            </a:endParaRPr>
          </a:p>
          <a:p>
            <a:pPr algn="just" defTabSz="266700"/>
            <a:r>
              <a:rPr lang="zh-CN" altLang="en-US" sz="1800" dirty="0">
                <a:latin typeface="楷体" panose="02010609060101010101" pitchFamily="49" charset="-122"/>
                <a:ea typeface="楷体" panose="02010609060101010101" pitchFamily="49" charset="-122"/>
                <a:cs typeface="楷体" panose="02010609060101010101" pitchFamily="49" charset="-122"/>
              </a:rPr>
              <a:t>  </a:t>
            </a:r>
            <a:r>
              <a:rPr lang="en-US" altLang="zh-CN" sz="1800" dirty="0">
                <a:latin typeface="楷体" panose="02010609060101010101" pitchFamily="49" charset="-122"/>
                <a:ea typeface="楷体" panose="02010609060101010101" pitchFamily="49" charset="-122"/>
                <a:cs typeface="楷体" panose="02010609060101010101" pitchFamily="49" charset="-122"/>
              </a:rPr>
              <a:t>《</a:t>
            </a:r>
            <a:r>
              <a:rPr lang="zh-CN" altLang="en-US" sz="1800" dirty="0">
                <a:latin typeface="楷体" panose="02010609060101010101" pitchFamily="49" charset="-122"/>
                <a:ea typeface="楷体" panose="02010609060101010101" pitchFamily="49" charset="-122"/>
                <a:cs typeface="楷体" panose="02010609060101010101" pitchFamily="49" charset="-122"/>
              </a:rPr>
              <a:t>公钥密码学的数学基础</a:t>
            </a:r>
            <a:r>
              <a:rPr lang="en-US" altLang="zh-CN" sz="1800" dirty="0">
                <a:latin typeface="楷体" panose="02010609060101010101" pitchFamily="49" charset="-122"/>
                <a:ea typeface="楷体" panose="02010609060101010101" pitchFamily="49" charset="-122"/>
                <a:cs typeface="楷体" panose="02010609060101010101" pitchFamily="49" charset="-122"/>
              </a:rPr>
              <a:t>》</a:t>
            </a:r>
            <a:r>
              <a:rPr lang="zh-CN" altLang="en-US" sz="1800" dirty="0">
                <a:latin typeface="楷体" panose="02010609060101010101" pitchFamily="49" charset="-122"/>
                <a:ea typeface="楷体" panose="02010609060101010101" pitchFamily="49" charset="-122"/>
                <a:cs typeface="楷体" panose="02010609060101010101" pitchFamily="49" charset="-122"/>
              </a:rPr>
              <a:t>，王小云，科学出版社，</a:t>
            </a:r>
            <a:r>
              <a:rPr lang="en-US" altLang="zh-CN" sz="1800" dirty="0">
                <a:latin typeface="楷体" panose="02010609060101010101" pitchFamily="49" charset="-122"/>
                <a:ea typeface="楷体" panose="02010609060101010101" pitchFamily="49" charset="-122"/>
                <a:cs typeface="楷体" panose="02010609060101010101" pitchFamily="49" charset="-122"/>
              </a:rPr>
              <a:t>2022</a:t>
            </a:r>
            <a:r>
              <a:rPr lang="en-US" altLang="zh-CN" dirty="0">
                <a:latin typeface="楷体" panose="02010609060101010101" pitchFamily="49" charset="-122"/>
                <a:ea typeface="楷体" panose="02010609060101010101" pitchFamily="49" charset="-122"/>
                <a:cs typeface="楷体" panose="02010609060101010101" pitchFamily="49" charset="-122"/>
              </a:rPr>
              <a:t>.</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a:p>
            <a:pPr algn="just" defTabSz="266700"/>
            <a:endParaRPr lang="en-US" altLang="zh-CN" sz="1800" dirty="0">
              <a:latin typeface="楷体" panose="02010609060101010101" pitchFamily="49" charset="-122"/>
              <a:ea typeface="楷体" panose="02010609060101010101" pitchFamily="49" charset="-122"/>
              <a:cs typeface="楷体" panose="02010609060101010101" pitchFamily="49" charset="-122"/>
            </a:endParaRPr>
          </a:p>
          <a:p>
            <a:pPr marL="342900" indent="-342900" algn="just" defTabSz="266700">
              <a:buFont typeface="+mj-lt"/>
              <a:buAutoNum type="arabicPeriod"/>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课程教材</a:t>
            </a:r>
          </a:p>
        </p:txBody>
      </p:sp>
      <p:sp>
        <p:nvSpPr>
          <p:cNvPr id="14"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5"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6"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7" name="TextBox 11"/>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 name="矩形 3"/>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13" name="文本框 12">
            <a:extLst>
              <a:ext uri="{FF2B5EF4-FFF2-40B4-BE49-F238E27FC236}">
                <a16:creationId xmlns:a16="http://schemas.microsoft.com/office/drawing/2014/main" id="{E3FA6075-2EF6-445A-BF71-E8258594CC4C}"/>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2"/>
          <a:stretch>
            <a:fillRect/>
          </a:stretch>
        </p:blipFill>
        <p:spPr>
          <a:xfrm>
            <a:off x="1615345" y="1812037"/>
            <a:ext cx="2356273" cy="1915812"/>
          </a:xfrm>
          <a:prstGeom prst="rect">
            <a:avLst/>
          </a:prstGeom>
        </p:spPr>
      </p:pic>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3"/>
          <a:stretch>
            <a:fillRect/>
          </a:stretch>
        </p:blipFill>
        <p:spPr>
          <a:xfrm flipH="1">
            <a:off x="5284418" y="1785817"/>
            <a:ext cx="2005753" cy="2101867"/>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478292"/>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2728855" y="1010578"/>
            <a:ext cx="3686289"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意图：转让价值</a:t>
            </a:r>
            <a:r>
              <a:rPr lang="en-US" altLang="zh-CN" dirty="0">
                <a:latin typeface="楷体" panose="02010609060101010101" pitchFamily="49" charset="-122"/>
                <a:ea typeface="楷体" panose="02010609060101010101" pitchFamily="49" charset="-122"/>
                <a:cs typeface="楷体" panose="02010609060101010101" pitchFamily="49" charset="-122"/>
              </a:rPr>
              <a:t>2</a:t>
            </a:r>
            <a:r>
              <a:rPr lang="zh-CN" altLang="en-US" dirty="0">
                <a:latin typeface="楷体" panose="02010609060101010101" pitchFamily="49" charset="-122"/>
                <a:ea typeface="楷体" panose="02010609060101010101" pitchFamily="49" charset="-122"/>
                <a:cs typeface="楷体" panose="02010609060101010101" pitchFamily="49" charset="-122"/>
              </a:rPr>
              <a:t>元的资产给对方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746774"/>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710585"/>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sp>
        <p:nvSpPr>
          <p:cNvPr id="20" name="文本框 19">
            <a:extLst>
              <a:ext uri="{FF2B5EF4-FFF2-40B4-BE49-F238E27FC236}">
                <a16:creationId xmlns:a16="http://schemas.microsoft.com/office/drawing/2014/main" id="{D706F3A5-8084-4D83-AD29-EC6E501381A8}"/>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88330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2"/>
          <a:stretch>
            <a:fillRect/>
          </a:stretch>
        </p:blipFill>
        <p:spPr>
          <a:xfrm>
            <a:off x="1615345" y="1812037"/>
            <a:ext cx="2356273" cy="1915812"/>
          </a:xfrm>
          <a:prstGeom prst="rect">
            <a:avLst/>
          </a:prstGeom>
        </p:spPr>
      </p:pic>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3"/>
          <a:stretch>
            <a:fillRect/>
          </a:stretch>
        </p:blipFill>
        <p:spPr>
          <a:xfrm flipH="1">
            <a:off x="5284418" y="1785817"/>
            <a:ext cx="2005753" cy="2101867"/>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478292"/>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4144188" y="1012903"/>
            <a:ext cx="1310408"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途径？</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746774"/>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710585"/>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sp>
        <p:nvSpPr>
          <p:cNvPr id="20" name="文本框 19">
            <a:extLst>
              <a:ext uri="{FF2B5EF4-FFF2-40B4-BE49-F238E27FC236}">
                <a16:creationId xmlns:a16="http://schemas.microsoft.com/office/drawing/2014/main" id="{8EFBAC50-D85D-4271-8199-624F684C6708}"/>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513693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2"/>
          <a:stretch>
            <a:fillRect/>
          </a:stretch>
        </p:blipFill>
        <p:spPr>
          <a:xfrm>
            <a:off x="1615345" y="2028341"/>
            <a:ext cx="2356273" cy="1915812"/>
          </a:xfrm>
          <a:prstGeom prst="rect">
            <a:avLst/>
          </a:prstGeom>
        </p:spPr>
      </p:pic>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3"/>
          <a:stretch>
            <a:fillRect/>
          </a:stretch>
        </p:blipFill>
        <p:spPr>
          <a:xfrm flipH="1">
            <a:off x="5284418" y="2002121"/>
            <a:ext cx="2005753" cy="2101867"/>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694596"/>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3844839" y="304026"/>
            <a:ext cx="1680890"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可信第三方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963078"/>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926889"/>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pic>
        <p:nvPicPr>
          <p:cNvPr id="5" name="图形 4">
            <a:extLst>
              <a:ext uri="{FF2B5EF4-FFF2-40B4-BE49-F238E27FC236}">
                <a16:creationId xmlns:a16="http://schemas.microsoft.com/office/drawing/2014/main" id="{6C7CCF83-7849-49EE-B0DB-FF25839F9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78364" y="619481"/>
            <a:ext cx="1035840" cy="1035840"/>
          </a:xfrm>
          <a:prstGeom prst="rect">
            <a:avLst/>
          </a:prstGeom>
        </p:spPr>
      </p:pic>
      <p:sp>
        <p:nvSpPr>
          <p:cNvPr id="25" name="文本框 24">
            <a:extLst>
              <a:ext uri="{FF2B5EF4-FFF2-40B4-BE49-F238E27FC236}">
                <a16:creationId xmlns:a16="http://schemas.microsoft.com/office/drawing/2014/main" id="{FDC38777-65DB-47BA-8BAF-D67543A01D89}"/>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95383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2C9372E-4E1A-49FD-8C5C-4A6C9D5D83E7}"/>
              </a:ext>
            </a:extLst>
          </p:cNvPr>
          <p:cNvSpPr/>
          <p:nvPr/>
        </p:nvSpPr>
        <p:spPr>
          <a:xfrm>
            <a:off x="5043700" y="729426"/>
            <a:ext cx="4021641" cy="830997"/>
          </a:xfrm>
          <a:prstGeom prst="rect">
            <a:avLst/>
          </a:prstGeom>
          <a:solidFill>
            <a:schemeClr val="accent5">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2"/>
          <a:stretch>
            <a:fillRect/>
          </a:stretch>
        </p:blipFill>
        <p:spPr>
          <a:xfrm>
            <a:off x="1615345" y="2028341"/>
            <a:ext cx="2356273" cy="1915812"/>
          </a:xfrm>
          <a:prstGeom prst="rect">
            <a:avLst/>
          </a:prstGeom>
        </p:spPr>
      </p:pic>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3"/>
          <a:stretch>
            <a:fillRect/>
          </a:stretch>
        </p:blipFill>
        <p:spPr>
          <a:xfrm flipH="1">
            <a:off x="5284418" y="2002121"/>
            <a:ext cx="2005753" cy="2101867"/>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694596"/>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3844839" y="304026"/>
            <a:ext cx="1680890"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可信第三方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963078"/>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926889"/>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pic>
        <p:nvPicPr>
          <p:cNvPr id="5" name="图形 4">
            <a:extLst>
              <a:ext uri="{FF2B5EF4-FFF2-40B4-BE49-F238E27FC236}">
                <a16:creationId xmlns:a16="http://schemas.microsoft.com/office/drawing/2014/main" id="{6C7CCF83-7849-49EE-B0DB-FF25839F9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78364" y="619481"/>
            <a:ext cx="1035840" cy="1035840"/>
          </a:xfrm>
          <a:prstGeom prst="rect">
            <a:avLst/>
          </a:prstGeom>
        </p:spPr>
      </p:pic>
      <p:sp>
        <p:nvSpPr>
          <p:cNvPr id="20" name="文本框 19">
            <a:extLst>
              <a:ext uri="{FF2B5EF4-FFF2-40B4-BE49-F238E27FC236}">
                <a16:creationId xmlns:a16="http://schemas.microsoft.com/office/drawing/2014/main" id="{A7F110EE-E5C3-413D-B6CC-0B0D7B453204}"/>
              </a:ext>
            </a:extLst>
          </p:cNvPr>
          <p:cNvSpPr txBox="1"/>
          <p:nvPr/>
        </p:nvSpPr>
        <p:spPr>
          <a:xfrm>
            <a:off x="5043700" y="729426"/>
            <a:ext cx="4193721" cy="830997"/>
          </a:xfrm>
          <a:prstGeom prst="rect">
            <a:avLst/>
          </a:prstGeom>
        </p:spPr>
        <p:txBody>
          <a:bodyPr wrap="square">
            <a:spAutoFit/>
          </a:bodyPr>
          <a:lstStyle/>
          <a:p>
            <a:pPr algn="just" defTabSz="266700">
              <a:buClr>
                <a:schemeClr val="accent1"/>
              </a:buClr>
            </a:pPr>
            <a:r>
              <a:rPr lang="zh-CN" altLang="en-US" sz="1600" b="1" dirty="0">
                <a:solidFill>
                  <a:schemeClr val="accent1"/>
                </a:solidFill>
                <a:latin typeface="楷体" panose="02010609060101010101" pitchFamily="49" charset="-122"/>
                <a:ea typeface="楷体" panose="02010609060101010101" pitchFamily="49" charset="-122"/>
                <a:cs typeface="楷体" panose="02010609060101010101" pitchFamily="49" charset="-122"/>
              </a:rPr>
              <a:t>经典记账方案：</a:t>
            </a:r>
            <a:endParaRPr lang="en-US" altLang="zh-CN" sz="1600"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1. </a:t>
            </a:r>
            <a:r>
              <a:rPr lang="zh-CN" altLang="en-US" sz="1600" dirty="0">
                <a:latin typeface="楷体" panose="02010609060101010101" pitchFamily="49" charset="-122"/>
                <a:ea typeface="楷体" panose="02010609060101010101" pitchFamily="49" charset="-122"/>
                <a:cs typeface="楷体" panose="02010609060101010101" pitchFamily="49" charset="-122"/>
              </a:rPr>
              <a:t>爱丽丝资产余额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a:t>
            </a: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鲍勃资产余额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 </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25" name="文本框 24">
            <a:extLst>
              <a:ext uri="{FF2B5EF4-FFF2-40B4-BE49-F238E27FC236}">
                <a16:creationId xmlns:a16="http://schemas.microsoft.com/office/drawing/2014/main" id="{BA61051D-AAFD-4481-A952-4B8AA48010A1}"/>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81608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上弧形箭头 20">
            <a:extLst>
              <a:ext uri="{FF2B5EF4-FFF2-40B4-BE49-F238E27FC236}">
                <a16:creationId xmlns:a16="http://schemas.microsoft.com/office/drawing/2014/main" id="{2F854298-F06A-4653-AEC8-B9E9BAAA21CD}"/>
              </a:ext>
            </a:extLst>
          </p:cNvPr>
          <p:cNvSpPr/>
          <p:nvPr/>
        </p:nvSpPr>
        <p:spPr>
          <a:xfrm>
            <a:off x="3004722" y="1694596"/>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2"/>
          <a:stretch>
            <a:fillRect/>
          </a:stretch>
        </p:blipFill>
        <p:spPr>
          <a:xfrm flipH="1">
            <a:off x="5284418" y="2002121"/>
            <a:ext cx="2005753" cy="2101867"/>
          </a:xfrm>
          <a:prstGeom prst="rect">
            <a:avLst/>
          </a:prstGeom>
        </p:spPr>
      </p:pic>
      <p:sp>
        <p:nvSpPr>
          <p:cNvPr id="29" name="矩形 28">
            <a:extLst>
              <a:ext uri="{FF2B5EF4-FFF2-40B4-BE49-F238E27FC236}">
                <a16:creationId xmlns:a16="http://schemas.microsoft.com/office/drawing/2014/main" id="{CA969A22-7383-4536-92C0-29F40A9C6D17}"/>
              </a:ext>
            </a:extLst>
          </p:cNvPr>
          <p:cNvSpPr/>
          <p:nvPr/>
        </p:nvSpPr>
        <p:spPr>
          <a:xfrm>
            <a:off x="5043700" y="1756612"/>
            <a:ext cx="4021641" cy="1165541"/>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42C9372E-4E1A-49FD-8C5C-4A6C9D5D83E7}"/>
              </a:ext>
            </a:extLst>
          </p:cNvPr>
          <p:cNvSpPr/>
          <p:nvPr/>
        </p:nvSpPr>
        <p:spPr>
          <a:xfrm>
            <a:off x="5043700" y="729426"/>
            <a:ext cx="4021641" cy="830997"/>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4F94A7D-D959-4650-9A33-40A629BEEF5B}"/>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3"/>
          <a:stretch>
            <a:fillRect/>
          </a:stretch>
        </p:blipFill>
        <p:spPr>
          <a:xfrm>
            <a:off x="1615345" y="2028341"/>
            <a:ext cx="2356273" cy="1915812"/>
          </a:xfrm>
          <a:prstGeom prst="rect">
            <a:avLst/>
          </a:prstGeom>
        </p:spPr>
      </p:pic>
      <p:sp>
        <p:nvSpPr>
          <p:cNvPr id="31" name="文本框 30">
            <a:extLst>
              <a:ext uri="{FF2B5EF4-FFF2-40B4-BE49-F238E27FC236}">
                <a16:creationId xmlns:a16="http://schemas.microsoft.com/office/drawing/2014/main" id="{07465B86-E13B-4732-BEF7-9789A5FBDDE1}"/>
              </a:ext>
            </a:extLst>
          </p:cNvPr>
          <p:cNvSpPr txBox="1"/>
          <p:nvPr/>
        </p:nvSpPr>
        <p:spPr>
          <a:xfrm>
            <a:off x="3844839" y="304026"/>
            <a:ext cx="1680890"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可信第三方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963078"/>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926889"/>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pic>
        <p:nvPicPr>
          <p:cNvPr id="5" name="图形 4">
            <a:extLst>
              <a:ext uri="{FF2B5EF4-FFF2-40B4-BE49-F238E27FC236}">
                <a16:creationId xmlns:a16="http://schemas.microsoft.com/office/drawing/2014/main" id="{6C7CCF83-7849-49EE-B0DB-FF25839F9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78364" y="619481"/>
            <a:ext cx="1035840" cy="1035840"/>
          </a:xfrm>
          <a:prstGeom prst="rect">
            <a:avLst/>
          </a:prstGeom>
        </p:spPr>
      </p:pic>
      <p:sp>
        <p:nvSpPr>
          <p:cNvPr id="20" name="文本框 19">
            <a:extLst>
              <a:ext uri="{FF2B5EF4-FFF2-40B4-BE49-F238E27FC236}">
                <a16:creationId xmlns:a16="http://schemas.microsoft.com/office/drawing/2014/main" id="{A7F110EE-E5C3-413D-B6CC-0B0D7B453204}"/>
              </a:ext>
            </a:extLst>
          </p:cNvPr>
          <p:cNvSpPr txBox="1"/>
          <p:nvPr/>
        </p:nvSpPr>
        <p:spPr>
          <a:xfrm>
            <a:off x="5043700" y="729426"/>
            <a:ext cx="4193721" cy="830997"/>
          </a:xfrm>
          <a:prstGeom prst="rect">
            <a:avLst/>
          </a:prstGeom>
        </p:spPr>
        <p:txBody>
          <a:bodyPr wrap="square">
            <a:spAutoFit/>
          </a:bodyPr>
          <a:lstStyle/>
          <a:p>
            <a:pPr algn="just" defTabSz="266700">
              <a:buClr>
                <a:schemeClr val="accent1"/>
              </a:buClr>
            </a:pPr>
            <a:r>
              <a:rPr lang="zh-CN" altLang="en-US" sz="1600" b="1" dirty="0">
                <a:solidFill>
                  <a:schemeClr val="accent1"/>
                </a:solidFill>
                <a:latin typeface="楷体" panose="02010609060101010101" pitchFamily="49" charset="-122"/>
                <a:ea typeface="楷体" panose="02010609060101010101" pitchFamily="49" charset="-122"/>
                <a:cs typeface="楷体" panose="02010609060101010101" pitchFamily="49" charset="-122"/>
              </a:rPr>
              <a:t>经典记账方案：</a:t>
            </a:r>
            <a:endParaRPr lang="en-US" altLang="zh-CN" sz="1600"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1. </a:t>
            </a:r>
            <a:r>
              <a:rPr lang="zh-CN" altLang="en-US" sz="1600" dirty="0">
                <a:latin typeface="楷体" panose="02010609060101010101" pitchFamily="49" charset="-122"/>
                <a:ea typeface="楷体" panose="02010609060101010101" pitchFamily="49" charset="-122"/>
                <a:cs typeface="楷体" panose="02010609060101010101" pitchFamily="49" charset="-122"/>
              </a:rPr>
              <a:t>爱丽丝资产余额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a:t>
            </a: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鲍勃资产余额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 </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28" name="文本框 27">
            <a:extLst>
              <a:ext uri="{FF2B5EF4-FFF2-40B4-BE49-F238E27FC236}">
                <a16:creationId xmlns:a16="http://schemas.microsoft.com/office/drawing/2014/main" id="{E99DF81F-7194-4F3C-9CA8-EA4BFC44A31A}"/>
              </a:ext>
            </a:extLst>
          </p:cNvPr>
          <p:cNvSpPr txBox="1"/>
          <p:nvPr/>
        </p:nvSpPr>
        <p:spPr>
          <a:xfrm>
            <a:off x="5043700" y="1774254"/>
            <a:ext cx="4021641" cy="1354217"/>
          </a:xfrm>
          <a:prstGeom prst="rect">
            <a:avLst/>
          </a:prstGeom>
          <a:noFill/>
        </p:spPr>
        <p:txBody>
          <a:bodyPr wrap="square">
            <a:spAutoFit/>
          </a:bodyPr>
          <a:lstStyle/>
          <a:p>
            <a:pPr algn="just" defTabSz="266700">
              <a:buClr>
                <a:schemeClr val="accent1"/>
              </a:buClr>
            </a:pPr>
            <a:r>
              <a:rPr lang="zh-CN" altLang="en-US" sz="1600" b="1" dirty="0">
                <a:solidFill>
                  <a:srgbClr val="FF0000"/>
                </a:solidFill>
                <a:latin typeface="楷体" panose="02010609060101010101" pitchFamily="49" charset="-122"/>
                <a:ea typeface="楷体" panose="02010609060101010101" pitchFamily="49" charset="-122"/>
                <a:cs typeface="楷体" panose="02010609060101010101" pitchFamily="49" charset="-122"/>
              </a:rPr>
              <a:t>问题：</a:t>
            </a:r>
            <a:endParaRPr lang="en-US" altLang="zh-CN" sz="16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rPr>
              <a:t> 1. </a:t>
            </a:r>
            <a:r>
              <a:rPr lang="zh-CN" altLang="en-US" sz="1600" dirty="0">
                <a:solidFill>
                  <a:srgbClr val="FF0000"/>
                </a:solidFill>
                <a:latin typeface="楷体" panose="02010609060101010101" pitchFamily="49" charset="-122"/>
                <a:ea typeface="楷体" panose="02010609060101010101" pitchFamily="49" charset="-122"/>
                <a:cs typeface="楷体" panose="02010609060101010101" pitchFamily="49" charset="-122"/>
              </a:rPr>
              <a:t>完全信任   </a:t>
            </a:r>
            <a:r>
              <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rPr>
              <a:t>-&gt; </a:t>
            </a:r>
            <a:r>
              <a:rPr lang="zh-CN" altLang="en-US" sz="1600" dirty="0">
                <a:solidFill>
                  <a:srgbClr val="FF0000"/>
                </a:solidFill>
                <a:latin typeface="楷体" panose="02010609060101010101" pitchFamily="49" charset="-122"/>
                <a:ea typeface="楷体" panose="02010609060101010101" pitchFamily="49" charset="-122"/>
                <a:cs typeface="楷体" panose="02010609060101010101" pitchFamily="49" charset="-122"/>
              </a:rPr>
              <a:t>可验证的零信任？</a:t>
            </a:r>
            <a:endPar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rPr>
              <a:t> 2. </a:t>
            </a:r>
            <a:r>
              <a:rPr lang="zh-CN" altLang="en-US" sz="1600" dirty="0">
                <a:solidFill>
                  <a:srgbClr val="FF0000"/>
                </a:solidFill>
                <a:latin typeface="楷体" panose="02010609060101010101" pitchFamily="49" charset="-122"/>
                <a:ea typeface="楷体" panose="02010609060101010101" pitchFamily="49" charset="-122"/>
                <a:cs typeface="楷体" panose="02010609060101010101" pitchFamily="49" charset="-122"/>
              </a:rPr>
              <a:t>工作日服务 </a:t>
            </a:r>
            <a:r>
              <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rPr>
              <a:t>-&gt; </a:t>
            </a:r>
            <a:r>
              <a:rPr lang="en-US" altLang="zh-CN" sz="1600" dirty="0">
                <a:solidFill>
                  <a:srgbClr val="FF0000"/>
                </a:solidFill>
                <a:latin typeface="楷体" panose="02010609060101010101" pitchFamily="49" charset="-122"/>
                <a:ea typeface="楷体" panose="02010609060101010101" pitchFamily="49" charset="-122"/>
              </a:rPr>
              <a:t>7×24</a:t>
            </a:r>
            <a:r>
              <a:rPr lang="zh-CN" altLang="en-US" sz="1600" dirty="0">
                <a:solidFill>
                  <a:srgbClr val="FF0000"/>
                </a:solidFill>
                <a:latin typeface="楷体" panose="02010609060101010101" pitchFamily="49" charset="-122"/>
                <a:ea typeface="楷体" panose="02010609060101010101" pitchFamily="49" charset="-122"/>
              </a:rPr>
              <a:t>小时</a:t>
            </a:r>
            <a:r>
              <a:rPr lang="zh-CN" altLang="en-US" sz="1600" dirty="0">
                <a:solidFill>
                  <a:srgbClr val="FF0000"/>
                </a:solidFill>
                <a:latin typeface="楷体" panose="02010609060101010101" pitchFamily="49" charset="-122"/>
                <a:ea typeface="楷体" panose="02010609060101010101" pitchFamily="49" charset="-122"/>
                <a:cs typeface="楷体" panose="02010609060101010101" pitchFamily="49" charset="-122"/>
              </a:rPr>
              <a:t>服务？</a:t>
            </a:r>
            <a:endPar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rPr>
              <a:t> 3. </a:t>
            </a:r>
            <a:r>
              <a:rPr lang="zh-CN" altLang="en-US" sz="1600" dirty="0">
                <a:solidFill>
                  <a:srgbClr val="FF0000"/>
                </a:solidFill>
                <a:latin typeface="楷体" panose="02010609060101010101" pitchFamily="49" charset="-122"/>
                <a:ea typeface="楷体" panose="02010609060101010101" pitchFamily="49" charset="-122"/>
                <a:cs typeface="楷体" panose="02010609060101010101" pitchFamily="49" charset="-122"/>
              </a:rPr>
              <a:t>人工开销等</a:t>
            </a:r>
            <a:endPar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Tree>
    <p:extLst>
      <p:ext uri="{BB962C8B-B14F-4D97-AF65-F5344CB8AC3E}">
        <p14:creationId xmlns:p14="http://schemas.microsoft.com/office/powerpoint/2010/main" val="2526861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2"/>
          <a:stretch>
            <a:fillRect/>
          </a:stretch>
        </p:blipFill>
        <p:spPr>
          <a:xfrm flipH="1">
            <a:off x="5284418" y="2002121"/>
            <a:ext cx="2005753" cy="2101867"/>
          </a:xfrm>
          <a:prstGeom prst="rect">
            <a:avLst/>
          </a:prstGeom>
        </p:spPr>
      </p:pic>
      <p:sp>
        <p:nvSpPr>
          <p:cNvPr id="2" name="矩形 1">
            <a:extLst>
              <a:ext uri="{FF2B5EF4-FFF2-40B4-BE49-F238E27FC236}">
                <a16:creationId xmlns:a16="http://schemas.microsoft.com/office/drawing/2014/main" id="{42C9372E-4E1A-49FD-8C5C-4A6C9D5D83E7}"/>
              </a:ext>
            </a:extLst>
          </p:cNvPr>
          <p:cNvSpPr/>
          <p:nvPr/>
        </p:nvSpPr>
        <p:spPr>
          <a:xfrm>
            <a:off x="5043700" y="729426"/>
            <a:ext cx="4021641" cy="83099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4F94A7D-D959-4650-9A33-40A629BEEF5B}"/>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3"/>
          <a:stretch>
            <a:fillRect/>
          </a:stretch>
        </p:blipFill>
        <p:spPr>
          <a:xfrm>
            <a:off x="1615345" y="2028341"/>
            <a:ext cx="2356273" cy="1915812"/>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694596"/>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3844839" y="304026"/>
            <a:ext cx="1680890"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可信第三方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963078"/>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926889"/>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pic>
        <p:nvPicPr>
          <p:cNvPr id="5" name="图形 4">
            <a:extLst>
              <a:ext uri="{FF2B5EF4-FFF2-40B4-BE49-F238E27FC236}">
                <a16:creationId xmlns:a16="http://schemas.microsoft.com/office/drawing/2014/main" id="{6C7CCF83-7849-49EE-B0DB-FF25839F9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78364" y="619481"/>
            <a:ext cx="1035840" cy="1035840"/>
          </a:xfrm>
          <a:prstGeom prst="rect">
            <a:avLst/>
          </a:prstGeom>
        </p:spPr>
      </p:pic>
      <p:sp>
        <p:nvSpPr>
          <p:cNvPr id="20" name="文本框 19">
            <a:extLst>
              <a:ext uri="{FF2B5EF4-FFF2-40B4-BE49-F238E27FC236}">
                <a16:creationId xmlns:a16="http://schemas.microsoft.com/office/drawing/2014/main" id="{A7F110EE-E5C3-413D-B6CC-0B0D7B453204}"/>
              </a:ext>
            </a:extLst>
          </p:cNvPr>
          <p:cNvSpPr txBox="1"/>
          <p:nvPr/>
        </p:nvSpPr>
        <p:spPr>
          <a:xfrm>
            <a:off x="5043700" y="729426"/>
            <a:ext cx="4193721" cy="830997"/>
          </a:xfrm>
          <a:prstGeom prst="rect">
            <a:avLst/>
          </a:prstGeom>
        </p:spPr>
        <p:txBody>
          <a:bodyPr wrap="square">
            <a:spAutoFit/>
          </a:bodyPr>
          <a:lstStyle/>
          <a:p>
            <a:pPr algn="just" defTabSz="266700">
              <a:buClr>
                <a:schemeClr val="accent1"/>
              </a:buClr>
            </a:pPr>
            <a:r>
              <a:rPr lang="zh-CN" altLang="en-US" sz="1600" b="1" dirty="0">
                <a:solidFill>
                  <a:schemeClr val="accent1"/>
                </a:solidFill>
                <a:latin typeface="楷体" panose="02010609060101010101" pitchFamily="49" charset="-122"/>
                <a:ea typeface="楷体" panose="02010609060101010101" pitchFamily="49" charset="-122"/>
                <a:cs typeface="楷体" panose="02010609060101010101" pitchFamily="49" charset="-122"/>
              </a:rPr>
              <a:t>经典记账方案：</a:t>
            </a:r>
            <a:endParaRPr lang="en-US" altLang="zh-CN" sz="1600"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1. </a:t>
            </a:r>
            <a:r>
              <a:rPr lang="zh-CN" altLang="en-US" sz="1600" dirty="0">
                <a:latin typeface="楷体" panose="02010609060101010101" pitchFamily="49" charset="-122"/>
                <a:ea typeface="楷体" panose="02010609060101010101" pitchFamily="49" charset="-122"/>
                <a:cs typeface="楷体" panose="02010609060101010101" pitchFamily="49" charset="-122"/>
              </a:rPr>
              <a:t>爱丽丝资产余额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a:t>
            </a: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鲍勃资产余额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 </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4" name="矩形 33">
            <a:extLst>
              <a:ext uri="{FF2B5EF4-FFF2-40B4-BE49-F238E27FC236}">
                <a16:creationId xmlns:a16="http://schemas.microsoft.com/office/drawing/2014/main" id="{F67DFBC5-A84A-4021-8368-458622FFC394}"/>
              </a:ext>
            </a:extLst>
          </p:cNvPr>
          <p:cNvSpPr/>
          <p:nvPr/>
        </p:nvSpPr>
        <p:spPr>
          <a:xfrm>
            <a:off x="5043700" y="1756612"/>
            <a:ext cx="4021641" cy="1165541"/>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DFF84836-7CB3-4CAD-8346-D18EE71C3FE5}"/>
              </a:ext>
            </a:extLst>
          </p:cNvPr>
          <p:cNvSpPr txBox="1"/>
          <p:nvPr/>
        </p:nvSpPr>
        <p:spPr>
          <a:xfrm>
            <a:off x="6416450" y="2094940"/>
            <a:ext cx="1448219" cy="615553"/>
          </a:xfrm>
          <a:prstGeom prst="rect">
            <a:avLst/>
          </a:prstGeom>
          <a:noFill/>
        </p:spPr>
        <p:txBody>
          <a:bodyPr wrap="square">
            <a:spAutoFit/>
          </a:bodyPr>
          <a:lstStyle/>
          <a:p>
            <a:pPr algn="just" defTabSz="266700">
              <a:buClr>
                <a:schemeClr val="accent1"/>
              </a:buClr>
            </a:pPr>
            <a:r>
              <a:rPr lang="zh-CN" altLang="en-US" sz="1600" b="1" dirty="0">
                <a:solidFill>
                  <a:srgbClr val="FF0000"/>
                </a:solidFill>
                <a:latin typeface="楷体" panose="02010609060101010101" pitchFamily="49" charset="-122"/>
                <a:ea typeface="楷体" panose="02010609060101010101" pitchFamily="49" charset="-122"/>
                <a:cs typeface="楷体" panose="02010609060101010101" pitchFamily="49" charset="-122"/>
              </a:rPr>
              <a:t>如何解决？</a:t>
            </a:r>
            <a:endPar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Tree>
    <p:extLst>
      <p:ext uri="{BB962C8B-B14F-4D97-AF65-F5344CB8AC3E}">
        <p14:creationId xmlns:p14="http://schemas.microsoft.com/office/powerpoint/2010/main" val="754154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2"/>
          <a:stretch>
            <a:fillRect/>
          </a:stretch>
        </p:blipFill>
        <p:spPr>
          <a:xfrm flipH="1">
            <a:off x="5284418" y="2002121"/>
            <a:ext cx="2005753" cy="2101867"/>
          </a:xfrm>
          <a:prstGeom prst="rect">
            <a:avLst/>
          </a:prstGeom>
        </p:spPr>
      </p:pic>
      <p:sp>
        <p:nvSpPr>
          <p:cNvPr id="2" name="矩形 1">
            <a:extLst>
              <a:ext uri="{FF2B5EF4-FFF2-40B4-BE49-F238E27FC236}">
                <a16:creationId xmlns:a16="http://schemas.microsoft.com/office/drawing/2014/main" id="{42C9372E-4E1A-49FD-8C5C-4A6C9D5D83E7}"/>
              </a:ext>
            </a:extLst>
          </p:cNvPr>
          <p:cNvSpPr/>
          <p:nvPr/>
        </p:nvSpPr>
        <p:spPr>
          <a:xfrm>
            <a:off x="5043700" y="729426"/>
            <a:ext cx="4021641" cy="83099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4F94A7D-D959-4650-9A33-40A629BEEF5B}"/>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10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3"/>
          <a:stretch>
            <a:fillRect/>
          </a:stretch>
        </p:blipFill>
        <p:spPr>
          <a:xfrm>
            <a:off x="1615345" y="2028341"/>
            <a:ext cx="2356273" cy="1915812"/>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694596"/>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3844839" y="304026"/>
            <a:ext cx="1680890"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可信第三方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963078"/>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926889"/>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pic>
        <p:nvPicPr>
          <p:cNvPr id="5" name="图形 4">
            <a:extLst>
              <a:ext uri="{FF2B5EF4-FFF2-40B4-BE49-F238E27FC236}">
                <a16:creationId xmlns:a16="http://schemas.microsoft.com/office/drawing/2014/main" id="{6C7CCF83-7849-49EE-B0DB-FF25839F9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78364" y="619481"/>
            <a:ext cx="1035840" cy="1035840"/>
          </a:xfrm>
          <a:prstGeom prst="rect">
            <a:avLst/>
          </a:prstGeom>
        </p:spPr>
      </p:pic>
      <p:sp>
        <p:nvSpPr>
          <p:cNvPr id="20" name="文本框 19">
            <a:extLst>
              <a:ext uri="{FF2B5EF4-FFF2-40B4-BE49-F238E27FC236}">
                <a16:creationId xmlns:a16="http://schemas.microsoft.com/office/drawing/2014/main" id="{A7F110EE-E5C3-413D-B6CC-0B0D7B453204}"/>
              </a:ext>
            </a:extLst>
          </p:cNvPr>
          <p:cNvSpPr txBox="1"/>
          <p:nvPr/>
        </p:nvSpPr>
        <p:spPr>
          <a:xfrm>
            <a:off x="5043700" y="729426"/>
            <a:ext cx="4193721" cy="830997"/>
          </a:xfrm>
          <a:prstGeom prst="rect">
            <a:avLst/>
          </a:prstGeom>
        </p:spPr>
        <p:txBody>
          <a:bodyPr wrap="square">
            <a:spAutoFit/>
          </a:bodyPr>
          <a:lstStyle/>
          <a:p>
            <a:pPr algn="just" defTabSz="266700">
              <a:buClr>
                <a:schemeClr val="accent1"/>
              </a:buClr>
            </a:pPr>
            <a:r>
              <a:rPr lang="zh-CN" altLang="en-US" sz="1600" b="1" dirty="0">
                <a:solidFill>
                  <a:schemeClr val="accent1"/>
                </a:solidFill>
                <a:latin typeface="楷体" panose="02010609060101010101" pitchFamily="49" charset="-122"/>
                <a:ea typeface="楷体" panose="02010609060101010101" pitchFamily="49" charset="-122"/>
                <a:cs typeface="楷体" panose="02010609060101010101" pitchFamily="49" charset="-122"/>
              </a:rPr>
              <a:t>经典记账方案：</a:t>
            </a:r>
            <a:endParaRPr lang="en-US" altLang="zh-CN" sz="1600"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1. </a:t>
            </a:r>
            <a:r>
              <a:rPr lang="zh-CN" altLang="en-US" sz="1600" dirty="0">
                <a:latin typeface="楷体" panose="02010609060101010101" pitchFamily="49" charset="-122"/>
                <a:ea typeface="楷体" panose="02010609060101010101" pitchFamily="49" charset="-122"/>
                <a:cs typeface="楷体" panose="02010609060101010101" pitchFamily="49" charset="-122"/>
              </a:rPr>
              <a:t>爱丽丝资产余额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a:t>
            </a: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鲍勃资产余额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 </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28" name="矩形 27">
            <a:extLst>
              <a:ext uri="{FF2B5EF4-FFF2-40B4-BE49-F238E27FC236}">
                <a16:creationId xmlns:a16="http://schemas.microsoft.com/office/drawing/2014/main" id="{4638CB14-707C-42B8-9820-66B01F75455F}"/>
              </a:ext>
            </a:extLst>
          </p:cNvPr>
          <p:cNvSpPr/>
          <p:nvPr/>
        </p:nvSpPr>
        <p:spPr>
          <a:xfrm>
            <a:off x="5043700" y="1756612"/>
            <a:ext cx="4021641" cy="1165541"/>
          </a:xfrm>
          <a:prstGeom prst="rect">
            <a:avLst/>
          </a:prstGeom>
          <a:solidFill>
            <a:schemeClr val="accent5">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DC97E9A4-A0ED-4B26-8F9B-499CCDA6B0E6}"/>
              </a:ext>
            </a:extLst>
          </p:cNvPr>
          <p:cNvSpPr txBox="1"/>
          <p:nvPr/>
        </p:nvSpPr>
        <p:spPr>
          <a:xfrm>
            <a:off x="6546005" y="2105036"/>
            <a:ext cx="1448219" cy="615553"/>
          </a:xfrm>
          <a:prstGeom prst="rect">
            <a:avLst/>
          </a:prstGeom>
          <a:noFill/>
        </p:spPr>
        <p:txBody>
          <a:bodyPr wrap="square">
            <a:spAutoFit/>
          </a:bodyPr>
          <a:lstStyle/>
          <a:p>
            <a:pPr algn="just" defTabSz="266700">
              <a:buClr>
                <a:schemeClr val="accent1"/>
              </a:buClr>
            </a:pPr>
            <a:r>
              <a:rPr lang="zh-CN" altLang="en-US" sz="1600" b="1" dirty="0">
                <a:solidFill>
                  <a:srgbClr val="FF0000"/>
                </a:solidFill>
                <a:latin typeface="楷体" panose="02010609060101010101" pitchFamily="49" charset="-122"/>
                <a:ea typeface="楷体" panose="02010609060101010101" pitchFamily="49" charset="-122"/>
                <a:cs typeface="楷体" panose="02010609060101010101" pitchFamily="49" charset="-122"/>
              </a:rPr>
              <a:t>区块链！</a:t>
            </a:r>
            <a:endPar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Tree>
    <p:extLst>
      <p:ext uri="{BB962C8B-B14F-4D97-AF65-F5344CB8AC3E}">
        <p14:creationId xmlns:p14="http://schemas.microsoft.com/office/powerpoint/2010/main" val="2650507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16" name="文本框 15">
            <a:extLst>
              <a:ext uri="{FF2B5EF4-FFF2-40B4-BE49-F238E27FC236}">
                <a16:creationId xmlns:a16="http://schemas.microsoft.com/office/drawing/2014/main" id="{8036B240-92F5-4DA1-9BF0-89EB8BC5F37D}"/>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17" name="文本框 16">
            <a:extLst>
              <a:ext uri="{FF2B5EF4-FFF2-40B4-BE49-F238E27FC236}">
                <a16:creationId xmlns:a16="http://schemas.microsoft.com/office/drawing/2014/main" id="{C2989281-CB5C-4DA6-9849-B5A2AED6843F}"/>
              </a:ext>
            </a:extLst>
          </p:cNvPr>
          <p:cNvSpPr txBox="1"/>
          <p:nvPr/>
        </p:nvSpPr>
        <p:spPr>
          <a:xfrm>
            <a:off x="465455" y="1354656"/>
            <a:ext cx="7710805" cy="221599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b="1" dirty="0">
                <a:solidFill>
                  <a:schemeClr val="accent1"/>
                </a:solidFill>
                <a:latin typeface="楷体" panose="02010609060101010101" charset="-122"/>
                <a:ea typeface="楷体" panose="02010609060101010101" charset="-122"/>
                <a:cs typeface="楷体" panose="02010609060101010101" charset="-122"/>
              </a:rPr>
              <a:t>定义</a:t>
            </a:r>
            <a:r>
              <a:rPr lang="zh-CN" altLang="en-US" dirty="0">
                <a:latin typeface="楷体" panose="02010609060101010101" charset="-122"/>
                <a:ea typeface="楷体" panose="02010609060101010101" charset="-122"/>
                <a:cs typeface="楷体" panose="02010609060101010101" charset="-122"/>
              </a:rPr>
              <a:t>：区块链是一种</a:t>
            </a:r>
            <a:r>
              <a:rPr lang="zh-CN" altLang="en-US" b="1" dirty="0">
                <a:solidFill>
                  <a:schemeClr val="accent1"/>
                </a:solidFill>
                <a:latin typeface="楷体" panose="02010609060101010101" charset="-122"/>
                <a:ea typeface="楷体" panose="02010609060101010101" charset="-122"/>
                <a:cs typeface="楷体" panose="02010609060101010101" charset="-122"/>
              </a:rPr>
              <a:t>分布式账本技术</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Distributed Ledger Technology</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是一种多节点所组成的网络上进行电子数据复制、共享及同步的共识，并不存在中心化的数据存储。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历史：区块链技术，在比特币白皮书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Bitcoin: A Peer-to-Peer Electronic Cash System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一文中，被化名为</a:t>
            </a:r>
            <a:r>
              <a:rPr lang="zh-CN" altLang="en-US" b="1" dirty="0">
                <a:solidFill>
                  <a:schemeClr val="accent1"/>
                </a:solidFill>
                <a:latin typeface="楷体" panose="02010609060101010101" charset="-122"/>
                <a:ea typeface="楷体" panose="02010609060101010101" charset="-122"/>
                <a:cs typeface="楷体" panose="02010609060101010101" charset="-122"/>
              </a:rPr>
              <a:t>中本聪</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Satoshi Nakamoto</a:t>
            </a:r>
            <a:r>
              <a:rPr lang="zh-CN" altLang="en-US" dirty="0">
                <a:latin typeface="楷体" panose="02010609060101010101" charset="-122"/>
                <a:ea typeface="楷体" panose="02010609060101010101" charset="-122"/>
                <a:cs typeface="楷体" panose="02010609060101010101" charset="-122"/>
              </a:rPr>
              <a:t>，音译，也称中本哲史）的作者所提出。</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Tree>
    <p:extLst>
      <p:ext uri="{BB962C8B-B14F-4D97-AF65-F5344CB8AC3E}">
        <p14:creationId xmlns:p14="http://schemas.microsoft.com/office/powerpoint/2010/main" val="3032212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8346" y="1745465"/>
            <a:ext cx="7710805" cy="64633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b="1" dirty="0">
                <a:solidFill>
                  <a:schemeClr val="accent1"/>
                </a:solidFill>
                <a:latin typeface="楷体" panose="02010609060101010101" charset="-122"/>
                <a:ea typeface="楷体" panose="02010609060101010101" charset="-122"/>
                <a:cs typeface="楷体" panose="02010609060101010101" charset="-122"/>
              </a:rPr>
              <a:t>提交一份课程论文</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计算机技术前沿技术报告</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该课程总共</a:t>
            </a:r>
            <a:r>
              <a:rPr lang="en-US" altLang="zh-CN" dirty="0">
                <a:latin typeface="楷体" panose="02010609060101010101" charset="-122"/>
                <a:ea typeface="楷体" panose="02010609060101010101" charset="-122"/>
                <a:cs typeface="楷体" panose="02010609060101010101" charset="-122"/>
              </a:rPr>
              <a:t>4</a:t>
            </a:r>
            <a:r>
              <a:rPr lang="zh-CN" altLang="en-US" dirty="0">
                <a:latin typeface="楷体" panose="02010609060101010101" charset="-122"/>
                <a:ea typeface="楷体" panose="02010609060101010101" charset="-122"/>
                <a:cs typeface="楷体" panose="02010609060101010101" charset="-122"/>
              </a:rPr>
              <a:t>名老师，所有课程结束后，学生提交一份听课报告（不少于</a:t>
            </a:r>
            <a:r>
              <a:rPr lang="en-US" altLang="zh-CN" dirty="0">
                <a:latin typeface="楷体" panose="02010609060101010101" charset="-122"/>
                <a:ea typeface="楷体" panose="02010609060101010101" charset="-122"/>
                <a:cs typeface="楷体" panose="02010609060101010101" charset="-122"/>
              </a:rPr>
              <a:t>1200</a:t>
            </a:r>
            <a:r>
              <a:rPr lang="zh-CN" altLang="en-US" dirty="0">
                <a:latin typeface="楷体" panose="02010609060101010101" charset="-122"/>
                <a:ea typeface="楷体" panose="02010609060101010101" charset="-122"/>
                <a:cs typeface="楷体" panose="02010609060101010101" charset="-122"/>
              </a:rPr>
              <a:t>字）。</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考核方式</a:t>
            </a:r>
          </a:p>
        </p:txBody>
      </p:sp>
      <p:sp>
        <p:nvSpPr>
          <p:cNvPr id="20" name="文本框 19">
            <a:extLst>
              <a:ext uri="{FF2B5EF4-FFF2-40B4-BE49-F238E27FC236}">
                <a16:creationId xmlns:a16="http://schemas.microsoft.com/office/drawing/2014/main" id="{3B8876A8-641C-4028-9A46-36EFF3320198}"/>
              </a:ext>
            </a:extLst>
          </p:cNvPr>
          <p:cNvSpPr txBox="1"/>
          <p:nvPr/>
        </p:nvSpPr>
        <p:spPr>
          <a:xfrm>
            <a:off x="748347" y="2349927"/>
            <a:ext cx="8395653" cy="36933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1800" b="1" dirty="0">
                <a:solidFill>
                  <a:schemeClr val="accent1"/>
                </a:solidFill>
                <a:latin typeface="楷体" panose="02010609060101010101" charset="-122"/>
                <a:ea typeface="楷体" panose="02010609060101010101" charset="-122"/>
                <a:cs typeface="楷体" panose="02010609060101010101" charset="-122"/>
              </a:rPr>
              <a:t>提交链接</a:t>
            </a:r>
            <a:r>
              <a:rPr lang="zh-CN" altLang="en-US" sz="1800" dirty="0">
                <a:latin typeface="楷体" panose="02010609060101010101" charset="-122"/>
                <a:ea typeface="楷体" panose="02010609060101010101" charset="-122"/>
                <a:cs typeface="楷体" panose="02010609060101010101" charset="-122"/>
              </a:rPr>
              <a:t>：</a:t>
            </a:r>
            <a:r>
              <a:rPr lang="en-US" altLang="zh-CN" sz="1600" dirty="0">
                <a:latin typeface="Times New Roman" panose="02020603050405020304" pitchFamily="18" charset="0"/>
                <a:ea typeface="楷体" panose="02010609060101010101" charset="-122"/>
                <a:cs typeface="Times New Roman" panose="02020603050405020304" pitchFamily="18" charset="0"/>
              </a:rPr>
              <a:t>https://pan.hqu.edu.cn/collection/6adeaef1e724df311959db2d8cfb34f8</a:t>
            </a:r>
            <a:endParaRPr lang="zh-CN" altLang="en-US" sz="1800" dirty="0">
              <a:latin typeface="Times New Roman" panose="02020603050405020304" pitchFamily="18" charset="0"/>
              <a:ea typeface="楷体" panose="02010609060101010101" charset="-122"/>
              <a:cs typeface="Times New Roman" panose="02020603050405020304" pitchFamily="18" charset="0"/>
            </a:endParaRPr>
          </a:p>
        </p:txBody>
      </p:sp>
      <p:sp>
        <p:nvSpPr>
          <p:cNvPr id="15" name="矩形: 圆角 14">
            <a:extLst>
              <a:ext uri="{FF2B5EF4-FFF2-40B4-BE49-F238E27FC236}">
                <a16:creationId xmlns:a16="http://schemas.microsoft.com/office/drawing/2014/main" id="{26B3C459-52EC-49AD-A27A-A3E843CCAA2C}"/>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BE08B2B5-09A2-4D0B-B91A-47F37DB14C5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83FE362-2E2B-4EAC-8A17-B17374038D13}"/>
              </a:ext>
            </a:extLst>
          </p:cNvPr>
          <p:cNvSpPr txBox="1"/>
          <p:nvPr/>
        </p:nvSpPr>
        <p:spPr>
          <a:xfrm>
            <a:off x="1660721" y="4826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A78B846-59B9-4E43-920F-BAD2BF8C861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2BB1E132-4E13-4901-8603-D5620EFD464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1" name="TextBox 11">
            <a:extLst>
              <a:ext uri="{FF2B5EF4-FFF2-40B4-BE49-F238E27FC236}">
                <a16:creationId xmlns:a16="http://schemas.microsoft.com/office/drawing/2014/main" id="{FC3CD3A1-34B3-4F1F-B0B6-9E42349F6D83}"/>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2" name="矩形 21">
            <a:extLst>
              <a:ext uri="{FF2B5EF4-FFF2-40B4-BE49-F238E27FC236}">
                <a16:creationId xmlns:a16="http://schemas.microsoft.com/office/drawing/2014/main" id="{93B3D282-C86F-472A-8B2D-6A7EF354C31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9941517E-9793-42AA-8F6F-6C1C596B5B08}"/>
              </a:ext>
            </a:extLst>
          </p:cNvPr>
          <p:cNvSpPr txBox="1"/>
          <p:nvPr/>
        </p:nvSpPr>
        <p:spPr>
          <a:xfrm>
            <a:off x="13185" y="4521803"/>
            <a:ext cx="4185104" cy="523220"/>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采用阶段划分的区块链系统性能分析与优化</a:t>
            </a:r>
          </a:p>
          <a:p>
            <a:endParaRPr lang="zh-CN" altLang="en-US" sz="1400" dirty="0">
              <a:solidFill>
                <a:srgbClr val="FFC5C5"/>
              </a:solidFill>
              <a:latin typeface="楷体" panose="02010609060101010101" charset="-122"/>
              <a:ea typeface="楷体" panose="02010609060101010101" charset="-122"/>
            </a:endParaRPr>
          </a:p>
        </p:txBody>
      </p:sp>
      <p:sp>
        <p:nvSpPr>
          <p:cNvPr id="24" name="灯片编号占位符 7">
            <a:extLst>
              <a:ext uri="{FF2B5EF4-FFF2-40B4-BE49-F238E27FC236}">
                <a16:creationId xmlns:a16="http://schemas.microsoft.com/office/drawing/2014/main" id="{6D33739A-BFF0-4D26-9F7A-0CD4190D6F8C}"/>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 name="图片 1">
            <a:extLst>
              <a:ext uri="{FF2B5EF4-FFF2-40B4-BE49-F238E27FC236}">
                <a16:creationId xmlns:a16="http://schemas.microsoft.com/office/drawing/2014/main" id="{95B8E7EC-AA8E-4056-9D1A-FB621C24A3E4}"/>
              </a:ext>
            </a:extLst>
          </p:cNvPr>
          <p:cNvPicPr>
            <a:picLocks noChangeAspect="1"/>
          </p:cNvPicPr>
          <p:nvPr/>
        </p:nvPicPr>
        <p:blipFill>
          <a:blip r:embed="rId3"/>
          <a:stretch>
            <a:fillRect/>
          </a:stretch>
        </p:blipFill>
        <p:spPr>
          <a:xfrm>
            <a:off x="1432120" y="3005564"/>
            <a:ext cx="5667414" cy="1329985"/>
          </a:xfrm>
          <a:prstGeom prst="rect">
            <a:avLst/>
          </a:prstGeom>
        </p:spPr>
      </p:pic>
      <p:pic>
        <p:nvPicPr>
          <p:cNvPr id="5" name="图片 4">
            <a:extLst>
              <a:ext uri="{FF2B5EF4-FFF2-40B4-BE49-F238E27FC236}">
                <a16:creationId xmlns:a16="http://schemas.microsoft.com/office/drawing/2014/main" id="{F88ADA1F-BD6B-4B1F-8390-FAB0967EBC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70791" y="2848323"/>
            <a:ext cx="1581439" cy="1857357"/>
          </a:xfrm>
          <a:prstGeom prst="rect">
            <a:avLst/>
          </a:prstGeom>
        </p:spPr>
      </p:pic>
      <p:sp>
        <p:nvSpPr>
          <p:cNvPr id="6" name="矩形 5">
            <a:extLst>
              <a:ext uri="{FF2B5EF4-FFF2-40B4-BE49-F238E27FC236}">
                <a16:creationId xmlns:a16="http://schemas.microsoft.com/office/drawing/2014/main" id="{E54E97D3-2CF2-45B8-8BC4-990BEB5B1944}"/>
              </a:ext>
            </a:extLst>
          </p:cNvPr>
          <p:cNvSpPr/>
          <p:nvPr/>
        </p:nvSpPr>
        <p:spPr>
          <a:xfrm>
            <a:off x="1432120" y="3510040"/>
            <a:ext cx="5667415" cy="2509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82230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区块链技术，自从在比特币白皮书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Bitcoin: A Peer-to-Peer Electronic Cash System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一文中被化名为</a:t>
            </a:r>
            <a:r>
              <a:rPr lang="zh-CN" altLang="en-US" b="1" dirty="0">
                <a:solidFill>
                  <a:schemeClr val="accent1"/>
                </a:solidFill>
                <a:latin typeface="楷体" panose="02010609060101010101" charset="-122"/>
                <a:ea typeface="楷体" panose="02010609060101010101" charset="-122"/>
                <a:cs typeface="楷体" panose="02010609060101010101" charset="-122"/>
              </a:rPr>
              <a:t>中本聪</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Satoshi Nakamoto</a:t>
            </a:r>
            <a:r>
              <a:rPr lang="zh-CN" altLang="en-US" dirty="0">
                <a:latin typeface="楷体" panose="02010609060101010101" charset="-122"/>
                <a:ea typeface="楷体" panose="02010609060101010101" charset="-122"/>
                <a:cs typeface="楷体" panose="02010609060101010101" charset="-122"/>
              </a:rPr>
              <a:t>，音译，也称中本哲史）的作者提出以来，区块链技术就受到许多关注与争议。</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加密货币的火热为区块链带来更多关注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近年来，随着比特币、以太坊等加密货币的火热，区块链技术在全球范围内得到越来越多地关注。</a:t>
            </a:r>
            <a:r>
              <a:rPr lang="en-US" altLang="zh-CN" dirty="0">
                <a:latin typeface="楷体" panose="02010609060101010101" charset="-122"/>
                <a:ea typeface="楷体" panose="02010609060101010101" charset="-122"/>
                <a:cs typeface="楷体" panose="02010609060101010101" charset="-122"/>
              </a:rPr>
              <a:t>2019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24</a:t>
            </a:r>
            <a:r>
              <a:rPr lang="zh-CN" altLang="en-US" dirty="0">
                <a:latin typeface="楷体" panose="02010609060101010101" charset="-122"/>
                <a:ea typeface="楷体" panose="02010609060101010101" charset="-122"/>
                <a:cs typeface="楷体" panose="02010609060101010101" charset="-122"/>
              </a:rPr>
              <a:t>日，中共中央政治局就区块链技术发展现状和趋势进行第十八次集体学习，此后，区块链技术更是吸引了举国上下的目光。</a:t>
            </a:r>
            <a:r>
              <a:rPr lang="zh-CN" altLang="en-US" b="1" dirty="0">
                <a:solidFill>
                  <a:schemeClr val="accent1"/>
                </a:solidFill>
                <a:latin typeface="楷体" panose="02010609060101010101" charset="-122"/>
                <a:ea typeface="楷体" panose="02010609060101010101" charset="-122"/>
                <a:cs typeface="楷体" panose="02010609060101010101" charset="-122"/>
              </a:rPr>
              <a:t>区块链技术目前已经应用于多个领域</a:t>
            </a:r>
            <a:r>
              <a:rPr lang="zh-CN" altLang="en-US" dirty="0">
                <a:latin typeface="楷体" panose="02010609060101010101" charset="-122"/>
                <a:ea typeface="楷体" panose="02010609060101010101" charset="-122"/>
                <a:cs typeface="楷体" panose="02010609060101010101" charset="-122"/>
              </a:rPr>
              <a:t>，例如金融、物流、食品安全等。</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背景</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278516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181588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区块链的出现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中本聪在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一文中，并未给出“区块链”的具体定义，只是提出了一种基于哈希证明的链式区块结构，即被人称之为“区块链”的数据结构。</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a:t>
            </a:r>
          </a:p>
        </p:txBody>
      </p:sp>
      <p:sp>
        <p:nvSpPr>
          <p:cNvPr id="39" name="矩形: 圆角 38">
            <a:extLst>
              <a:ext uri="{FF2B5EF4-FFF2-40B4-BE49-F238E27FC236}">
                <a16:creationId xmlns:a16="http://schemas.microsoft.com/office/drawing/2014/main" id="{482F8E17-F868-4F30-84C5-49244D022A2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710A3018-7E04-47E9-805B-B04E78EC7DF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Box 7">
            <a:extLst>
              <a:ext uri="{FF2B5EF4-FFF2-40B4-BE49-F238E27FC236}">
                <a16:creationId xmlns:a16="http://schemas.microsoft.com/office/drawing/2014/main" id="{BAF51BCB-0B25-45BC-9EC3-8561FF381A0A}"/>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42" name="TextBox 9">
            <a:extLst>
              <a:ext uri="{FF2B5EF4-FFF2-40B4-BE49-F238E27FC236}">
                <a16:creationId xmlns:a16="http://schemas.microsoft.com/office/drawing/2014/main" id="{D001FABF-2B0E-4A2C-A737-3903EC06303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43" name="TextBox 10">
            <a:extLst>
              <a:ext uri="{FF2B5EF4-FFF2-40B4-BE49-F238E27FC236}">
                <a16:creationId xmlns:a16="http://schemas.microsoft.com/office/drawing/2014/main" id="{2D18FB2D-5BE9-4D52-84B1-D066A730878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44" name="TextBox 11">
            <a:extLst>
              <a:ext uri="{FF2B5EF4-FFF2-40B4-BE49-F238E27FC236}">
                <a16:creationId xmlns:a16="http://schemas.microsoft.com/office/drawing/2014/main" id="{A36A404C-4A6E-4F6D-B536-601714B564F5}"/>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5" name="矩形 44">
            <a:extLst>
              <a:ext uri="{FF2B5EF4-FFF2-40B4-BE49-F238E27FC236}">
                <a16:creationId xmlns:a16="http://schemas.microsoft.com/office/drawing/2014/main" id="{99F33CE1-192D-4F80-878B-D2F89F31ABA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B850515E-C351-40C1-9C5D-7B1FAD26E0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47" name="灯片编号占位符 7">
            <a:extLst>
              <a:ext uri="{FF2B5EF4-FFF2-40B4-BE49-F238E27FC236}">
                <a16:creationId xmlns:a16="http://schemas.microsoft.com/office/drawing/2014/main" id="{B9C7172E-4DAA-4540-8A68-F5254D4AD98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256397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区块链的定义</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狭义上</a:t>
            </a:r>
            <a:r>
              <a:rPr lang="zh-CN" altLang="en-US" dirty="0">
                <a:latin typeface="楷体" panose="02010609060101010101" charset="-122"/>
                <a:ea typeface="楷体" panose="02010609060101010101" charset="-122"/>
                <a:cs typeface="楷体" panose="02010609060101010101" charset="-122"/>
              </a:rPr>
              <a:t>来讲，根据工业和信息化部</a:t>
            </a:r>
            <a:r>
              <a:rPr lang="en-US" altLang="zh-CN" dirty="0">
                <a:latin typeface="楷体" panose="02010609060101010101" charset="-122"/>
                <a:ea typeface="楷体" panose="02010609060101010101" charset="-122"/>
                <a:cs typeface="楷体" panose="02010609060101010101" charset="-122"/>
              </a:rPr>
              <a:t>2016</a:t>
            </a:r>
            <a:r>
              <a:rPr lang="zh-CN" altLang="en-US" dirty="0">
                <a:latin typeface="楷体" panose="02010609060101010101" charset="-122"/>
                <a:ea typeface="楷体" panose="02010609060101010101" charset="-122"/>
                <a:cs typeface="楷体" panose="02010609060101010101" charset="-122"/>
              </a:rPr>
              <a:t>年发布的</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中国区块链技术和应用发展白皮书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所述，区块链技术是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一种按照时间顺序将数据区块以顺序相连的方式组合成链式数据结构</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广义上</a:t>
            </a:r>
            <a:r>
              <a:rPr lang="zh-CN" altLang="en-US" dirty="0">
                <a:latin typeface="楷体" panose="02010609060101010101" charset="-122"/>
                <a:ea typeface="楷体" panose="02010609060101010101" charset="-122"/>
                <a:cs typeface="楷体" panose="02010609060101010101" charset="-122"/>
              </a:rPr>
              <a:t>来讲，区块链技术是利用块链式数据结构来验证与存储数据、利用分布式节点共识算法来生成和更新数据、利用密码学方式保证数据传输和访问的安全、利用由自动化脚本代码组成的智能合约来编程和操作数据的</a:t>
            </a:r>
            <a:r>
              <a:rPr lang="zh-CN" altLang="en-US" b="1" dirty="0">
                <a:solidFill>
                  <a:schemeClr val="accent1"/>
                </a:solidFill>
                <a:latin typeface="楷体" panose="02010609060101010101" charset="-122"/>
                <a:ea typeface="楷体" panose="02010609060101010101" charset="-122"/>
                <a:cs typeface="楷体" panose="02010609060101010101" charset="-122"/>
              </a:rPr>
              <a:t>一种全新的分布式基础架构与计算范式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一般</a:t>
            </a:r>
            <a:r>
              <a:rPr lang="zh-CN" altLang="en-US" dirty="0">
                <a:latin typeface="楷体" panose="02010609060101010101" charset="-122"/>
                <a:ea typeface="楷体" panose="02010609060101010101" charset="-122"/>
                <a:cs typeface="楷体" panose="02010609060101010101" charset="-122"/>
              </a:rPr>
              <a:t>认为，区块链技术是伴随着以“比特币”为首的数字货币而出现的一项新兴技术，是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一种以密码学算法为基础的点对点分布式账本技术</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1A05090B-AFE4-43B8-B196-995F0C5651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4A50CD-4AD1-4DC5-B023-DC1A6BCCE0D6}"/>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61D44AF-C31F-47A7-8EBF-BBEAD66A61B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4B8FE41-6289-4ABC-9341-81BDF2AF3F2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E33E7EED-00CA-44F0-B001-810B8F757E8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08AF0A13-1675-4697-9360-7D8E6424A7C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0EE8FA0-6F5F-4E7E-A888-C1A75A72763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605E52A8-B128-433C-8630-1C644707594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3BBB12D-4561-4667-86F7-053A7BEA83D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568784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区块链的技术核心</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区块链技术首次从技术上</a:t>
            </a:r>
            <a:r>
              <a:rPr lang="zh-CN" altLang="en-US" b="1" dirty="0">
                <a:solidFill>
                  <a:schemeClr val="accent1"/>
                </a:solidFill>
                <a:latin typeface="楷体" panose="02010609060101010101" charset="-122"/>
                <a:ea typeface="楷体" panose="02010609060101010101" charset="-122"/>
                <a:cs typeface="楷体" panose="02010609060101010101" charset="-122"/>
              </a:rPr>
              <a:t>解决了中心化模型带来的信任问题</a:t>
            </a:r>
            <a:r>
              <a:rPr lang="zh-CN" altLang="en-US" dirty="0">
                <a:latin typeface="楷体" panose="02010609060101010101" charset="-122"/>
                <a:ea typeface="楷体" panose="02010609060101010101" charset="-122"/>
                <a:cs typeface="楷体" panose="02010609060101010101" charset="-122"/>
              </a:rPr>
              <a:t>，它基于密码学算法保证价值的安全转移，基于哈希链及时间戳机制保证数据的可追溯、不可篡改特性，基于共识算法保证节点间区块数据的一致性。区块链技术以其分布式、公开透明、安全等特性使得人们可以基于互联网方便快捷、低成本地进行价值交换，是实现价值互联网的基石。它可以在互不信任的环境中实现去信任中介的可信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与传统数据库技术相比，区块链技术具有</a:t>
            </a:r>
            <a:r>
              <a:rPr lang="zh-CN" altLang="en-US" b="1" dirty="0">
                <a:solidFill>
                  <a:schemeClr val="accent1"/>
                </a:solidFill>
                <a:latin typeface="楷体" panose="02010609060101010101" charset="-122"/>
                <a:ea typeface="楷体" panose="02010609060101010101" charset="-122"/>
                <a:cs typeface="楷体" panose="02010609060101010101" charset="-122"/>
              </a:rPr>
              <a:t>防伪造</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不可篡改</a:t>
            </a:r>
            <a:r>
              <a:rPr lang="zh-CN" altLang="en-US" dirty="0">
                <a:latin typeface="楷体" panose="02010609060101010101" charset="-122"/>
                <a:ea typeface="楷体" panose="02010609060101010101" charset="-122"/>
                <a:cs typeface="楷体" panose="02010609060101010101" charset="-122"/>
              </a:rPr>
              <a:t>以及能</a:t>
            </a:r>
            <a:r>
              <a:rPr lang="zh-CN" altLang="en-US" b="1" dirty="0">
                <a:solidFill>
                  <a:schemeClr val="accent1"/>
                </a:solidFill>
                <a:latin typeface="楷体" panose="02010609060101010101" charset="-122"/>
                <a:ea typeface="楷体" panose="02010609060101010101" charset="-122"/>
                <a:cs typeface="楷体" panose="02010609060101010101" charset="-122"/>
              </a:rPr>
              <a:t>方便实现智能合约</a:t>
            </a:r>
            <a:r>
              <a:rPr lang="zh-CN" altLang="en-US" dirty="0">
                <a:latin typeface="楷体" panose="02010609060101010101" charset="-122"/>
                <a:ea typeface="楷体" panose="02010609060101010101" charset="-122"/>
                <a:cs typeface="楷体" panose="02010609060101010101" charset="-122"/>
              </a:rPr>
              <a:t>等特点，被誉为一种将引发社会变革的新型技术。</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4D1646BB-D010-411D-B358-04848BDD54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1B6BCEB-7E9E-4CFF-B79C-39A2377A59A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5890E957-0AFE-4B5F-941E-D75F825E546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2EA30162-58F4-4586-BFEA-ACE9D179288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97CBD0E-CA30-47CC-B507-11DCEC0F196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12C486C-0B3C-40C4-A67D-1F4479B59E1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13E8F167-A90B-4597-A378-6363A3EDEA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328C26C5-F3F0-4DAC-9906-C516EA1F10F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085EA7A-F6C6-4155-B1B8-9D41B2E6911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142550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e-Cash</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1983</a:t>
            </a:r>
            <a:r>
              <a:rPr lang="zh-CN" altLang="en-US" dirty="0">
                <a:latin typeface="楷体" panose="02010609060101010101" charset="-122"/>
                <a:ea typeface="楷体" panose="02010609060101010101" charset="-122"/>
                <a:cs typeface="楷体" panose="02010609060101010101" charset="-122"/>
              </a:rPr>
              <a:t>年，数字货币先驱</a:t>
            </a:r>
            <a:r>
              <a:rPr lang="en-US" altLang="zh-CN" dirty="0">
                <a:latin typeface="Times New Roman" panose="02020603050405020304" pitchFamily="18" charset="0"/>
                <a:ea typeface="楷体" panose="02010609060101010101" charset="-122"/>
                <a:cs typeface="Times New Roman" panose="02020603050405020304" pitchFamily="18" charset="0"/>
              </a:rPr>
              <a:t>David </a:t>
            </a:r>
            <a:r>
              <a:rPr lang="en-US" altLang="zh-CN" dirty="0" err="1">
                <a:latin typeface="Times New Roman" panose="02020603050405020304" pitchFamily="18" charset="0"/>
                <a:ea typeface="楷体" panose="02010609060101010101" charset="-122"/>
                <a:cs typeface="Times New Roman" panose="02020603050405020304" pitchFamily="18" charset="0"/>
              </a:rPr>
              <a:t>Chaum</a:t>
            </a:r>
            <a:r>
              <a:rPr lang="zh-CN" altLang="en-US" dirty="0">
                <a:latin typeface="楷体" panose="02010609060101010101" charset="-122"/>
                <a:ea typeface="楷体" panose="02010609060101010101" charset="-122"/>
                <a:cs typeface="楷体" panose="02010609060101010101" charset="-122"/>
              </a:rPr>
              <a:t>在论文</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Blind Signatures for Untraceable Payments</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提出了基于盲签名技术（消息的内容在签名之前对签名者是不可见的）的</a:t>
            </a:r>
            <a:r>
              <a:rPr lang="en-US" altLang="zh-CN" dirty="0">
                <a:latin typeface="Times New Roman" panose="02020603050405020304" pitchFamily="18" charset="0"/>
                <a:ea typeface="楷体" panose="02010609060101010101" charset="-122"/>
                <a:cs typeface="Times New Roman" panose="02020603050405020304" pitchFamily="18" charset="0"/>
              </a:rPr>
              <a:t>e-Cash</a:t>
            </a:r>
            <a:r>
              <a:rPr lang="zh-CN" altLang="en-US" dirty="0">
                <a:latin typeface="楷体" panose="02010609060101010101" charset="-122"/>
                <a:ea typeface="楷体" panose="02010609060101010101" charset="-122"/>
                <a:cs typeface="楷体" panose="02010609060101010101" charset="-122"/>
              </a:rPr>
              <a:t>数字货币系统（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基于银行等可信第三方</a:t>
            </a:r>
            <a:r>
              <a:rPr lang="zh-CN" altLang="en-US" dirty="0">
                <a:latin typeface="楷体" panose="02010609060101010101" charset="-122"/>
                <a:ea typeface="楷体" panose="02010609060101010101" charset="-122"/>
                <a:cs typeface="楷体" panose="02010609060101010101" charset="-122"/>
              </a:rPr>
              <a:t>），该系统能够保持用户匿名并且难以被追踪。</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E-gold</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年，肿瘤学家</a:t>
            </a:r>
            <a:r>
              <a:rPr lang="en-US" altLang="zh-CN" dirty="0">
                <a:latin typeface="Times New Roman" panose="02020603050405020304" pitchFamily="18" charset="0"/>
                <a:ea typeface="楷体" panose="02010609060101010101" charset="-122"/>
                <a:cs typeface="Times New Roman" panose="02020603050405020304" pitchFamily="18" charset="0"/>
              </a:rPr>
              <a:t>Douglas Jackson</a:t>
            </a:r>
            <a:r>
              <a:rPr lang="zh-CN" altLang="en-US" dirty="0">
                <a:latin typeface="楷体" panose="02010609060101010101" charset="-122"/>
                <a:ea typeface="楷体" panose="02010609060101010101" charset="-122"/>
                <a:cs typeface="楷体" panose="02010609060101010101" charset="-122"/>
              </a:rPr>
              <a:t>和律师</a:t>
            </a:r>
            <a:r>
              <a:rPr lang="en-US" altLang="zh-CN" dirty="0">
                <a:latin typeface="Times New Roman" panose="02020603050405020304" pitchFamily="18" charset="0"/>
                <a:ea typeface="楷体" panose="02010609060101010101" charset="-122"/>
                <a:cs typeface="Times New Roman" panose="02020603050405020304" pitchFamily="18" charset="0"/>
              </a:rPr>
              <a:t>Barry Downey</a:t>
            </a:r>
            <a:r>
              <a:rPr lang="zh-CN" altLang="en-US" dirty="0">
                <a:latin typeface="楷体" panose="02010609060101010101" charset="-122"/>
                <a:ea typeface="楷体" panose="02010609060101010101" charset="-122"/>
                <a:cs typeface="楷体" panose="02010609060101010101" charset="-122"/>
              </a:rPr>
              <a:t>发明了</a:t>
            </a:r>
            <a:r>
              <a:rPr lang="en-US" altLang="zh-CN" dirty="0">
                <a:latin typeface="Times New Roman" panose="02020603050405020304" pitchFamily="18" charset="0"/>
                <a:ea typeface="楷体" panose="02010609060101010101" charset="-122"/>
                <a:cs typeface="Times New Roman" panose="02020603050405020304" pitchFamily="18" charset="0"/>
              </a:rPr>
              <a:t>e-gold</a:t>
            </a:r>
            <a:r>
              <a:rPr lang="zh-CN" altLang="en-US" dirty="0">
                <a:latin typeface="楷体" panose="02010609060101010101" charset="-122"/>
                <a:ea typeface="楷体" panose="02010609060101010101" charset="-122"/>
                <a:cs typeface="楷体" panose="02010609060101010101" charset="-122"/>
              </a:rPr>
              <a:t>，该电子货币通过金银作为</a:t>
            </a:r>
            <a:r>
              <a:rPr lang="zh-CN" altLang="en-US" b="1" dirty="0">
                <a:solidFill>
                  <a:schemeClr val="accent1"/>
                </a:solidFill>
                <a:latin typeface="楷体" panose="02010609060101010101" charset="-122"/>
                <a:ea typeface="楷体" panose="02010609060101010101" charset="-122"/>
                <a:cs typeface="楷体" panose="02010609060101010101" charset="-122"/>
              </a:rPr>
              <a:t>担保</a:t>
            </a:r>
            <a:r>
              <a:rPr lang="zh-CN" altLang="en-US" dirty="0">
                <a:latin typeface="楷体" panose="02010609060101010101" charset="-122"/>
                <a:ea typeface="楷体" panose="02010609060101010101" charset="-122"/>
                <a:cs typeface="楷体" panose="02010609060101010101" charset="-122"/>
              </a:rPr>
              <a:t>，用户能够完成瞬时转账等操作。</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a:t>
            </a:r>
          </a:p>
        </p:txBody>
      </p:sp>
      <p:sp>
        <p:nvSpPr>
          <p:cNvPr id="13" name="矩形: 圆角 12">
            <a:extLst>
              <a:ext uri="{FF2B5EF4-FFF2-40B4-BE49-F238E27FC236}">
                <a16:creationId xmlns:a16="http://schemas.microsoft.com/office/drawing/2014/main" id="{20007AAF-FFCB-4087-ABB4-DB14975E842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AD6180AE-C960-4E4D-BD6B-DE566B582B7B}"/>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DD35D7E-CA16-4EDE-B26F-AB28361CE0D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7F81850-3592-4BB4-BBB0-72C3401367E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AE7EBE1-CC51-4A2C-B61B-C6058BE191A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CB904885-F996-4AC8-8103-F4B437A2BE6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3D1C85D3-6FF4-4D56-B23A-D5DD763E593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96F1833-6AFE-482F-8059-288232666C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DC825AB-7DAF-48FA-B594-BF5A26D99F5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48929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1997</a:t>
            </a:r>
            <a:r>
              <a:rPr lang="zh-CN" altLang="en-US" dirty="0">
                <a:latin typeface="楷体" panose="02010609060101010101" charset="-122"/>
                <a:ea typeface="楷体" panose="02010609060101010101" charset="-122"/>
                <a:cs typeface="楷体" panose="02010609060101010101" charset="-122"/>
              </a:rPr>
              <a:t>年，密码学家</a:t>
            </a:r>
            <a:r>
              <a:rPr lang="en-US" altLang="zh-CN" dirty="0">
                <a:latin typeface="Times New Roman" panose="02020603050405020304" pitchFamily="18" charset="0"/>
                <a:ea typeface="楷体" panose="02010609060101010101" charset="-122"/>
                <a:cs typeface="Times New Roman" panose="02020603050405020304" pitchFamily="18" charset="0"/>
              </a:rPr>
              <a:t>Adam Back</a:t>
            </a:r>
            <a:r>
              <a:rPr lang="zh-CN" altLang="en-US" dirty="0">
                <a:latin typeface="楷体" panose="02010609060101010101" charset="-122"/>
                <a:ea typeface="楷体" panose="02010609060101010101" charset="-122"/>
                <a:cs typeface="楷体" panose="02010609060101010101" charset="-122"/>
              </a:rPr>
              <a:t>发明了</a:t>
            </a: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r>
              <a:rPr lang="zh-CN" altLang="en-US" dirty="0">
                <a:latin typeface="楷体" panose="02010609060101010101" charset="-122"/>
                <a:ea typeface="楷体" panose="02010609060101010101" charset="-122"/>
                <a:cs typeface="楷体" panose="02010609060101010101" charset="-122"/>
              </a:rPr>
              <a:t>系统用于限制垃圾邮件和</a:t>
            </a:r>
            <a:r>
              <a:rPr lang="en-US" altLang="zh-CN" dirty="0">
                <a:latin typeface="Times New Roman" panose="02020603050405020304" pitchFamily="18" charset="0"/>
                <a:ea typeface="楷体" panose="02010609060101010101" charset="-122"/>
                <a:cs typeface="Times New Roman" panose="02020603050405020304" pitchFamily="18" charset="0"/>
              </a:rPr>
              <a:t>Dos</a:t>
            </a:r>
            <a:r>
              <a:rPr lang="zh-CN" altLang="en-US" dirty="0">
                <a:latin typeface="楷体" panose="02010609060101010101" charset="-122"/>
                <a:ea typeface="楷体" panose="02010609060101010101" charset="-122"/>
                <a:cs typeface="楷体" panose="02010609060101010101" charset="-122"/>
              </a:rPr>
              <a:t>攻击，该系统中提出了</a:t>
            </a:r>
            <a:r>
              <a:rPr lang="zh-CN" altLang="en-US" b="1" dirty="0">
                <a:solidFill>
                  <a:schemeClr val="accent1"/>
                </a:solidFill>
                <a:latin typeface="楷体" panose="02010609060101010101" charset="-122"/>
                <a:ea typeface="楷体" panose="02010609060101010101" charset="-122"/>
                <a:cs typeface="楷体" panose="02010609060101010101" charset="-122"/>
              </a:rPr>
              <a:t>工作量证明机制</a:t>
            </a:r>
            <a:r>
              <a:rPr lang="zh-CN" altLang="en-US" dirty="0">
                <a:latin typeface="楷体" panose="02010609060101010101" charset="-122"/>
                <a:ea typeface="楷体" panose="02010609060101010101" charset="-122"/>
                <a:cs typeface="楷体" panose="02010609060101010101" charset="-122"/>
              </a:rPr>
              <a:t>来获取额度，而该机制也为后来的数字货币技术所采用。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B-money</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1998</a:t>
            </a:r>
            <a:r>
              <a:rPr lang="zh-CN" altLang="en-US" dirty="0">
                <a:latin typeface="楷体" panose="02010609060101010101" charset="-122"/>
                <a:ea typeface="楷体" panose="02010609060101010101" charset="-122"/>
                <a:cs typeface="楷体" panose="02010609060101010101" charset="-122"/>
              </a:rPr>
              <a:t>年，计算机工程师戴伟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Dai Wei</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提出了</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，和过去的数字货币的不同，这是首个完全不依赖于中心机构的匿名数字货币方案。在该方案中引入了工作量证明机制来解决如何发行数字货币这个问题，并且有一个初步的</a:t>
            </a:r>
            <a:r>
              <a:rPr lang="en-US" altLang="zh-CN" dirty="0">
                <a:latin typeface="Times New Roman" panose="02020603050405020304" pitchFamily="18" charset="0"/>
                <a:ea typeface="楷体" panose="02010609060101010101" charset="-122"/>
                <a:cs typeface="Times New Roman" panose="02020603050405020304" pitchFamily="18" charset="0"/>
              </a:rPr>
              <a:t>P2P</a:t>
            </a:r>
            <a:r>
              <a:rPr lang="zh-CN" altLang="en-US" dirty="0">
                <a:latin typeface="楷体" panose="02010609060101010101" charset="-122"/>
                <a:ea typeface="楷体" panose="02010609060101010101" charset="-122"/>
                <a:cs typeface="楷体" panose="02010609060101010101" charset="-122"/>
              </a:rPr>
              <a:t>网络结构来完成对交易信息的广播。</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中</a:t>
            </a:r>
            <a:r>
              <a:rPr lang="zh-CN" altLang="en-US" b="1" dirty="0">
                <a:solidFill>
                  <a:schemeClr val="accent1"/>
                </a:solidFill>
                <a:latin typeface="楷体" panose="02010609060101010101" charset="-122"/>
                <a:ea typeface="楷体" panose="02010609060101010101" charset="-122"/>
                <a:cs typeface="楷体" panose="02010609060101010101" charset="-122"/>
              </a:rPr>
              <a:t>没有解决货币的“双花”问题</a:t>
            </a:r>
            <a:r>
              <a:rPr lang="zh-CN" altLang="en-US" dirty="0">
                <a:latin typeface="楷体" panose="02010609060101010101" charset="-122"/>
                <a:ea typeface="楷体" panose="02010609060101010101" charset="-122"/>
                <a:cs typeface="楷体" panose="02010609060101010101" charset="-122"/>
              </a:rPr>
              <a:t>以及如何维护账本的安全，最终该方案也未能实现。</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C7C93BAA-9222-4B3A-9D6E-B7DD0BEB275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13AB72C-932F-40DB-9BA6-9F62712D473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D58C3EF-8AFA-4436-AEC3-99598CF2C9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B52B600-1E7D-4F99-8606-E7FB0D514DC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4349486-81BA-457B-BE44-67BB9EE09C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22ADA48-F72A-40B3-8498-5071927D23A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12C8CB1-99E5-45D9-8E51-C0229E9BA23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A9119FA7-933E-4E72-B936-6F1331E720D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7802904-3685-451A-A67B-DC91EDF3582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133110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49299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其他数字货币的尝试</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诸如</a:t>
            </a:r>
            <a:r>
              <a:rPr lang="en-US" altLang="zh-CN" dirty="0" err="1">
                <a:latin typeface="Times New Roman" panose="02020603050405020304" pitchFamily="18" charset="0"/>
                <a:ea typeface="楷体" panose="02010609060101010101" charset="-122"/>
                <a:cs typeface="Times New Roman" panose="02020603050405020304" pitchFamily="18" charset="0"/>
              </a:rPr>
              <a:t>WebMoney</a:t>
            </a:r>
            <a:r>
              <a:rPr lang="en-US" altLang="zh-CN" dirty="0">
                <a:latin typeface="Times New Roman" panose="02020603050405020304" pitchFamily="18" charset="0"/>
                <a:ea typeface="楷体" panose="02010609060101010101" charset="-122"/>
                <a:cs typeface="Times New Roman" panose="02020603050405020304" pitchFamily="18" charset="0"/>
              </a:rPr>
              <a:t>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Liberty Reserve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Perfect Money</a:t>
            </a:r>
            <a:r>
              <a:rPr lang="zh-CN" altLang="en-US" dirty="0">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这些数字货币的问题部分在于中心化的节点一旦被突破</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整个信用体系将会无法维持</a:t>
            </a:r>
            <a:r>
              <a:rPr lang="zh-CN" altLang="en-US" dirty="0">
                <a:latin typeface="楷体" panose="02010609060101010101" charset="-122"/>
                <a:ea typeface="楷体" panose="02010609060101010101" charset="-122"/>
                <a:cs typeface="楷体" panose="02010609060101010101" charset="-122"/>
              </a:rPr>
              <a:t>；而基于点对点网络和工作量证明机制的数字货币方案，则难以维持整个系统的安全和稳定</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89DCE235-5F5A-452F-AC2E-94DA918340F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89033706-F1E9-4753-988D-F80D72F2468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BD8EB6D-1109-488F-A74B-2E92857CC3C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ECB6BC9-550A-4570-926E-0F4864E152B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9E21CF2-BFCB-4F8A-974B-91449107568E}"/>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4E61E17-90D0-4E17-BF57-90D889C4847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37C1C83-9982-4768-A1BA-F07A89F05D4A}"/>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4DE225E1-A3A2-46CE-AF1E-BEC0FD4542F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8C4EC38-A40D-403E-8AEB-204823D6D90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14241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3198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中本聪的比特币</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比特币</a:t>
            </a:r>
            <a:r>
              <a:rPr lang="zh-CN" altLang="en-US" dirty="0">
                <a:latin typeface="楷体" panose="02010609060101010101" charset="-122"/>
                <a:ea typeface="楷体" panose="02010609060101010101" charset="-122"/>
                <a:cs typeface="楷体" panose="02010609060101010101" charset="-122"/>
              </a:rPr>
              <a:t>的提出：</a:t>
            </a: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日，一个化名为中本聪的匿名用户在“</a:t>
            </a:r>
            <a:r>
              <a:rPr lang="en-US" altLang="zh-CN" dirty="0">
                <a:latin typeface="Times New Roman" panose="02020603050405020304" pitchFamily="18" charset="0"/>
                <a:ea typeface="楷体" panose="02010609060101010101" charset="-122"/>
                <a:cs typeface="Times New Roman" panose="02020603050405020304" pitchFamily="18" charset="0"/>
              </a:rPr>
              <a:t>metzdowd.com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网站的密码学邮件列表 中发表了比特币白皮书，开启了比特币与区块链的传奇。论文中描述了如何通过点对点网络实现一种</a:t>
            </a:r>
            <a:r>
              <a:rPr lang="zh-CN" altLang="en-US" b="1" dirty="0">
                <a:solidFill>
                  <a:schemeClr val="accent1"/>
                </a:solidFill>
                <a:latin typeface="楷体" panose="02010609060101010101" charset="-122"/>
                <a:ea typeface="楷体" panose="02010609060101010101" charset="-122"/>
                <a:cs typeface="楷体" panose="02010609060101010101" charset="-122"/>
              </a:rPr>
              <a:t>基于密码学原理而不是基于信用</a:t>
            </a:r>
            <a:r>
              <a:rPr lang="zh-CN" altLang="en-US" dirty="0">
                <a:latin typeface="楷体" panose="02010609060101010101" charset="-122"/>
                <a:ea typeface="楷体" panose="02010609060101010101" charset="-122"/>
                <a:cs typeface="楷体" panose="02010609060101010101" charset="-122"/>
              </a:rPr>
              <a:t>的电子支付系统，使得达成交易一致的双方能够直接进行支付，</a:t>
            </a:r>
            <a:r>
              <a:rPr lang="zh-CN" altLang="en-US" b="1" dirty="0">
                <a:solidFill>
                  <a:schemeClr val="accent1"/>
                </a:solidFill>
                <a:latin typeface="楷体" panose="02010609060101010101" charset="-122"/>
                <a:ea typeface="楷体" panose="02010609060101010101" charset="-122"/>
                <a:cs typeface="楷体" panose="02010609060101010101" charset="-122"/>
              </a:rPr>
              <a:t>无须第三方中介参与</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比特币的价值： </a:t>
            </a:r>
            <a:r>
              <a:rPr lang="en-US" altLang="zh-CN" dirty="0">
                <a:latin typeface="楷体" panose="02010609060101010101" charset="-122"/>
                <a:ea typeface="楷体" panose="02010609060101010101" charset="-122"/>
                <a:cs typeface="楷体" panose="02010609060101010101" charset="-122"/>
              </a:rPr>
              <a:t>2010</a:t>
            </a:r>
            <a:r>
              <a:rPr lang="zh-CN" altLang="en-US" dirty="0">
                <a:latin typeface="楷体" panose="02010609060101010101" charset="-122"/>
                <a:ea typeface="楷体" panose="02010609060101010101" charset="-122"/>
                <a:cs typeface="楷体" panose="02010609060101010101" charset="-122"/>
              </a:rPr>
              <a:t>年，在比特币论坛“</a:t>
            </a:r>
            <a:r>
              <a:rPr lang="en-US" altLang="zh-CN" dirty="0" err="1">
                <a:latin typeface="Times New Roman" panose="02020603050405020304" pitchFamily="18" charset="0"/>
                <a:ea typeface="楷体" panose="02010609060101010101" charset="-122"/>
                <a:cs typeface="Times New Roman" panose="02020603050405020304" pitchFamily="18" charset="0"/>
              </a:rPr>
              <a:t>bitcointalk</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上，一名用户介绍使用了</a:t>
            </a:r>
            <a:r>
              <a:rPr lang="en-US" altLang="zh-CN" dirty="0">
                <a:latin typeface="楷体" panose="02010609060101010101" charset="-122"/>
                <a:ea typeface="楷体" panose="02010609060101010101" charset="-122"/>
                <a:cs typeface="楷体" panose="02010609060101010101" charset="-122"/>
              </a:rPr>
              <a:t>10,000</a:t>
            </a:r>
            <a:r>
              <a:rPr lang="zh-CN" altLang="en-US" dirty="0">
                <a:latin typeface="楷体" panose="02010609060101010101" charset="-122"/>
                <a:ea typeface="楷体" panose="02010609060101010101" charset="-122"/>
                <a:cs typeface="楷体" panose="02010609060101010101" charset="-122"/>
              </a:rPr>
              <a:t>个比特币购买了一块价值</a:t>
            </a:r>
            <a:r>
              <a:rPr lang="en-US" altLang="zh-CN" dirty="0">
                <a:latin typeface="楷体" panose="02010609060101010101" charset="-122"/>
                <a:ea typeface="楷体" panose="02010609060101010101" charset="-122"/>
                <a:cs typeface="楷体" panose="02010609060101010101" charset="-122"/>
              </a:rPr>
              <a:t>25</a:t>
            </a:r>
            <a:r>
              <a:rPr lang="zh-CN" altLang="en-US" dirty="0">
                <a:latin typeface="楷体" panose="02010609060101010101" charset="-122"/>
                <a:ea typeface="楷体" panose="02010609060101010101" charset="-122"/>
                <a:cs typeface="楷体" panose="02010609060101010101" charset="-122"/>
              </a:rPr>
              <a:t>美元的比萨 。这是比特币的首次交易，也意味着比特币第一次拥有了“交换价值”。历时十年的发展，比特币的价格几经起伏从最低</a:t>
            </a:r>
            <a:r>
              <a:rPr lang="en-US" altLang="zh-CN" dirty="0">
                <a:latin typeface="楷体" panose="02010609060101010101" charset="-122"/>
                <a:ea typeface="楷体" panose="02010609060101010101" charset="-122"/>
                <a:cs typeface="楷体" panose="02010609060101010101" charset="-122"/>
              </a:rPr>
              <a:t>0.0025</a:t>
            </a:r>
            <a:r>
              <a:rPr lang="zh-CN" altLang="en-US" dirty="0">
                <a:latin typeface="楷体" panose="02010609060101010101" charset="-122"/>
                <a:ea typeface="楷体" panose="02010609060101010101" charset="-122"/>
                <a:cs typeface="楷体" panose="02010609060101010101" charset="-122"/>
              </a:rPr>
              <a:t>美元到最高</a:t>
            </a:r>
            <a:r>
              <a:rPr lang="en-US" altLang="zh-CN" dirty="0">
                <a:latin typeface="楷体" panose="02010609060101010101" charset="-122"/>
                <a:ea typeface="楷体" panose="02010609060101010101" charset="-122"/>
                <a:cs typeface="楷体" panose="02010609060101010101" charset="-122"/>
              </a:rPr>
              <a:t>19791.90</a:t>
            </a:r>
            <a:r>
              <a:rPr lang="zh-CN" altLang="en-US" dirty="0">
                <a:latin typeface="楷体" panose="02010609060101010101" charset="-122"/>
                <a:ea typeface="楷体" panose="02010609060101010101" charset="-122"/>
                <a:cs typeface="楷体" panose="02010609060101010101" charset="-122"/>
              </a:rPr>
              <a:t>美元。</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E32257A9-48B1-4DD5-93FD-AAA6F7C0D5CE}"/>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A9CF6BF-83CC-4FDF-98FD-4393CC46F8D0}"/>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2895EAB-CB6E-4E29-A70A-C65C0ECB7EE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4EE683D9-9AE0-4126-B09D-558F259883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6872A2E-C359-4923-9D8F-93AD65F26E26}"/>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641D25D-FC8C-4CD9-8A7E-EEC339BF4AE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5E6BE83-E565-49C7-B428-6B130AC9DE9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E38F66A-7785-4CA8-8816-9E0FFD631A9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4E20354-4757-4B77-B1E1-AA25ED7F81D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762248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区块链是比特币的底层技术、核心、基础架构</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在没有第三方中心节点的点对点系统中使所有参与者能够承认系统中的交易是比特币系统的核心问题，这一问题通过区块链的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结构</a:t>
            </a:r>
            <a:r>
              <a:rPr lang="zh-CN" altLang="en-US" dirty="0">
                <a:latin typeface="楷体" panose="02010609060101010101" charset="-122"/>
                <a:ea typeface="楷体" panose="02010609060101010101" charset="-122"/>
                <a:cs typeface="楷体" panose="02010609060101010101" charset="-122"/>
              </a:rPr>
              <a:t>与</a:t>
            </a:r>
            <a:r>
              <a:rPr lang="zh-CN" altLang="en-US" b="1" dirty="0">
                <a:solidFill>
                  <a:schemeClr val="accent1"/>
                </a:solidFill>
                <a:latin typeface="楷体" panose="02010609060101010101" charset="-122"/>
                <a:ea typeface="楷体" panose="02010609060101010101" charset="-122"/>
                <a:cs typeface="楷体" panose="02010609060101010101" charset="-122"/>
              </a:rPr>
              <a:t>挖矿</a:t>
            </a:r>
            <a:r>
              <a:rPr lang="zh-CN" altLang="en-US" dirty="0">
                <a:latin typeface="楷体" panose="02010609060101010101" charset="-122"/>
                <a:ea typeface="楷体" panose="02010609060101010101" charset="-122"/>
                <a:cs typeface="楷体" panose="02010609060101010101" charset="-122"/>
              </a:rPr>
              <a:t>解决。</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区块链的结构与挖矿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哈希链式结构</a:t>
            </a:r>
            <a:r>
              <a:rPr lang="zh-CN" altLang="en-US" dirty="0">
                <a:latin typeface="楷体" panose="02010609060101010101" charset="-122"/>
                <a:ea typeface="楷体" panose="02010609060101010101" charset="-122"/>
                <a:cs typeface="楷体" panose="02010609060101010101" charset="-122"/>
              </a:rPr>
              <a:t>，比特币可以做到很强的抗篡改能力，从而取得所有参与者的信任。</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为了提高门槛，比特币规定了计算得到的区块哈希必须达到规定的要求，被称作</a:t>
            </a:r>
            <a:r>
              <a:rPr lang="zh-CN" altLang="en-US" b="1" dirty="0">
                <a:solidFill>
                  <a:schemeClr val="accent1"/>
                </a:solidFill>
                <a:latin typeface="楷体" panose="02010609060101010101" charset="-122"/>
                <a:ea typeface="楷体" panose="02010609060101010101" charset="-122"/>
                <a:cs typeface="楷体" panose="02010609060101010101" charset="-122"/>
              </a:rPr>
              <a:t>挖矿难度</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a:t>
            </a:r>
          </a:p>
        </p:txBody>
      </p:sp>
      <p:sp>
        <p:nvSpPr>
          <p:cNvPr id="13" name="矩形: 圆角 12">
            <a:extLst>
              <a:ext uri="{FF2B5EF4-FFF2-40B4-BE49-F238E27FC236}">
                <a16:creationId xmlns:a16="http://schemas.microsoft.com/office/drawing/2014/main" id="{E47FCC67-86B6-4C5B-9870-ADD6560695B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0456C9-1A00-4FA3-BFDE-44AC95DAF629}"/>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4CFBE9F-9078-4A49-95BE-02B562AD167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009875C-7C51-4E89-9BE6-2AFDC1D690F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7625BB8F-E53F-4C28-BBF9-2441A8DB854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674B535-1270-44A7-88D3-64235CCE5A4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0D86847E-01D2-438E-85C7-2EEBDB3EAEF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6BD3B61-82F5-4566-90EF-33FD3FD4E386}"/>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43582C6D-4A21-4493-89BB-704EED1A848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80943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60098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区块链不仅仅是比特币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区块链本质上是一种去中心化的数字账本，除了比特币等加密数字货币上的应用，它也可以用于记录其他具有价值的信息而不担心被篡改。相比于传统货币系统，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加密数字货币带来了的新的信任方式、去中心化的财富转移模式</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在加密数字货币以外，资本市场上的区块链应用正在蓬勃发展，覆盖了支付与汇款、衍生品交易、金融服务、征信管理、数字资产管理、网络安全、审计、供应链金融、物联网等许多领域。</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区块链结构的应用早已超出了数字货币</a:t>
            </a:r>
            <a:r>
              <a:rPr lang="zh-CN" altLang="en-US" dirty="0">
                <a:latin typeface="楷体" panose="02010609060101010101" charset="-122"/>
                <a:ea typeface="楷体" panose="02010609060101010101" charset="-122"/>
                <a:cs typeface="楷体" panose="02010609060101010101" charset="-122"/>
              </a:rPr>
              <a:t>，甚至可以扩展到任何类型的数字交易方式。区块链技术够有效地解决原有行业中信任、安全等多种问题。</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比特币与区块链（续）</a:t>
            </a:r>
          </a:p>
        </p:txBody>
      </p:sp>
      <p:sp>
        <p:nvSpPr>
          <p:cNvPr id="13" name="矩形: 圆角 12">
            <a:extLst>
              <a:ext uri="{FF2B5EF4-FFF2-40B4-BE49-F238E27FC236}">
                <a16:creationId xmlns:a16="http://schemas.microsoft.com/office/drawing/2014/main" id="{E1C89630-3DEF-4938-9963-E54311D3586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399A08-14BD-4955-A87C-47C42765A79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F752CD6-9932-4CE0-9E69-40204F168C0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D61E8AA5-7C38-4278-B910-65A36C9D8D35}"/>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F809E61-71AD-42F5-8147-BE026EA4926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B1760DE-F076-40D5-BF40-3E501FFAB95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0394663-7276-4291-8FD6-9AA59D2C5C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95A52DC-6966-4B50-A85A-78C2748D6F3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DD60C546-6120-41B7-9D10-85485FCE2D2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839613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去中心化</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在区块链中，各个节点和矿工</a:t>
            </a:r>
            <a:r>
              <a:rPr lang="zh-CN" altLang="en-US" b="1" dirty="0">
                <a:solidFill>
                  <a:schemeClr val="accent1"/>
                </a:solidFill>
                <a:latin typeface="楷体" panose="02010609060101010101" charset="-122"/>
                <a:ea typeface="楷体" panose="02010609060101010101" charset="-122"/>
                <a:cs typeface="楷体" panose="02010609060101010101" charset="-122"/>
              </a:rPr>
              <a:t>遵守一套基于密码算法的记账交易规则</a:t>
            </a:r>
            <a:r>
              <a:rPr lang="zh-CN" altLang="en-US" dirty="0">
                <a:latin typeface="楷体" panose="02010609060101010101" charset="-122"/>
                <a:ea typeface="楷体" panose="02010609060101010101" charset="-122"/>
                <a:cs typeface="楷体" panose="02010609060101010101" charset="-122"/>
              </a:rPr>
              <a:t>，通过分布式存储和算力，共同维护全网的数据，避免了传统中心化机构对数据进行管理带来的高成本、易欺诈、缺乏透明、滥用权限等问题。普通用户之间的交易也无须第三方机构加入，直接点对点进行交易互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透明性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相较于用户匿名性，比特币和区块链系统的</a:t>
            </a:r>
            <a:r>
              <a:rPr lang="zh-CN" altLang="en-US" b="1" dirty="0">
                <a:solidFill>
                  <a:schemeClr val="accent1"/>
                </a:solidFill>
                <a:latin typeface="楷体" panose="02010609060101010101" charset="-122"/>
                <a:ea typeface="楷体" panose="02010609060101010101" charset="-122"/>
                <a:cs typeface="楷体" panose="02010609060101010101" charset="-122"/>
              </a:rPr>
              <a:t>交易和历史都是透明的</a:t>
            </a:r>
            <a:r>
              <a:rPr lang="zh-CN" altLang="en-US" dirty="0">
                <a:latin typeface="楷体" panose="02010609060101010101" charset="-122"/>
                <a:ea typeface="楷体" panose="02010609060101010101" charset="-122"/>
                <a:cs typeface="楷体" panose="02010609060101010101" charset="-122"/>
              </a:rPr>
              <a:t>。由于在区块链中，账本是分发到整个网络所有参与者，账本的校对、历史信息等对于账本的持有者而言，都是透明的、公开的。</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a:t>
            </a:r>
          </a:p>
        </p:txBody>
      </p:sp>
      <p:sp>
        <p:nvSpPr>
          <p:cNvPr id="13" name="矩形: 圆角 12">
            <a:extLst>
              <a:ext uri="{FF2B5EF4-FFF2-40B4-BE49-F238E27FC236}">
                <a16:creationId xmlns:a16="http://schemas.microsoft.com/office/drawing/2014/main" id="{856CB0B8-B6FB-43E6-A241-9F6D6176FA3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7E2F2BC-E1AB-4602-9543-3443B90CA9A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E82E639-CD12-494C-A510-7D379E60AF28}"/>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C26FCB2-4694-440C-BEB2-FB6B847A19D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F9A67CA4-7171-4817-808E-A893D33785F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9904363F-51BF-4B5C-A379-2DE9FC55C79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E10CD12-8BFD-4F47-ADA1-86EB88F24A8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F070C39-A956-487E-A56A-73CE3D4B3D4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A02B2A9-6B30-438B-BFEC-D451ED6B426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011878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不可篡改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比特币的每次交易都会记录在区块链上，不同于由中心机构主宰的交易模式，其中心机构可以自行修改任意用户的交易信息，</a:t>
            </a:r>
            <a:r>
              <a:rPr lang="zh-CN" altLang="en-US" b="1" dirty="0">
                <a:solidFill>
                  <a:schemeClr val="accent1"/>
                </a:solidFill>
                <a:latin typeface="楷体" panose="02010609060101010101" charset="-122"/>
                <a:ea typeface="楷体" panose="02010609060101010101" charset="-122"/>
                <a:cs typeface="楷体" panose="02010609060101010101" charset="-122"/>
              </a:rPr>
              <a:t>比特币很难篡改</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多方共识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区块链作为一个</a:t>
            </a:r>
            <a:r>
              <a:rPr lang="zh-CN" altLang="en-US" b="1" dirty="0">
                <a:solidFill>
                  <a:schemeClr val="accent1"/>
                </a:solidFill>
                <a:latin typeface="楷体" panose="02010609060101010101" charset="-122"/>
                <a:ea typeface="楷体" panose="02010609060101010101" charset="-122"/>
                <a:cs typeface="楷体" panose="02010609060101010101" charset="-122"/>
              </a:rPr>
              <a:t>多方参与</a:t>
            </a:r>
            <a:r>
              <a:rPr lang="zh-CN" altLang="en-US" dirty="0">
                <a:latin typeface="楷体" panose="02010609060101010101" charset="-122"/>
                <a:ea typeface="楷体" panose="02010609060101010101" charset="-122"/>
                <a:cs typeface="楷体" panose="02010609060101010101" charset="-122"/>
              </a:rPr>
              <a:t>维护的分布式账本系统，参与方需要约定数据校验、写入和冲突解决的规则，这被称之为共识算法。比特币和以太坊作为公有链当前采用的是工作量证明算法</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PoW</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，应用于联盟链领域的共识算法则更加灵活多样，贴近业务需求本身。</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区块链的特点（续）</a:t>
            </a:r>
          </a:p>
        </p:txBody>
      </p:sp>
      <p:sp>
        <p:nvSpPr>
          <p:cNvPr id="13" name="矩形: 圆角 12">
            <a:extLst>
              <a:ext uri="{FF2B5EF4-FFF2-40B4-BE49-F238E27FC236}">
                <a16:creationId xmlns:a16="http://schemas.microsoft.com/office/drawing/2014/main" id="{6A50AD83-4030-41F8-B58A-289821BE350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8BC3C-27A7-45F3-BC8B-244EB8978AB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7816C3C2-F0C3-487A-B6DE-EB2472068BA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B046AC27-02EF-41E5-AD89-8A28933456D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98B6E47-5E7D-4231-8BFE-DF5F4EE22EE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F61D0ED4-0E79-4272-94D5-EC3224628281}"/>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EE22D13-3EE4-4BA5-8AAC-04743BD0C97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F2D7EF9-143A-4A73-9BF5-39DD8D7AF4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FFADBCCB-EF0C-4F67-80F2-F9EC9E233B19}"/>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3214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智能合约概念的诞生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年由计算机科学家、密码学家</a:t>
            </a:r>
            <a:r>
              <a:rPr lang="en-US" altLang="zh-CN" dirty="0">
                <a:latin typeface="Times New Roman" panose="02020603050405020304" pitchFamily="18" charset="0"/>
                <a:ea typeface="楷体" panose="02010609060101010101" charset="-122"/>
                <a:cs typeface="Times New Roman" panose="02020603050405020304" pitchFamily="18" charset="0"/>
              </a:rPr>
              <a:t>Nick Szabo</a:t>
            </a:r>
            <a:r>
              <a:rPr lang="zh-CN" altLang="en-US" dirty="0">
                <a:latin typeface="楷体" panose="02010609060101010101" charset="-122"/>
                <a:ea typeface="楷体" panose="02010609060101010101" charset="-122"/>
                <a:cs typeface="楷体" panose="02010609060101010101" charset="-122"/>
              </a:rPr>
              <a:t>提出，指将原本现实世界中的合约、契约等概念引入到数字领域中，可以约束参与数字金融的各方的行为，使得违反规定者受到一定的惩罚，但</a:t>
            </a:r>
            <a:r>
              <a:rPr lang="zh-CN" altLang="en-US" b="1" dirty="0">
                <a:solidFill>
                  <a:schemeClr val="accent1"/>
                </a:solidFill>
                <a:latin typeface="楷体" panose="02010609060101010101" charset="-122"/>
                <a:ea typeface="楷体" panose="02010609060101010101" charset="-122"/>
                <a:cs typeface="楷体" panose="02010609060101010101" charset="-122"/>
              </a:rPr>
              <a:t>合约的实行需要现实世界的辅助力量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以太坊上的智能合约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通过区块链技术，可以不依赖外部力量实现智能合约的约束条件</a:t>
            </a:r>
            <a:r>
              <a:rPr lang="zh-CN" altLang="en-US" dirty="0">
                <a:latin typeface="楷体" panose="02010609060101010101" charset="-122"/>
                <a:ea typeface="楷体" panose="02010609060101010101" charset="-122"/>
                <a:cs typeface="楷体" panose="02010609060101010101" charset="-122"/>
              </a:rPr>
              <a:t>。人们可以自定义复杂的执行逻辑放置到区块链上运行。由于区块链的特性，链上的计算机程序会伴随着区块被分发到以太坊系统中的各个参与者的手上。</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智能合约</a:t>
            </a:r>
          </a:p>
        </p:txBody>
      </p:sp>
      <p:sp>
        <p:nvSpPr>
          <p:cNvPr id="13" name="矩形: 圆角 12">
            <a:extLst>
              <a:ext uri="{FF2B5EF4-FFF2-40B4-BE49-F238E27FC236}">
                <a16:creationId xmlns:a16="http://schemas.microsoft.com/office/drawing/2014/main" id="{B87D7596-ED65-44A9-80BE-D5A09A28DCE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C265FF1-AEF4-40C0-95AE-FD28F1218825}"/>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4A9C7ABA-217B-424D-9546-8DF0551A32D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7B30933-9E25-4443-918E-2C9C1BAEFE3A}"/>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EB5A578-25F1-4154-82DD-7A125567808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A4AE6FC-0837-4118-8BE7-EF95FE39285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877D4D08-EEB0-45CE-9DBB-F5F409ED40E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2F77921-4B11-4661-9334-4AFB86183E6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14D8821D-E897-4E4E-90DB-DD18142265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96474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6276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公有链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链上的节点</a:t>
            </a:r>
            <a:r>
              <a:rPr lang="zh-CN" altLang="en-US" b="1" dirty="0">
                <a:solidFill>
                  <a:schemeClr val="accent1"/>
                </a:solidFill>
                <a:latin typeface="楷体" panose="02010609060101010101" charset="-122"/>
                <a:ea typeface="楷体" panose="02010609060101010101" charset="-122"/>
                <a:cs typeface="楷体" panose="02010609060101010101" charset="-122"/>
              </a:rPr>
              <a:t>向全世界每一个人开放</a:t>
            </a:r>
            <a:r>
              <a:rPr lang="zh-CN" altLang="en-US" dirty="0">
                <a:latin typeface="楷体" panose="02010609060101010101" charset="-122"/>
                <a:ea typeface="楷体" panose="02010609060101010101" charset="-122"/>
                <a:cs typeface="楷体" panose="02010609060101010101" charset="-122"/>
              </a:rPr>
              <a:t>，任何人都可以在自己设备上运行公共节点，验证区块链网络中的交易，参与到共识的过程中，确认当前加入链上的区块以及当前区块链的状态。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私链中对链上数据的</a:t>
            </a:r>
            <a:r>
              <a:rPr lang="zh-CN" altLang="en-US" b="1" dirty="0">
                <a:solidFill>
                  <a:schemeClr val="accent1"/>
                </a:solidFill>
                <a:latin typeface="楷体" panose="02010609060101010101" charset="-122"/>
                <a:ea typeface="楷体" panose="02010609060101010101" charset="-122"/>
                <a:cs typeface="楷体" panose="02010609060101010101" charset="-122"/>
              </a:rPr>
              <a:t>读写权限由单一的组织来控制</a:t>
            </a:r>
            <a:r>
              <a:rPr lang="zh-CN" altLang="en-US" dirty="0">
                <a:latin typeface="楷体" panose="02010609060101010101" charset="-122"/>
                <a:ea typeface="楷体" panose="02010609060101010101" charset="-122"/>
                <a:cs typeface="楷体" panose="02010609060101010101" charset="-122"/>
              </a:rPr>
              <a:t>，可选择性地开放给特定群体。</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联盟链由一些</a:t>
            </a:r>
            <a:r>
              <a:rPr lang="zh-CN" altLang="en-US" b="1" dirty="0">
                <a:solidFill>
                  <a:schemeClr val="accent1"/>
                </a:solidFill>
                <a:latin typeface="楷体" panose="02010609060101010101" charset="-122"/>
                <a:ea typeface="楷体" panose="02010609060101010101" charset="-122"/>
                <a:cs typeface="楷体" panose="02010609060101010101" charset="-122"/>
              </a:rPr>
              <a:t>特定机构作为节点参与</a:t>
            </a:r>
            <a:r>
              <a:rPr lang="zh-CN" altLang="en-US" dirty="0">
                <a:latin typeface="楷体" panose="02010609060101010101" charset="-122"/>
                <a:ea typeface="楷体" panose="02010609060101010101" charset="-122"/>
                <a:cs typeface="楷体" panose="02010609060101010101" charset="-122"/>
              </a:rPr>
              <a:t>到区块链的共识过程中，用户对链上数据的读写权限由这些节点控制。</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a:t>
            </a:r>
          </a:p>
        </p:txBody>
      </p:sp>
      <p:sp>
        <p:nvSpPr>
          <p:cNvPr id="13" name="矩形: 圆角 12">
            <a:extLst>
              <a:ext uri="{FF2B5EF4-FFF2-40B4-BE49-F238E27FC236}">
                <a16:creationId xmlns:a16="http://schemas.microsoft.com/office/drawing/2014/main" id="{08ED9F19-6917-45D5-AD3F-2E2EF7CE168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603204F-73F4-4497-8765-EA6A5F33BD7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3D711DC-38F9-4848-9A3F-F6177D587DF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6697F9A-7D19-4311-9616-0ED6FA59D37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0843D53-15D4-4F36-BFF4-5C7232E4E31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D66B0FF-7CC5-4E0A-8A96-95DF87336757}"/>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FE8022EA-BCE0-4698-A9AC-CA48F721215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ABE1C08-A401-4B70-9DB0-35DE6DB06F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771FFD12-0A7D-4588-8FA1-39249033A39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502840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07986" y="1475120"/>
            <a:ext cx="7605754" cy="1398358"/>
          </a:xfrm>
          <a:prstGeom prst="rect">
            <a:avLst/>
          </a:prstGeom>
        </p:spPr>
        <p:txBody>
          <a:bodyPr wrap="square">
            <a:spAutoFit/>
          </a:bodyPr>
          <a:lstStyle/>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graphicFrame>
        <p:nvGraphicFramePr>
          <p:cNvPr id="13" name="表格 12">
            <a:extLst>
              <a:ext uri="{FF2B5EF4-FFF2-40B4-BE49-F238E27FC236}">
                <a16:creationId xmlns:a16="http://schemas.microsoft.com/office/drawing/2014/main" id="{4166CECD-08E2-4B20-B859-6DC3C753FFD7}"/>
              </a:ext>
            </a:extLst>
          </p:cNvPr>
          <p:cNvGraphicFramePr>
            <a:graphicFrameLocks noGrp="1"/>
          </p:cNvGraphicFramePr>
          <p:nvPr>
            <p:extLst>
              <p:ext uri="{D42A27DB-BD31-4B8C-83A1-F6EECF244321}">
                <p14:modId xmlns:p14="http://schemas.microsoft.com/office/powerpoint/2010/main" val="960572134"/>
              </p:ext>
            </p:extLst>
          </p:nvPr>
        </p:nvGraphicFramePr>
        <p:xfrm>
          <a:off x="638410" y="212611"/>
          <a:ext cx="7903078" cy="4228570"/>
        </p:xfrm>
        <a:graphic>
          <a:graphicData uri="http://schemas.openxmlformats.org/drawingml/2006/table">
            <a:tbl>
              <a:tblPr firstRow="1" firstCol="1" bandRow="1">
                <a:tableStyleId>{5C22544A-7EE6-4342-B048-85BDC9FD1C3A}</a:tableStyleId>
              </a:tblPr>
              <a:tblGrid>
                <a:gridCol w="1587446">
                  <a:extLst>
                    <a:ext uri="{9D8B030D-6E8A-4147-A177-3AD203B41FA5}">
                      <a16:colId xmlns:a16="http://schemas.microsoft.com/office/drawing/2014/main" val="1744534834"/>
                    </a:ext>
                  </a:extLst>
                </a:gridCol>
                <a:gridCol w="2211886">
                  <a:extLst>
                    <a:ext uri="{9D8B030D-6E8A-4147-A177-3AD203B41FA5}">
                      <a16:colId xmlns:a16="http://schemas.microsoft.com/office/drawing/2014/main" val="4206060818"/>
                    </a:ext>
                  </a:extLst>
                </a:gridCol>
                <a:gridCol w="1921131">
                  <a:extLst>
                    <a:ext uri="{9D8B030D-6E8A-4147-A177-3AD203B41FA5}">
                      <a16:colId xmlns:a16="http://schemas.microsoft.com/office/drawing/2014/main" val="2283509424"/>
                    </a:ext>
                  </a:extLst>
                </a:gridCol>
                <a:gridCol w="2182615">
                  <a:extLst>
                    <a:ext uri="{9D8B030D-6E8A-4147-A177-3AD203B41FA5}">
                      <a16:colId xmlns:a16="http://schemas.microsoft.com/office/drawing/2014/main" val="3325848908"/>
                    </a:ext>
                  </a:extLst>
                </a:gridCol>
              </a:tblGrid>
              <a:tr h="288366">
                <a:tc gridSpan="4">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区块链种类对比</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1943868"/>
                  </a:ext>
                </a:extLst>
              </a:tr>
              <a:tr h="384094">
                <a:tc>
                  <a:txBody>
                    <a:bodyPr/>
                    <a:lstStyle/>
                    <a:p>
                      <a:pPr algn="ctr">
                        <a:spcAft>
                          <a:spcPts val="0"/>
                        </a:spcAft>
                      </a:pPr>
                      <a:r>
                        <a:rPr lang="en-US" sz="1800" b="0" kern="100">
                          <a:effectLst/>
                        </a:rPr>
                        <a:t> </a:t>
                      </a:r>
                      <a:endParaRPr lang="zh-CN" sz="18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公有链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联盟链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私有链</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9596637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控制者</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所有参与者</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特定的联盟成员</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链所有者</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12500245"/>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去中心化程度</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强去中心化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弱去中心化、</a:t>
                      </a:r>
                      <a:endParaRPr lang="en-US" altLang="zh-CN" sz="1800" b="0" kern="100" dirty="0">
                        <a:effectLst/>
                        <a:latin typeface="楷体" panose="02010609060101010101" pitchFamily="49" charset="-122"/>
                        <a:ea typeface="楷体" panose="02010609060101010101" pitchFamily="49" charset="-122"/>
                      </a:endParaRPr>
                    </a:p>
                    <a:p>
                      <a:pPr algn="ctr">
                        <a:spcAft>
                          <a:spcPts val="0"/>
                        </a:spcAft>
                      </a:pPr>
                      <a:r>
                        <a:rPr lang="zh-CN" sz="1800" b="0" kern="100" dirty="0">
                          <a:effectLst/>
                          <a:latin typeface="楷体" panose="02010609060101010101" pitchFamily="49" charset="-122"/>
                          <a:ea typeface="楷体" panose="02010609060101010101" pitchFamily="49" charset="-122"/>
                        </a:rPr>
                        <a:t>多中心化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无</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62591883"/>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交易吞吐量</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&lt;100000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由配置决定</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4157276"/>
                  </a:ext>
                </a:extLst>
              </a:tr>
              <a:tr h="384094">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可修改性</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几乎不可篡改</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较难被篡改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可被篡改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3143176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共识机制</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PoW</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PoS</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DPoS</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PBFT</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Raft</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无特定算法</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71925112"/>
                  </a:ext>
                </a:extLst>
              </a:tr>
              <a:tr h="865096">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代表项目</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比特币、以太坊、</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EOSIO</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Hyperledger Fabric</a:t>
                      </a:r>
                      <a:r>
                        <a:rPr lang="zh-CN" sz="1800" b="0" kern="100" dirty="0">
                          <a:effectLst/>
                          <a:latin typeface="楷体" panose="02010609060101010101" pitchFamily="49" charset="-122"/>
                          <a:ea typeface="楷体" panose="02010609060101010101" pitchFamily="49" charset="-122"/>
                        </a:rPr>
                        <a:t>、企业以太坊等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无特定项目</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56169819"/>
                  </a:ext>
                </a:extLst>
              </a:tr>
            </a:tbl>
          </a:graphicData>
        </a:graphic>
      </p:graphicFrame>
      <p:sp>
        <p:nvSpPr>
          <p:cNvPr id="14" name="矩形: 圆角 13">
            <a:extLst>
              <a:ext uri="{FF2B5EF4-FFF2-40B4-BE49-F238E27FC236}">
                <a16:creationId xmlns:a16="http://schemas.microsoft.com/office/drawing/2014/main" id="{5C3C0777-7478-47C4-B451-00F4B7215B8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A8F6A310-B79E-4BF8-A074-F1B9567BD62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DA569DDA-A26D-4ECA-839D-1AA5686FDA8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511149D5-AE0A-4E61-A2F9-27EACE9A51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96DC90C5-5816-485D-A805-120304FF59C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948BA70B-D80B-4E37-96C9-A36E0FD8D94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4EF9DEE6-6F83-45DA-B840-FEB39F09257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474E483E-20B8-4DF1-B3AE-F7F96C57085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8" name="灯片编号占位符 7">
            <a:extLst>
              <a:ext uri="{FF2B5EF4-FFF2-40B4-BE49-F238E27FC236}">
                <a16:creationId xmlns:a16="http://schemas.microsoft.com/office/drawing/2014/main" id="{27A3CF3E-222F-4D12-9B2A-95D95E601A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375036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86287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技术层面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效率问题</a:t>
            </a:r>
            <a:r>
              <a:rPr lang="zh-CN" altLang="en-US" dirty="0">
                <a:latin typeface="楷体" panose="02010609060101010101" charset="-122"/>
                <a:ea typeface="楷体" panose="02010609060101010101" charset="-122"/>
                <a:cs typeface="楷体" panose="02010609060101010101" charset="-122"/>
              </a:rPr>
              <a:t>，为了保障数字货币交易的可靠性，牺牲了效率。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共识机制问题</a:t>
            </a:r>
            <a:r>
              <a:rPr lang="zh-CN" altLang="en-US" dirty="0">
                <a:latin typeface="楷体" panose="02010609060101010101" charset="-122"/>
                <a:ea typeface="楷体" panose="02010609060101010101" charset="-122"/>
                <a:cs typeface="楷体" panose="02010609060101010101" charset="-122"/>
              </a:rPr>
              <a:t>，现有的共识机制难以兼顾安全性与效率问题。</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数据冗余问题</a:t>
            </a:r>
            <a:r>
              <a:rPr lang="zh-CN" altLang="en-US" dirty="0">
                <a:latin typeface="楷体" panose="02010609060101010101" charset="-122"/>
                <a:ea typeface="楷体" panose="02010609060101010101" charset="-122"/>
                <a:cs typeface="楷体" panose="02010609060101010101" charset="-122"/>
              </a:rPr>
              <a:t>，为了保证数据的可靠性，产生大量冗余数据。</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安全问题</a:t>
            </a:r>
            <a:r>
              <a:rPr lang="zh-CN" altLang="en-US" dirty="0">
                <a:latin typeface="楷体" panose="02010609060101010101" charset="-122"/>
                <a:ea typeface="楷体" panose="02010609060101010101" charset="-122"/>
                <a:cs typeface="楷体" panose="02010609060101010101" charset="-122"/>
              </a:rPr>
              <a:t>，智能合约的漏洞使得用户的财产和信息安全受到严重威胁。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法律层面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匿名化问题</a:t>
            </a:r>
            <a:r>
              <a:rPr lang="zh-CN" altLang="en-US" dirty="0">
                <a:latin typeface="楷体" panose="02010609060101010101" charset="-122"/>
                <a:ea typeface="楷体" panose="02010609060101010101" charset="-122"/>
                <a:cs typeface="楷体" panose="02010609060101010101" charset="-122"/>
              </a:rPr>
              <a:t>，由于用户匿名特性，难以对数字货币进行有效地监管和追踪。</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欺诈问题</a:t>
            </a:r>
            <a:r>
              <a:rPr lang="zh-CN" altLang="en-US" dirty="0">
                <a:latin typeface="楷体" panose="02010609060101010101" charset="-122"/>
                <a:ea typeface="楷体" panose="02010609060101010101" charset="-122"/>
                <a:cs typeface="楷体" panose="02010609060101010101" charset="-122"/>
              </a:rPr>
              <a:t>，目前存在许多利用区块链进行欺诈的项目。</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区块链的分类（续）</a:t>
            </a:r>
          </a:p>
        </p:txBody>
      </p:sp>
      <p:sp>
        <p:nvSpPr>
          <p:cNvPr id="13" name="矩形: 圆角 12">
            <a:extLst>
              <a:ext uri="{FF2B5EF4-FFF2-40B4-BE49-F238E27FC236}">
                <a16:creationId xmlns:a16="http://schemas.microsoft.com/office/drawing/2014/main" id="{8036AF1F-766D-447B-9C47-1E718BB6E0D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394BFA3-F807-4121-B066-8B86079E867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3DAA1D1-711F-4BD1-8FCB-91BD6A7C6B7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B5C3869-CD91-47BC-B641-072745D76C0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EE563AD-CC57-45BC-AF7B-74B008883E6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72CC1724-C86A-4F69-805C-00E62AEAF57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3AA3B73-C517-4792-96F9-9B7FF1CAB86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F45490DA-F1A2-42F4-A86D-D97B698233D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37E65621-B71C-4004-9424-B032D574043E}"/>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254952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加密数字货币的诞生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日中本聪发表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比特币：一种点对点的电子货币系统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，随后在</a:t>
            </a:r>
            <a:r>
              <a:rPr lang="en-US" altLang="zh-CN" dirty="0">
                <a:latin typeface="楷体" panose="02010609060101010101" charset="-122"/>
                <a:ea typeface="楷体" panose="02010609060101010101" charset="-122"/>
                <a:cs typeface="楷体" panose="02010609060101010101" charset="-122"/>
              </a:rPr>
              <a:t>2009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月中本聪实现了比特币系统的最初版本。</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比特币引入了更具价值的区块链技术</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区块链不仅可以用于开发一个分布式去中心化的加密货币系统，更让人们看到了其在商业应用场景中解决安全和信任问题的潜力。</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比特币简介</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18475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算法是什么</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将</a:t>
            </a:r>
            <a:r>
              <a:rPr lang="zh-CN" altLang="en-US" b="1" dirty="0">
                <a:solidFill>
                  <a:schemeClr val="accent1"/>
                </a:solidFill>
                <a:latin typeface="楷体" panose="02010609060101010101" charset="-122"/>
                <a:ea typeface="楷体" panose="02010609060101010101" charset="-122"/>
                <a:cs typeface="楷体" panose="02010609060101010101" charset="-122"/>
              </a:rPr>
              <a:t>任意长度</a:t>
            </a:r>
            <a:r>
              <a:rPr lang="zh-CN" altLang="en-US" dirty="0">
                <a:latin typeface="楷体" panose="02010609060101010101" charset="-122"/>
                <a:ea typeface="楷体" panose="02010609060101010101" charset="-122"/>
                <a:cs typeface="楷体" panose="02010609060101010101" charset="-122"/>
              </a:rPr>
              <a:t>的明文字符串映射成</a:t>
            </a:r>
            <a:r>
              <a:rPr lang="zh-CN" altLang="en-US" b="1" dirty="0">
                <a:solidFill>
                  <a:schemeClr val="accent1"/>
                </a:solidFill>
                <a:latin typeface="楷体" panose="02010609060101010101" charset="-122"/>
                <a:ea typeface="楷体" panose="02010609060101010101" charset="-122"/>
                <a:cs typeface="楷体" panose="02010609060101010101" charset="-122"/>
              </a:rPr>
              <a:t>较短</a:t>
            </a:r>
            <a:r>
              <a:rPr lang="zh-CN" altLang="en-US" dirty="0">
                <a:latin typeface="楷体" panose="02010609060101010101" charset="-122"/>
                <a:ea typeface="楷体" panose="02010609060101010101" charset="-122"/>
                <a:cs typeface="楷体" panose="02010609060101010101" charset="-122"/>
              </a:rPr>
              <a:t>的二进制串，且不同的明文串映射后的值几乎没有冲突。</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哈希值又被称为指纹或者摘要，因为它足够验证文件的完整性与正确性。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哈希函数本身是一种</a:t>
            </a:r>
            <a:r>
              <a:rPr lang="zh-CN" altLang="en-US" b="1" dirty="0">
                <a:solidFill>
                  <a:schemeClr val="accent1"/>
                </a:solidFill>
                <a:latin typeface="楷体" panose="02010609060101010101" charset="-122"/>
                <a:ea typeface="楷体" panose="02010609060101010101" charset="-122"/>
                <a:cs typeface="楷体" panose="02010609060101010101" charset="-122"/>
              </a:rPr>
              <a:t>单射函数</a:t>
            </a:r>
            <a:r>
              <a:rPr lang="zh-CN" altLang="en-US" dirty="0">
                <a:latin typeface="楷体" panose="02010609060101010101" charset="-122"/>
                <a:ea typeface="楷体" panose="02010609060101010101" charset="-122"/>
                <a:cs typeface="楷体" panose="02010609060101010101" charset="-122"/>
              </a:rPr>
              <a:t>，所以哈希的整个过程并</a:t>
            </a:r>
            <a:r>
              <a:rPr lang="zh-CN" altLang="en-US" b="1" dirty="0">
                <a:solidFill>
                  <a:schemeClr val="accent1"/>
                </a:solidFill>
                <a:latin typeface="楷体" panose="02010609060101010101" charset="-122"/>
                <a:ea typeface="楷体" panose="02010609060101010101" charset="-122"/>
                <a:cs typeface="楷体" panose="02010609060101010101" charset="-122"/>
              </a:rPr>
              <a:t>不可逆</a:t>
            </a:r>
            <a:r>
              <a:rPr lang="zh-CN" altLang="en-US" dirty="0">
                <a:latin typeface="楷体" panose="02010609060101010101" charset="-122"/>
                <a:ea typeface="楷体" panose="02010609060101010101" charset="-122"/>
                <a:cs typeface="楷体" panose="02010609060101010101" charset="-122"/>
              </a:rPr>
              <a:t>，如果需要对明文数据进行隐藏和保密，则需要使用加解密算法。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哈希碰撞</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B04EEC0-2661-44B8-B0B1-2886B480617C}"/>
              </a:ext>
            </a:extLst>
          </p:cNvPr>
          <p:cNvPicPr>
            <a:picLocks noChangeAspect="1"/>
          </p:cNvPicPr>
          <p:nvPr/>
        </p:nvPicPr>
        <p:blipFill>
          <a:blip r:embed="rId2"/>
          <a:stretch>
            <a:fillRect/>
          </a:stretch>
        </p:blipFill>
        <p:spPr>
          <a:xfrm>
            <a:off x="5814696" y="4087041"/>
            <a:ext cx="3241122" cy="588650"/>
          </a:xfrm>
          <a:prstGeom prst="rect">
            <a:avLst/>
          </a:prstGeom>
        </p:spPr>
      </p:pic>
    </p:spTree>
    <p:extLst>
      <p:ext uri="{BB962C8B-B14F-4D97-AF65-F5344CB8AC3E}">
        <p14:creationId xmlns:p14="http://schemas.microsoft.com/office/powerpoint/2010/main" val="3895354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97086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常见的</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MD4</a:t>
            </a: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MIT</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Times New Roman" panose="02020603050405020304" pitchFamily="18" charset="0"/>
                <a:ea typeface="楷体" panose="02010609060101010101" charset="-122"/>
                <a:cs typeface="Times New Roman" panose="02020603050405020304" pitchFamily="18" charset="0"/>
              </a:rPr>
              <a:t>Ronald L. Rivest</a:t>
            </a:r>
            <a:r>
              <a:rPr lang="zh-CN" altLang="en-US" dirty="0">
                <a:latin typeface="楷体" panose="02010609060101010101" charset="-122"/>
                <a:ea typeface="楷体" panose="02010609060101010101" charset="-122"/>
                <a:cs typeface="楷体" panose="02010609060101010101" charset="-122"/>
              </a:rPr>
              <a:t>于</a:t>
            </a:r>
            <a:r>
              <a:rPr lang="en-US" altLang="zh-CN" dirty="0">
                <a:latin typeface="楷体" panose="02010609060101010101" charset="-122"/>
                <a:ea typeface="楷体" panose="02010609060101010101" charset="-122"/>
                <a:cs typeface="楷体" panose="02010609060101010101" charset="-122"/>
              </a:rPr>
              <a:t>1990</a:t>
            </a:r>
            <a:r>
              <a:rPr lang="zh-CN" altLang="en-US" dirty="0">
                <a:latin typeface="楷体" panose="02010609060101010101" charset="-122"/>
                <a:ea typeface="楷体" panose="02010609060101010101" charset="-122"/>
                <a:cs typeface="楷体" panose="02010609060101010101" charset="-122"/>
              </a:rPr>
              <a:t>年提出，之后改进成</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SHA</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由美国国家安全局</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1995</a:t>
            </a:r>
            <a:r>
              <a:rPr lang="zh-CN" altLang="en-US" dirty="0">
                <a:latin typeface="楷体" panose="02010609060101010101" charset="-122"/>
                <a:ea typeface="楷体" panose="02010609060101010101" charset="-122"/>
                <a:cs typeface="楷体" panose="02010609060101010101" charset="-122"/>
              </a:rPr>
              <a:t>年提出，随后</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系列也被</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zh-CN" altLang="en-US" dirty="0">
                <a:latin typeface="楷体" panose="02010609060101010101" charset="-122"/>
                <a:ea typeface="楷体" panose="02010609060101010101" charset="-122"/>
                <a:cs typeface="楷体" panose="02010609060101010101" charset="-122"/>
              </a:rPr>
              <a:t>公布出来。</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目前，</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与</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算法已经被破解。</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区块链中</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的应用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当不同输入的哈希产生相同的哈希值，则称为哈希碰撞。比特币采用了</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族的</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SHA2-256</a:t>
            </a:r>
            <a:r>
              <a:rPr lang="zh-CN" altLang="en-US" dirty="0">
                <a:latin typeface="楷体" panose="02010609060101010101" charset="-122"/>
                <a:ea typeface="楷体" panose="02010609060101010101" charset="-122"/>
                <a:cs typeface="楷体" panose="02010609060101010101" charset="-122"/>
              </a:rPr>
              <a:t>算法，通常也简称为</a:t>
            </a:r>
            <a:r>
              <a:rPr lang="en-US" altLang="zh-CN" dirty="0">
                <a:latin typeface="Times New Roman" panose="02020603050405020304" pitchFamily="18" charset="0"/>
                <a:ea typeface="楷体" panose="02010609060101010101" charset="-122"/>
                <a:cs typeface="Times New Roman" panose="02020603050405020304" pitchFamily="18" charset="0"/>
              </a:rPr>
              <a:t>SHA256</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以太坊中采用了</a:t>
            </a:r>
            <a:r>
              <a:rPr lang="en-US" altLang="zh-CN" dirty="0">
                <a:latin typeface="Times New Roman" panose="02020603050405020304" pitchFamily="18" charset="0"/>
                <a:ea typeface="楷体" panose="02010609060101010101" charset="-122"/>
                <a:cs typeface="Times New Roman" panose="02020603050405020304" pitchFamily="18" charset="0"/>
              </a:rPr>
              <a:t>SHA3</a:t>
            </a:r>
            <a:r>
              <a:rPr lang="zh-CN" altLang="en-US" dirty="0">
                <a:latin typeface="楷体" panose="02010609060101010101" charset="-122"/>
                <a:ea typeface="楷体" panose="02010609060101010101" charset="-122"/>
                <a:cs typeface="楷体" panose="02010609060101010101" charset="-122"/>
              </a:rPr>
              <a:t>哈希函数族的来源</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keccak</a:t>
            </a:r>
            <a:r>
              <a:rPr lang="zh-CN" altLang="en-US" dirty="0">
                <a:latin typeface="楷体" panose="02010609060101010101" charset="-122"/>
                <a:ea typeface="楷体" panose="02010609060101010101" charset="-122"/>
                <a:cs typeface="楷体" panose="02010609060101010101" charset="-122"/>
              </a:rPr>
              <a:t>族的</a:t>
            </a:r>
            <a:r>
              <a:rPr lang="en-US" altLang="zh-CN" dirty="0">
                <a:latin typeface="Times New Roman" panose="02020603050405020304" pitchFamily="18" charset="0"/>
                <a:ea typeface="楷体" panose="02010609060101010101" charset="-122"/>
                <a:cs typeface="Times New Roman" panose="02020603050405020304" pitchFamily="18" charset="0"/>
              </a:rPr>
              <a:t>keccak256</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算法。</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5680678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账户余额</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楷体" panose="02010609060101010101" charset="-122"/>
              </a:rPr>
              <a:t>(</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en-US" altLang="zh-CN" dirty="0">
                <a:latin typeface="Times New Roman" panose="02020603050405020304" pitchFamily="18" charset="0"/>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表示。</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比特币的交易类似于借据交易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这个过程中，借据上的借款数额虽然是可以继续划分的，但是借据本身是一个不可划分的整体，而比特币的交易也是类似的，交易主要分为输入和输出两个部分。交易的输入表示了交易的比特币从哪里来，交易的输出则体现了交易中的这些比特币在交易结束后往哪里去。虽然交易中的比特币数值可以继续划分到很小的单位，但是交易的输入和输出本身都是单一的整体，不可划分。</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交易</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B51A515E-D6A8-46AF-B0B1-180E341C20CA}"/>
              </a:ext>
            </a:extLst>
          </p:cNvPr>
          <p:cNvPicPr>
            <a:picLocks noChangeAspect="1"/>
          </p:cNvPicPr>
          <p:nvPr/>
        </p:nvPicPr>
        <p:blipFill>
          <a:blip r:embed="rId2"/>
          <a:stretch>
            <a:fillRect/>
          </a:stretch>
        </p:blipFill>
        <p:spPr>
          <a:xfrm>
            <a:off x="6490310" y="4053558"/>
            <a:ext cx="2564181" cy="731230"/>
          </a:xfrm>
          <a:prstGeom prst="rect">
            <a:avLst/>
          </a:prstGeom>
        </p:spPr>
      </p:pic>
    </p:spTree>
    <p:extLst>
      <p:ext uri="{BB962C8B-B14F-4D97-AF65-F5344CB8AC3E}">
        <p14:creationId xmlns:p14="http://schemas.microsoft.com/office/powerpoint/2010/main" val="3616027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98598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比特币的转账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假设现在</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要向</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进行转账</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，那么她必须使用一个交易来完成这个转账的动作。首先，</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会将她所拥有的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放入到交易的输入中，再将这个交易的输出标记为</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所有。那么，执行完这一交易之后，</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就失去了放入输入的这一个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的所有权，而</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得到了这个交易输出的</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的所有权。在这个过程中，比特币系统中的所有参与者共同充当了公证人的角色，而密码学的原理充当了原本借据上具有法律效力的印章和签名。 </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转账</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2" name="图片 21">
            <a:extLst>
              <a:ext uri="{FF2B5EF4-FFF2-40B4-BE49-F238E27FC236}">
                <a16:creationId xmlns:a16="http://schemas.microsoft.com/office/drawing/2014/main" id="{6AC93309-4C92-4F5B-8815-DDC6531099FE}"/>
              </a:ext>
            </a:extLst>
          </p:cNvPr>
          <p:cNvPicPr>
            <a:picLocks noChangeAspect="1"/>
          </p:cNvPicPr>
          <p:nvPr/>
        </p:nvPicPr>
        <p:blipFill>
          <a:blip r:embed="rId2"/>
          <a:stretch>
            <a:fillRect/>
          </a:stretch>
        </p:blipFill>
        <p:spPr>
          <a:xfrm>
            <a:off x="5030525" y="4021606"/>
            <a:ext cx="3044190" cy="401901"/>
          </a:xfrm>
          <a:prstGeom prst="rect">
            <a:avLst/>
          </a:prstGeom>
        </p:spPr>
      </p:pic>
    </p:spTree>
    <p:extLst>
      <p:ext uri="{BB962C8B-B14F-4D97-AF65-F5344CB8AC3E}">
        <p14:creationId xmlns:p14="http://schemas.microsoft.com/office/powerpoint/2010/main" val="30462070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26297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利用</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b="1" dirty="0">
                <a:solidFill>
                  <a:schemeClr val="accent1"/>
                </a:solidFill>
                <a:latin typeface="楷体" panose="02010609060101010101" charset="-122"/>
                <a:ea typeface="楷体" panose="02010609060101010101" charset="-122"/>
                <a:cs typeface="楷体" panose="02010609060101010101" charset="-122"/>
              </a:rPr>
              <a:t>模型</a:t>
            </a:r>
            <a:r>
              <a:rPr lang="zh-CN" altLang="en-US" dirty="0">
                <a:latin typeface="楷体" panose="02010609060101010101" charset="-122"/>
                <a:ea typeface="楷体" panose="02010609060101010101" charset="-122"/>
                <a:cs typeface="楷体" panose="02010609060101010101" charset="-122"/>
              </a:rPr>
              <a:t>计算</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所拥有的比特币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的交易输出已经花费，而</a:t>
            </a:r>
            <a:r>
              <a:rPr lang="en-US" altLang="zh-CN" dirty="0">
                <a:latin typeface="楷体" panose="02010609060101010101" charset="-122"/>
                <a:ea typeface="楷体" panose="02010609060101010101" charset="-122"/>
                <a:cs typeface="楷体" panose="02010609060101010101" charset="-122"/>
              </a:rPr>
              <a:t>0.5</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的交易输出则尚未花费，代表了</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的用户余额。在比特币的世界里，这些还没有花费出去的交易才能够真正地反映出一个用户所拥有的比特币，它们被称之为未花费交易输出</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Times New Roman" panose="02020603050405020304" pitchFamily="18" charset="0"/>
              </a:rPr>
              <a:t>)</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简称为</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只要我们把比特币系统上的所有交易执行一遍，将所有由</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才可以解锁的、同时也是还没有被“花费”的交易输出收集起来，我们就可以得到</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用户的比特币余额。</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余额</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AD01AE3-AC0C-4697-9AA5-E38623D05089}"/>
              </a:ext>
            </a:extLst>
          </p:cNvPr>
          <p:cNvPicPr>
            <a:picLocks noChangeAspect="1"/>
          </p:cNvPicPr>
          <p:nvPr/>
        </p:nvPicPr>
        <p:blipFill>
          <a:blip r:embed="rId2"/>
          <a:stretch>
            <a:fillRect/>
          </a:stretch>
        </p:blipFill>
        <p:spPr>
          <a:xfrm>
            <a:off x="4752852" y="3474772"/>
            <a:ext cx="3474030" cy="1182167"/>
          </a:xfrm>
          <a:prstGeom prst="rect">
            <a:avLst/>
          </a:prstGeom>
        </p:spPr>
      </p:pic>
    </p:spTree>
    <p:extLst>
      <p:ext uri="{BB962C8B-B14F-4D97-AF65-F5344CB8AC3E}">
        <p14:creationId xmlns:p14="http://schemas.microsoft.com/office/powerpoint/2010/main" val="6957439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75" name="Rectangle 3">
            <a:extLst>
              <a:ext uri="{FF2B5EF4-FFF2-40B4-BE49-F238E27FC236}">
                <a16:creationId xmlns:a16="http://schemas.microsoft.com/office/drawing/2014/main" id="{9B8A6A83-B449-4229-B0CE-551B479F52A8}"/>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6" name="Rectangle 4">
            <a:extLst>
              <a:ext uri="{FF2B5EF4-FFF2-40B4-BE49-F238E27FC236}">
                <a16:creationId xmlns:a16="http://schemas.microsoft.com/office/drawing/2014/main" id="{445118D3-B133-4206-A493-53FFF9A0C334}"/>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7" name="Rectangle 5">
            <a:extLst>
              <a:ext uri="{FF2B5EF4-FFF2-40B4-BE49-F238E27FC236}">
                <a16:creationId xmlns:a16="http://schemas.microsoft.com/office/drawing/2014/main" id="{55388D4F-CF28-413D-B8CA-30456BDE73CB}"/>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8" name="Rectangle 6">
            <a:extLst>
              <a:ext uri="{FF2B5EF4-FFF2-40B4-BE49-F238E27FC236}">
                <a16:creationId xmlns:a16="http://schemas.microsoft.com/office/drawing/2014/main" id="{E38F6FC8-1671-4014-8920-CF154876F2C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79" name="TextBox 13">
                <a:extLst>
                  <a:ext uri="{FF2B5EF4-FFF2-40B4-BE49-F238E27FC236}">
                    <a16:creationId xmlns:a16="http://schemas.microsoft.com/office/drawing/2014/main" id="{151B640A-ECE7-4A08-91BB-E13EDCA85E0E}"/>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79" name="TextBox 13">
                <a:extLst>
                  <a:ext uri="{FF2B5EF4-FFF2-40B4-BE49-F238E27FC236}">
                    <a16:creationId xmlns:a16="http://schemas.microsoft.com/office/drawing/2014/main" id="{151B640A-ECE7-4A08-91BB-E13EDCA85E0E}"/>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TextBox 14">
                <a:extLst>
                  <a:ext uri="{FF2B5EF4-FFF2-40B4-BE49-F238E27FC236}">
                    <a16:creationId xmlns:a16="http://schemas.microsoft.com/office/drawing/2014/main" id="{0B047363-52B8-4091-9F6E-FA814B22570B}"/>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80" name="TextBox 14">
                <a:extLst>
                  <a:ext uri="{FF2B5EF4-FFF2-40B4-BE49-F238E27FC236}">
                    <a16:creationId xmlns:a16="http://schemas.microsoft.com/office/drawing/2014/main" id="{0B047363-52B8-4091-9F6E-FA814B22570B}"/>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TextBox 15">
                <a:extLst>
                  <a:ext uri="{FF2B5EF4-FFF2-40B4-BE49-F238E27FC236}">
                    <a16:creationId xmlns:a16="http://schemas.microsoft.com/office/drawing/2014/main" id="{A80FE51E-4624-4817-AC1F-D4F349F00F63}"/>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81" name="TextBox 15">
                <a:extLst>
                  <a:ext uri="{FF2B5EF4-FFF2-40B4-BE49-F238E27FC236}">
                    <a16:creationId xmlns:a16="http://schemas.microsoft.com/office/drawing/2014/main" id="{A80FE51E-4624-4817-AC1F-D4F349F00F63}"/>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TextBox 16">
                <a:extLst>
                  <a:ext uri="{FF2B5EF4-FFF2-40B4-BE49-F238E27FC236}">
                    <a16:creationId xmlns:a16="http://schemas.microsoft.com/office/drawing/2014/main" id="{E49CE691-53A0-4F8E-A0CB-24748BC2A4C1}"/>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82" name="TextBox 16">
                <a:extLst>
                  <a:ext uri="{FF2B5EF4-FFF2-40B4-BE49-F238E27FC236}">
                    <a16:creationId xmlns:a16="http://schemas.microsoft.com/office/drawing/2014/main" id="{E49CE691-53A0-4F8E-A0CB-24748BC2A4C1}"/>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TextBox 17">
                <a:extLst>
                  <a:ext uri="{FF2B5EF4-FFF2-40B4-BE49-F238E27FC236}">
                    <a16:creationId xmlns:a16="http://schemas.microsoft.com/office/drawing/2014/main" id="{5C7E07C0-C9D2-4510-83CF-D6DBDA6F7E5F}"/>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83" name="TextBox 17">
                <a:extLst>
                  <a:ext uri="{FF2B5EF4-FFF2-40B4-BE49-F238E27FC236}">
                    <a16:creationId xmlns:a16="http://schemas.microsoft.com/office/drawing/2014/main" id="{5C7E07C0-C9D2-4510-83CF-D6DBDA6F7E5F}"/>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TextBox 18">
                <a:extLst>
                  <a:ext uri="{FF2B5EF4-FFF2-40B4-BE49-F238E27FC236}">
                    <a16:creationId xmlns:a16="http://schemas.microsoft.com/office/drawing/2014/main" id="{3963BB29-3D63-45B3-BE70-4A0506A7481C}"/>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xmlns="">
          <p:sp>
            <p:nvSpPr>
              <p:cNvPr id="84" name="TextBox 18">
                <a:extLst>
                  <a:ext uri="{FF2B5EF4-FFF2-40B4-BE49-F238E27FC236}">
                    <a16:creationId xmlns:a16="http://schemas.microsoft.com/office/drawing/2014/main" id="{3963BB29-3D63-45B3-BE70-4A0506A7481C}"/>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TextBox 19">
                <a:extLst>
                  <a:ext uri="{FF2B5EF4-FFF2-40B4-BE49-F238E27FC236}">
                    <a16:creationId xmlns:a16="http://schemas.microsoft.com/office/drawing/2014/main" id="{9AD37D1B-1A04-463D-AAD6-4ADD4026DDE8}"/>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85" name="TextBox 19">
                <a:extLst>
                  <a:ext uri="{FF2B5EF4-FFF2-40B4-BE49-F238E27FC236}">
                    <a16:creationId xmlns:a16="http://schemas.microsoft.com/office/drawing/2014/main" id="{9AD37D1B-1A04-463D-AAD6-4ADD4026DDE8}"/>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TextBox 20">
                <a:extLst>
                  <a:ext uri="{FF2B5EF4-FFF2-40B4-BE49-F238E27FC236}">
                    <a16:creationId xmlns:a16="http://schemas.microsoft.com/office/drawing/2014/main" id="{CE6C1A23-3F24-43B9-9BB0-E7382F460E4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xmlns="">
          <p:sp>
            <p:nvSpPr>
              <p:cNvPr id="86" name="TextBox 20">
                <a:extLst>
                  <a:ext uri="{FF2B5EF4-FFF2-40B4-BE49-F238E27FC236}">
                    <a16:creationId xmlns:a16="http://schemas.microsoft.com/office/drawing/2014/main" id="{CE6C1A23-3F24-43B9-9BB0-E7382F460E4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Rectangle 23">
                <a:extLst>
                  <a:ext uri="{FF2B5EF4-FFF2-40B4-BE49-F238E27FC236}">
                    <a16:creationId xmlns:a16="http://schemas.microsoft.com/office/drawing/2014/main" id="{38BBEBAD-A958-4754-B316-278C4FD3280D}"/>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xmlns="">
          <p:sp>
            <p:nvSpPr>
              <p:cNvPr id="87" name="Rectangle 23">
                <a:extLst>
                  <a:ext uri="{FF2B5EF4-FFF2-40B4-BE49-F238E27FC236}">
                    <a16:creationId xmlns:a16="http://schemas.microsoft.com/office/drawing/2014/main" id="{38BBEBAD-A958-4754-B316-278C4FD3280D}"/>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88" name="Oval 24">
            <a:extLst>
              <a:ext uri="{FF2B5EF4-FFF2-40B4-BE49-F238E27FC236}">
                <a16:creationId xmlns:a16="http://schemas.microsoft.com/office/drawing/2014/main" id="{62190FE4-3535-4F21-A03A-B7F15549272C}"/>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89" name="Oval 25">
            <a:extLst>
              <a:ext uri="{FF2B5EF4-FFF2-40B4-BE49-F238E27FC236}">
                <a16:creationId xmlns:a16="http://schemas.microsoft.com/office/drawing/2014/main" id="{C071E281-DC66-46AE-B87B-07DBFF10913A}"/>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0" name="Oval 26">
            <a:extLst>
              <a:ext uri="{FF2B5EF4-FFF2-40B4-BE49-F238E27FC236}">
                <a16:creationId xmlns:a16="http://schemas.microsoft.com/office/drawing/2014/main" id="{0A256E6D-6287-47FF-9D3C-70A152646548}"/>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1" name="Oval 27">
            <a:extLst>
              <a:ext uri="{FF2B5EF4-FFF2-40B4-BE49-F238E27FC236}">
                <a16:creationId xmlns:a16="http://schemas.microsoft.com/office/drawing/2014/main" id="{1DF7CDE4-A1F7-4097-A7CB-E8BE1C440D99}"/>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2" name="Oval 28">
            <a:extLst>
              <a:ext uri="{FF2B5EF4-FFF2-40B4-BE49-F238E27FC236}">
                <a16:creationId xmlns:a16="http://schemas.microsoft.com/office/drawing/2014/main" id="{7BCE1F52-0E2F-43B8-BF5F-74CF4F9A892A}"/>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3" name="Oval 29">
            <a:extLst>
              <a:ext uri="{FF2B5EF4-FFF2-40B4-BE49-F238E27FC236}">
                <a16:creationId xmlns:a16="http://schemas.microsoft.com/office/drawing/2014/main" id="{F24C23B1-E828-41D4-997D-5297A1DB9BE4}"/>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4" name="Oval 30">
            <a:extLst>
              <a:ext uri="{FF2B5EF4-FFF2-40B4-BE49-F238E27FC236}">
                <a16:creationId xmlns:a16="http://schemas.microsoft.com/office/drawing/2014/main" id="{91D6AB7C-922C-4316-9E5B-B2DAE681DE1E}"/>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95" name="Straight Arrow Connector 31">
            <a:extLst>
              <a:ext uri="{FF2B5EF4-FFF2-40B4-BE49-F238E27FC236}">
                <a16:creationId xmlns:a16="http://schemas.microsoft.com/office/drawing/2014/main" id="{F748C1C3-E13D-492C-86A1-0E7289890C8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32">
            <a:extLst>
              <a:ext uri="{FF2B5EF4-FFF2-40B4-BE49-F238E27FC236}">
                <a16:creationId xmlns:a16="http://schemas.microsoft.com/office/drawing/2014/main" id="{6E8DA198-97B0-4025-8044-FF8F784B0D52}"/>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7" name="Straight Arrow Connector 33">
            <a:extLst>
              <a:ext uri="{FF2B5EF4-FFF2-40B4-BE49-F238E27FC236}">
                <a16:creationId xmlns:a16="http://schemas.microsoft.com/office/drawing/2014/main" id="{0B249C21-4DD3-4A73-9F46-6F18582E99B0}"/>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34">
            <a:extLst>
              <a:ext uri="{FF2B5EF4-FFF2-40B4-BE49-F238E27FC236}">
                <a16:creationId xmlns:a16="http://schemas.microsoft.com/office/drawing/2014/main" id="{8E2C493F-8958-4732-94D8-341A6D47ED4B}"/>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9" name="Straight Arrow Connector 35">
            <a:extLst>
              <a:ext uri="{FF2B5EF4-FFF2-40B4-BE49-F238E27FC236}">
                <a16:creationId xmlns:a16="http://schemas.microsoft.com/office/drawing/2014/main" id="{F5808D06-0F35-49DE-A6DF-487396A1F5B2}"/>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36">
            <a:extLst>
              <a:ext uri="{FF2B5EF4-FFF2-40B4-BE49-F238E27FC236}">
                <a16:creationId xmlns:a16="http://schemas.microsoft.com/office/drawing/2014/main" id="{60682766-7CDF-42E4-84D9-196EEA6621A1}"/>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1" name="Straight Arrow Connector 37">
            <a:extLst>
              <a:ext uri="{FF2B5EF4-FFF2-40B4-BE49-F238E27FC236}">
                <a16:creationId xmlns:a16="http://schemas.microsoft.com/office/drawing/2014/main" id="{55451F35-0904-49DC-85E0-32673A4AC2B5}"/>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38">
            <a:extLst>
              <a:ext uri="{FF2B5EF4-FFF2-40B4-BE49-F238E27FC236}">
                <a16:creationId xmlns:a16="http://schemas.microsoft.com/office/drawing/2014/main" id="{473BE77D-0AB4-4E56-BF2A-0D55AE1DD48B}"/>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 name="Straight Arrow Connector 39">
            <a:extLst>
              <a:ext uri="{FF2B5EF4-FFF2-40B4-BE49-F238E27FC236}">
                <a16:creationId xmlns:a16="http://schemas.microsoft.com/office/drawing/2014/main" id="{5D4D2F6F-D856-428A-BD2B-57688EA8AC51}"/>
              </a:ext>
            </a:extLst>
          </p:cNvPr>
          <p:cNvCxnSpPr>
            <a:cxnSpLocks/>
            <a:stCxn id="88"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40">
            <a:extLst>
              <a:ext uri="{FF2B5EF4-FFF2-40B4-BE49-F238E27FC236}">
                <a16:creationId xmlns:a16="http://schemas.microsoft.com/office/drawing/2014/main" id="{9C016983-F048-4604-AF76-AF3E4A297E30}"/>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5" name="Straight Arrow Connector 41">
            <a:extLst>
              <a:ext uri="{FF2B5EF4-FFF2-40B4-BE49-F238E27FC236}">
                <a16:creationId xmlns:a16="http://schemas.microsoft.com/office/drawing/2014/main" id="{FD77EAAF-2079-44B4-A6F6-050F36BAF81C}"/>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42">
            <a:extLst>
              <a:ext uri="{FF2B5EF4-FFF2-40B4-BE49-F238E27FC236}">
                <a16:creationId xmlns:a16="http://schemas.microsoft.com/office/drawing/2014/main" id="{B870EE6D-18A8-4CD2-A5ED-BC84E14FB1F3}"/>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7" name="Straight Arrow Connector 43">
            <a:extLst>
              <a:ext uri="{FF2B5EF4-FFF2-40B4-BE49-F238E27FC236}">
                <a16:creationId xmlns:a16="http://schemas.microsoft.com/office/drawing/2014/main" id="{1B986F76-F4EB-437D-9482-D6BE3BDB172F}"/>
              </a:ext>
            </a:extLst>
          </p:cNvPr>
          <p:cNvCxnSpPr>
            <a:cxnSpLocks/>
            <a:stCxn id="94"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8" name="Straight Arrow Connector 44">
            <a:extLst>
              <a:ext uri="{FF2B5EF4-FFF2-40B4-BE49-F238E27FC236}">
                <a16:creationId xmlns:a16="http://schemas.microsoft.com/office/drawing/2014/main" id="{5530DDD0-B59B-477E-B582-BDEFD8831562}"/>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9" name="Straight Arrow Connector 45">
            <a:extLst>
              <a:ext uri="{FF2B5EF4-FFF2-40B4-BE49-F238E27FC236}">
                <a16:creationId xmlns:a16="http://schemas.microsoft.com/office/drawing/2014/main" id="{8B31EE96-82E3-401D-87A0-C47D0D2758E0}"/>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10" name="Group 48">
            <a:extLst>
              <a:ext uri="{FF2B5EF4-FFF2-40B4-BE49-F238E27FC236}">
                <a16:creationId xmlns:a16="http://schemas.microsoft.com/office/drawing/2014/main" id="{6E119C58-F2AA-47A9-B117-37D91DC6025F}"/>
              </a:ext>
            </a:extLst>
          </p:cNvPr>
          <p:cNvGrpSpPr/>
          <p:nvPr/>
        </p:nvGrpSpPr>
        <p:grpSpPr>
          <a:xfrm>
            <a:off x="3672021" y="1624073"/>
            <a:ext cx="4611786" cy="1382043"/>
            <a:chOff x="1270014" y="1991148"/>
            <a:chExt cx="3458839" cy="1036532"/>
          </a:xfrm>
        </p:grpSpPr>
        <mc:AlternateContent xmlns:mc="http://schemas.openxmlformats.org/markup-compatibility/2006" xmlns:a14="http://schemas.microsoft.com/office/drawing/2010/main">
          <mc:Choice Requires="a14">
            <p:sp>
              <p:nvSpPr>
                <p:cNvPr id="111" name="TextBox 49">
                  <a:extLst>
                    <a:ext uri="{FF2B5EF4-FFF2-40B4-BE49-F238E27FC236}">
                      <a16:creationId xmlns:a16="http://schemas.microsoft.com/office/drawing/2014/main" id="{21300D49-C072-4AFA-9D33-6300B40131F3}"/>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111" name="TextBox 49">
                  <a:extLst>
                    <a:ext uri="{FF2B5EF4-FFF2-40B4-BE49-F238E27FC236}">
                      <a16:creationId xmlns:a16="http://schemas.microsoft.com/office/drawing/2014/main" id="{21300D49-C072-4AFA-9D33-6300B40131F3}"/>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TextBox 50">
                  <a:extLst>
                    <a:ext uri="{FF2B5EF4-FFF2-40B4-BE49-F238E27FC236}">
                      <a16:creationId xmlns:a16="http://schemas.microsoft.com/office/drawing/2014/main" id="{15D889D0-597F-42C3-9867-254D076C4FA8}"/>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112" name="TextBox 50">
                  <a:extLst>
                    <a:ext uri="{FF2B5EF4-FFF2-40B4-BE49-F238E27FC236}">
                      <a16:creationId xmlns:a16="http://schemas.microsoft.com/office/drawing/2014/main" id="{15D889D0-597F-42C3-9867-254D076C4FA8}"/>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TextBox 51">
                  <a:extLst>
                    <a:ext uri="{FF2B5EF4-FFF2-40B4-BE49-F238E27FC236}">
                      <a16:creationId xmlns:a16="http://schemas.microsoft.com/office/drawing/2014/main" id="{2441EBE0-5ADC-4305-B57D-C5D3D27180AF}"/>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113" name="TextBox 51">
                  <a:extLst>
                    <a:ext uri="{FF2B5EF4-FFF2-40B4-BE49-F238E27FC236}">
                      <a16:creationId xmlns:a16="http://schemas.microsoft.com/office/drawing/2014/main" id="{2441EBE0-5ADC-4305-B57D-C5D3D27180AF}"/>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TextBox 52">
                  <a:extLst>
                    <a:ext uri="{FF2B5EF4-FFF2-40B4-BE49-F238E27FC236}">
                      <a16:creationId xmlns:a16="http://schemas.microsoft.com/office/drawing/2014/main" id="{462959F0-CA33-4DA4-A690-DB330EC52E36}"/>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114" name="TextBox 52">
                  <a:extLst>
                    <a:ext uri="{FF2B5EF4-FFF2-40B4-BE49-F238E27FC236}">
                      <a16:creationId xmlns:a16="http://schemas.microsoft.com/office/drawing/2014/main" id="{462959F0-CA33-4DA4-A690-DB330EC52E36}"/>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5" name="TextBox 53">
                  <a:extLst>
                    <a:ext uri="{FF2B5EF4-FFF2-40B4-BE49-F238E27FC236}">
                      <a16:creationId xmlns:a16="http://schemas.microsoft.com/office/drawing/2014/main" id="{D440612E-5948-4572-82B7-AF222AB65C6A}"/>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115" name="TextBox 53">
                  <a:extLst>
                    <a:ext uri="{FF2B5EF4-FFF2-40B4-BE49-F238E27FC236}">
                      <a16:creationId xmlns:a16="http://schemas.microsoft.com/office/drawing/2014/main" id="{D440612E-5948-4572-82B7-AF222AB65C6A}"/>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6" name="TextBox 54">
                  <a:extLst>
                    <a:ext uri="{FF2B5EF4-FFF2-40B4-BE49-F238E27FC236}">
                      <a16:creationId xmlns:a16="http://schemas.microsoft.com/office/drawing/2014/main" id="{25A3F062-EFE0-41A1-8C0B-DA46B18AA5F4}"/>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116" name="TextBox 54">
                  <a:extLst>
                    <a:ext uri="{FF2B5EF4-FFF2-40B4-BE49-F238E27FC236}">
                      <a16:creationId xmlns:a16="http://schemas.microsoft.com/office/drawing/2014/main" id="{25A3F062-EFE0-41A1-8C0B-DA46B18AA5F4}"/>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117" name="Group 55">
            <a:extLst>
              <a:ext uri="{FF2B5EF4-FFF2-40B4-BE49-F238E27FC236}">
                <a16:creationId xmlns:a16="http://schemas.microsoft.com/office/drawing/2014/main" id="{4FDE77B5-343C-431A-A28F-BFD24C786FA5}"/>
              </a:ext>
            </a:extLst>
          </p:cNvPr>
          <p:cNvGrpSpPr/>
          <p:nvPr/>
        </p:nvGrpSpPr>
        <p:grpSpPr>
          <a:xfrm>
            <a:off x="4139263" y="740674"/>
            <a:ext cx="1869346" cy="400110"/>
            <a:chOff x="1230923" y="1316820"/>
            <a:chExt cx="1516720" cy="300083"/>
          </a:xfrm>
        </p:grpSpPr>
        <p:sp>
          <p:nvSpPr>
            <p:cNvPr id="118" name="TextBox 57">
              <a:extLst>
                <a:ext uri="{FF2B5EF4-FFF2-40B4-BE49-F238E27FC236}">
                  <a16:creationId xmlns:a16="http://schemas.microsoft.com/office/drawing/2014/main" id="{D0B50657-EB1E-4369-B9C9-ECD25DA070D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119" name="Straight Arrow Connector 58">
              <a:extLst>
                <a:ext uri="{FF2B5EF4-FFF2-40B4-BE49-F238E27FC236}">
                  <a16:creationId xmlns:a16="http://schemas.microsoft.com/office/drawing/2014/main" id="{2A1C609F-EAFD-4AB2-972E-E34E0336709E}"/>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4965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 </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1" name="Rectangle 3">
            <a:extLst>
              <a:ext uri="{FF2B5EF4-FFF2-40B4-BE49-F238E27FC236}">
                <a16:creationId xmlns:a16="http://schemas.microsoft.com/office/drawing/2014/main" id="{7264E8A0-24CE-45D5-B5BA-6B6453B36C1E}"/>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2" name="Rectangle 4">
            <a:extLst>
              <a:ext uri="{FF2B5EF4-FFF2-40B4-BE49-F238E27FC236}">
                <a16:creationId xmlns:a16="http://schemas.microsoft.com/office/drawing/2014/main" id="{EB2D5C21-85EC-44E3-BBEB-7503F80475C1}"/>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3" name="Rectangle 5">
            <a:extLst>
              <a:ext uri="{FF2B5EF4-FFF2-40B4-BE49-F238E27FC236}">
                <a16:creationId xmlns:a16="http://schemas.microsoft.com/office/drawing/2014/main" id="{A4F407F6-3156-4CAA-BCC6-C338DA8ACCB0}"/>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4" name="Rectangle 6">
            <a:extLst>
              <a:ext uri="{FF2B5EF4-FFF2-40B4-BE49-F238E27FC236}">
                <a16:creationId xmlns:a16="http://schemas.microsoft.com/office/drawing/2014/main" id="{1D508472-2B85-497C-9782-AF0F2471B93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25" name="TextBox 13">
                <a:extLst>
                  <a:ext uri="{FF2B5EF4-FFF2-40B4-BE49-F238E27FC236}">
                    <a16:creationId xmlns:a16="http://schemas.microsoft.com/office/drawing/2014/main" id="{C55FE5C8-4D98-4E55-9850-4C38A3D7BFB3}"/>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25" name="TextBox 13">
                <a:extLst>
                  <a:ext uri="{FF2B5EF4-FFF2-40B4-BE49-F238E27FC236}">
                    <a16:creationId xmlns:a16="http://schemas.microsoft.com/office/drawing/2014/main" id="{C55FE5C8-4D98-4E55-9850-4C38A3D7BFB3}"/>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TextBox 14">
                <a:extLst>
                  <a:ext uri="{FF2B5EF4-FFF2-40B4-BE49-F238E27FC236}">
                    <a16:creationId xmlns:a16="http://schemas.microsoft.com/office/drawing/2014/main" id="{5F5CD7F2-19B6-4433-912B-FA40E84244BD}"/>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26" name="TextBox 14">
                <a:extLst>
                  <a:ext uri="{FF2B5EF4-FFF2-40B4-BE49-F238E27FC236}">
                    <a16:creationId xmlns:a16="http://schemas.microsoft.com/office/drawing/2014/main" id="{5F5CD7F2-19B6-4433-912B-FA40E84244BD}"/>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15">
                <a:extLst>
                  <a:ext uri="{FF2B5EF4-FFF2-40B4-BE49-F238E27FC236}">
                    <a16:creationId xmlns:a16="http://schemas.microsoft.com/office/drawing/2014/main" id="{1883A1C9-6017-4616-987C-1A2DB9E0BCE0}"/>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28" name="TextBox 15">
                <a:extLst>
                  <a:ext uri="{FF2B5EF4-FFF2-40B4-BE49-F238E27FC236}">
                    <a16:creationId xmlns:a16="http://schemas.microsoft.com/office/drawing/2014/main" id="{1883A1C9-6017-4616-987C-1A2DB9E0BCE0}"/>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0E80BB5B-4F98-4D4C-B791-F9E75FB6328D}"/>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29" name="TextBox 16">
                <a:extLst>
                  <a:ext uri="{FF2B5EF4-FFF2-40B4-BE49-F238E27FC236}">
                    <a16:creationId xmlns:a16="http://schemas.microsoft.com/office/drawing/2014/main" id="{0E80BB5B-4F98-4D4C-B791-F9E75FB6328D}"/>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TextBox 17">
                <a:extLst>
                  <a:ext uri="{FF2B5EF4-FFF2-40B4-BE49-F238E27FC236}">
                    <a16:creationId xmlns:a16="http://schemas.microsoft.com/office/drawing/2014/main" id="{D159D2BE-747E-455E-88BB-B7A7EA817BD7}"/>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30" name="TextBox 17">
                <a:extLst>
                  <a:ext uri="{FF2B5EF4-FFF2-40B4-BE49-F238E27FC236}">
                    <a16:creationId xmlns:a16="http://schemas.microsoft.com/office/drawing/2014/main" id="{D159D2BE-747E-455E-88BB-B7A7EA817BD7}"/>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TextBox 18">
                <a:extLst>
                  <a:ext uri="{FF2B5EF4-FFF2-40B4-BE49-F238E27FC236}">
                    <a16:creationId xmlns:a16="http://schemas.microsoft.com/office/drawing/2014/main" id="{5A9E6B74-9CE5-435B-B8D6-C5917C5002FF}"/>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xmlns="">
          <p:sp>
            <p:nvSpPr>
              <p:cNvPr id="31" name="TextBox 18">
                <a:extLst>
                  <a:ext uri="{FF2B5EF4-FFF2-40B4-BE49-F238E27FC236}">
                    <a16:creationId xmlns:a16="http://schemas.microsoft.com/office/drawing/2014/main" id="{5A9E6B74-9CE5-435B-B8D6-C5917C5002FF}"/>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TextBox 19">
                <a:extLst>
                  <a:ext uri="{FF2B5EF4-FFF2-40B4-BE49-F238E27FC236}">
                    <a16:creationId xmlns:a16="http://schemas.microsoft.com/office/drawing/2014/main" id="{B2B52B85-831E-4550-A053-1952CEFF5EE7}"/>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32" name="TextBox 19">
                <a:extLst>
                  <a:ext uri="{FF2B5EF4-FFF2-40B4-BE49-F238E27FC236}">
                    <a16:creationId xmlns:a16="http://schemas.microsoft.com/office/drawing/2014/main" id="{B2B52B85-831E-4550-A053-1952CEFF5EE7}"/>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TextBox 20">
                <a:extLst>
                  <a:ext uri="{FF2B5EF4-FFF2-40B4-BE49-F238E27FC236}">
                    <a16:creationId xmlns:a16="http://schemas.microsoft.com/office/drawing/2014/main" id="{1F6052DB-5273-4463-845D-121DD64E12A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xmlns="">
          <p:sp>
            <p:nvSpPr>
              <p:cNvPr id="33" name="TextBox 20">
                <a:extLst>
                  <a:ext uri="{FF2B5EF4-FFF2-40B4-BE49-F238E27FC236}">
                    <a16:creationId xmlns:a16="http://schemas.microsoft.com/office/drawing/2014/main" id="{1F6052DB-5273-4463-845D-121DD64E12A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Rectangle 23">
                <a:extLst>
                  <a:ext uri="{FF2B5EF4-FFF2-40B4-BE49-F238E27FC236}">
                    <a16:creationId xmlns:a16="http://schemas.microsoft.com/office/drawing/2014/main" id="{314DBDB8-39F9-4819-9974-FFB6CA2AC4F0}"/>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xmlns="">
          <p:sp>
            <p:nvSpPr>
              <p:cNvPr id="36" name="Rectangle 23">
                <a:extLst>
                  <a:ext uri="{FF2B5EF4-FFF2-40B4-BE49-F238E27FC236}">
                    <a16:creationId xmlns:a16="http://schemas.microsoft.com/office/drawing/2014/main" id="{314DBDB8-39F9-4819-9974-FFB6CA2AC4F0}"/>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37" name="Oval 24">
            <a:extLst>
              <a:ext uri="{FF2B5EF4-FFF2-40B4-BE49-F238E27FC236}">
                <a16:creationId xmlns:a16="http://schemas.microsoft.com/office/drawing/2014/main" id="{66CC15B6-CC93-4176-8A4F-E608FD84F4A3}"/>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8" name="Oval 25">
            <a:extLst>
              <a:ext uri="{FF2B5EF4-FFF2-40B4-BE49-F238E27FC236}">
                <a16:creationId xmlns:a16="http://schemas.microsoft.com/office/drawing/2014/main" id="{3F7B14A8-F552-43C0-AC72-22ABFACE421C}"/>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9" name="Oval 26">
            <a:extLst>
              <a:ext uri="{FF2B5EF4-FFF2-40B4-BE49-F238E27FC236}">
                <a16:creationId xmlns:a16="http://schemas.microsoft.com/office/drawing/2014/main" id="{D7B00374-6872-4460-8DC8-369F313395FD}"/>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0" name="Oval 27">
            <a:extLst>
              <a:ext uri="{FF2B5EF4-FFF2-40B4-BE49-F238E27FC236}">
                <a16:creationId xmlns:a16="http://schemas.microsoft.com/office/drawing/2014/main" id="{6D5628E6-AFB3-4E88-B5EB-75BEE7EB3374}"/>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1" name="Oval 28">
            <a:extLst>
              <a:ext uri="{FF2B5EF4-FFF2-40B4-BE49-F238E27FC236}">
                <a16:creationId xmlns:a16="http://schemas.microsoft.com/office/drawing/2014/main" id="{FADBA36E-1B9B-4BDB-B559-CEC0F92766BC}"/>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2" name="Oval 29">
            <a:extLst>
              <a:ext uri="{FF2B5EF4-FFF2-40B4-BE49-F238E27FC236}">
                <a16:creationId xmlns:a16="http://schemas.microsoft.com/office/drawing/2014/main" id="{E9182BEA-6A67-4641-A4A1-378FF81D7602}"/>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3" name="Oval 30">
            <a:extLst>
              <a:ext uri="{FF2B5EF4-FFF2-40B4-BE49-F238E27FC236}">
                <a16:creationId xmlns:a16="http://schemas.microsoft.com/office/drawing/2014/main" id="{1EC4CA3D-6A08-47C5-AD2C-15BCC11400AB}"/>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44" name="Straight Arrow Connector 31">
            <a:extLst>
              <a:ext uri="{FF2B5EF4-FFF2-40B4-BE49-F238E27FC236}">
                <a16:creationId xmlns:a16="http://schemas.microsoft.com/office/drawing/2014/main" id="{EF6455E6-7199-4BEF-9210-6B4A6D9E0CF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32">
            <a:extLst>
              <a:ext uri="{FF2B5EF4-FFF2-40B4-BE49-F238E27FC236}">
                <a16:creationId xmlns:a16="http://schemas.microsoft.com/office/drawing/2014/main" id="{70D4F2C5-7D84-4A5C-928A-004A9006CD36}"/>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Arrow Connector 33">
            <a:extLst>
              <a:ext uri="{FF2B5EF4-FFF2-40B4-BE49-F238E27FC236}">
                <a16:creationId xmlns:a16="http://schemas.microsoft.com/office/drawing/2014/main" id="{4594D370-BE92-4D39-80A8-6155EF3305B8}"/>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34">
            <a:extLst>
              <a:ext uri="{FF2B5EF4-FFF2-40B4-BE49-F238E27FC236}">
                <a16:creationId xmlns:a16="http://schemas.microsoft.com/office/drawing/2014/main" id="{B964455D-E5AB-4D78-AD8B-B38F00EC7FD4}"/>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8" name="Straight Arrow Connector 35">
            <a:extLst>
              <a:ext uri="{FF2B5EF4-FFF2-40B4-BE49-F238E27FC236}">
                <a16:creationId xmlns:a16="http://schemas.microsoft.com/office/drawing/2014/main" id="{9E3825C9-3BAB-49AB-BBF5-7D2EC3205FB1}"/>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36">
            <a:extLst>
              <a:ext uri="{FF2B5EF4-FFF2-40B4-BE49-F238E27FC236}">
                <a16:creationId xmlns:a16="http://schemas.microsoft.com/office/drawing/2014/main" id="{15CA0CD5-7D74-46C8-86B8-B561E29AA58E}"/>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Straight Arrow Connector 37">
            <a:extLst>
              <a:ext uri="{FF2B5EF4-FFF2-40B4-BE49-F238E27FC236}">
                <a16:creationId xmlns:a16="http://schemas.microsoft.com/office/drawing/2014/main" id="{19EA04EA-CCF2-455D-AE22-F209D7C8A594}"/>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38">
            <a:extLst>
              <a:ext uri="{FF2B5EF4-FFF2-40B4-BE49-F238E27FC236}">
                <a16:creationId xmlns:a16="http://schemas.microsoft.com/office/drawing/2014/main" id="{6D7B3F09-48AA-40FC-9EF9-B37B8F4EFA38}"/>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39">
            <a:extLst>
              <a:ext uri="{FF2B5EF4-FFF2-40B4-BE49-F238E27FC236}">
                <a16:creationId xmlns:a16="http://schemas.microsoft.com/office/drawing/2014/main" id="{4B7CF831-216D-43DE-8F4B-D3B37EE72A16}"/>
              </a:ext>
            </a:extLst>
          </p:cNvPr>
          <p:cNvCxnSpPr>
            <a:cxnSpLocks/>
            <a:stCxn id="37"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40">
            <a:extLst>
              <a:ext uri="{FF2B5EF4-FFF2-40B4-BE49-F238E27FC236}">
                <a16:creationId xmlns:a16="http://schemas.microsoft.com/office/drawing/2014/main" id="{38A905BE-BBE9-4E65-B821-075D48B482F2}"/>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41">
            <a:extLst>
              <a:ext uri="{FF2B5EF4-FFF2-40B4-BE49-F238E27FC236}">
                <a16:creationId xmlns:a16="http://schemas.microsoft.com/office/drawing/2014/main" id="{C9C940BA-A57E-4031-B8E1-8EA79E7DE95E}"/>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42">
            <a:extLst>
              <a:ext uri="{FF2B5EF4-FFF2-40B4-BE49-F238E27FC236}">
                <a16:creationId xmlns:a16="http://schemas.microsoft.com/office/drawing/2014/main" id="{A2313F97-7590-4B96-8108-70385723F748}"/>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43">
            <a:extLst>
              <a:ext uri="{FF2B5EF4-FFF2-40B4-BE49-F238E27FC236}">
                <a16:creationId xmlns:a16="http://schemas.microsoft.com/office/drawing/2014/main" id="{E589D8DC-FC29-4DE0-A1F2-57AFCDDA37A1}"/>
              </a:ext>
            </a:extLst>
          </p:cNvPr>
          <p:cNvCxnSpPr>
            <a:cxnSpLocks/>
            <a:stCxn id="43"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44">
            <a:extLst>
              <a:ext uri="{FF2B5EF4-FFF2-40B4-BE49-F238E27FC236}">
                <a16:creationId xmlns:a16="http://schemas.microsoft.com/office/drawing/2014/main" id="{3B94EDF3-6039-4387-B8CF-F22CA45DBDEF}"/>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45">
            <a:extLst>
              <a:ext uri="{FF2B5EF4-FFF2-40B4-BE49-F238E27FC236}">
                <a16:creationId xmlns:a16="http://schemas.microsoft.com/office/drawing/2014/main" id="{2CB257D9-7F98-409C-A908-AD6C3BBC25C8}"/>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59" name="Group 48">
            <a:extLst>
              <a:ext uri="{FF2B5EF4-FFF2-40B4-BE49-F238E27FC236}">
                <a16:creationId xmlns:a16="http://schemas.microsoft.com/office/drawing/2014/main" id="{D660E74D-691E-4C8E-A858-1B84F8CFC527}"/>
              </a:ext>
            </a:extLst>
          </p:cNvPr>
          <p:cNvGrpSpPr/>
          <p:nvPr/>
        </p:nvGrpSpPr>
        <p:grpSpPr>
          <a:xfrm>
            <a:off x="3672021" y="1624073"/>
            <a:ext cx="4611786" cy="1382043"/>
            <a:chOff x="1270014" y="1991148"/>
            <a:chExt cx="3458839" cy="1036532"/>
          </a:xfrm>
        </p:grpSpPr>
        <mc:AlternateContent xmlns:mc="http://schemas.openxmlformats.org/markup-compatibility/2006" xmlns:a14="http://schemas.microsoft.com/office/drawing/2010/main">
          <mc:Choice Requires="a14">
            <p:sp>
              <p:nvSpPr>
                <p:cNvPr id="60" name="TextBox 49">
                  <a:extLst>
                    <a:ext uri="{FF2B5EF4-FFF2-40B4-BE49-F238E27FC236}">
                      <a16:creationId xmlns:a16="http://schemas.microsoft.com/office/drawing/2014/main" id="{B42B2559-92F7-4DE4-9665-5536F9B4F554}"/>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60" name="TextBox 49">
                  <a:extLst>
                    <a:ext uri="{FF2B5EF4-FFF2-40B4-BE49-F238E27FC236}">
                      <a16:creationId xmlns:a16="http://schemas.microsoft.com/office/drawing/2014/main" id="{B42B2559-92F7-4DE4-9665-5536F9B4F554}"/>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TextBox 50">
                  <a:extLst>
                    <a:ext uri="{FF2B5EF4-FFF2-40B4-BE49-F238E27FC236}">
                      <a16:creationId xmlns:a16="http://schemas.microsoft.com/office/drawing/2014/main" id="{6AE76B49-24F4-4BB3-B0EA-DA8588D25681}"/>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61" name="TextBox 50">
                  <a:extLst>
                    <a:ext uri="{FF2B5EF4-FFF2-40B4-BE49-F238E27FC236}">
                      <a16:creationId xmlns:a16="http://schemas.microsoft.com/office/drawing/2014/main" id="{6AE76B49-24F4-4BB3-B0EA-DA8588D25681}"/>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TextBox 51">
                  <a:extLst>
                    <a:ext uri="{FF2B5EF4-FFF2-40B4-BE49-F238E27FC236}">
                      <a16:creationId xmlns:a16="http://schemas.microsoft.com/office/drawing/2014/main" id="{3663D76E-0CB0-4B99-A0F2-713D7313CB1E}"/>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62" name="TextBox 51">
                  <a:extLst>
                    <a:ext uri="{FF2B5EF4-FFF2-40B4-BE49-F238E27FC236}">
                      <a16:creationId xmlns:a16="http://schemas.microsoft.com/office/drawing/2014/main" id="{3663D76E-0CB0-4B99-A0F2-713D7313CB1E}"/>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TextBox 52">
                  <a:extLst>
                    <a:ext uri="{FF2B5EF4-FFF2-40B4-BE49-F238E27FC236}">
                      <a16:creationId xmlns:a16="http://schemas.microsoft.com/office/drawing/2014/main" id="{E07C6EC1-049C-4B34-9464-FF82C1D42AC7}"/>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63" name="TextBox 52">
                  <a:extLst>
                    <a:ext uri="{FF2B5EF4-FFF2-40B4-BE49-F238E27FC236}">
                      <a16:creationId xmlns:a16="http://schemas.microsoft.com/office/drawing/2014/main" id="{E07C6EC1-049C-4B34-9464-FF82C1D42AC7}"/>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TextBox 53">
                  <a:extLst>
                    <a:ext uri="{FF2B5EF4-FFF2-40B4-BE49-F238E27FC236}">
                      <a16:creationId xmlns:a16="http://schemas.microsoft.com/office/drawing/2014/main" id="{EABF044E-9555-446D-A303-201CC3D3B9D9}"/>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64" name="TextBox 53">
                  <a:extLst>
                    <a:ext uri="{FF2B5EF4-FFF2-40B4-BE49-F238E27FC236}">
                      <a16:creationId xmlns:a16="http://schemas.microsoft.com/office/drawing/2014/main" id="{EABF044E-9555-446D-A303-201CC3D3B9D9}"/>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TextBox 54">
                  <a:extLst>
                    <a:ext uri="{FF2B5EF4-FFF2-40B4-BE49-F238E27FC236}">
                      <a16:creationId xmlns:a16="http://schemas.microsoft.com/office/drawing/2014/main" id="{77B5A22F-31D4-4E0F-B049-6119B33C7B28}"/>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65" name="TextBox 54">
                  <a:extLst>
                    <a:ext uri="{FF2B5EF4-FFF2-40B4-BE49-F238E27FC236}">
                      <a16:creationId xmlns:a16="http://schemas.microsoft.com/office/drawing/2014/main" id="{77B5A22F-31D4-4E0F-B049-6119B33C7B28}"/>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66" name="Group 55">
            <a:extLst>
              <a:ext uri="{FF2B5EF4-FFF2-40B4-BE49-F238E27FC236}">
                <a16:creationId xmlns:a16="http://schemas.microsoft.com/office/drawing/2014/main" id="{01E5393B-1E9E-44C3-9390-F559CA187F3B}"/>
              </a:ext>
            </a:extLst>
          </p:cNvPr>
          <p:cNvGrpSpPr/>
          <p:nvPr/>
        </p:nvGrpSpPr>
        <p:grpSpPr>
          <a:xfrm>
            <a:off x="4139263" y="740674"/>
            <a:ext cx="1869346" cy="400110"/>
            <a:chOff x="1230923" y="1316820"/>
            <a:chExt cx="1516720" cy="300083"/>
          </a:xfrm>
        </p:grpSpPr>
        <p:sp>
          <p:nvSpPr>
            <p:cNvPr id="67" name="TextBox 57">
              <a:extLst>
                <a:ext uri="{FF2B5EF4-FFF2-40B4-BE49-F238E27FC236}">
                  <a16:creationId xmlns:a16="http://schemas.microsoft.com/office/drawing/2014/main" id="{1A72F522-2BFA-46DA-80C7-36A53CFE8D7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68" name="Straight Arrow Connector 58">
              <a:extLst>
                <a:ext uri="{FF2B5EF4-FFF2-40B4-BE49-F238E27FC236}">
                  <a16:creationId xmlns:a16="http://schemas.microsoft.com/office/drawing/2014/main" id="{4A098E86-2042-4ED9-8AFE-71E46B558D42}"/>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69" name="TextBox 47">
                <a:extLst>
                  <a:ext uri="{FF2B5EF4-FFF2-40B4-BE49-F238E27FC236}">
                    <a16:creationId xmlns:a16="http://schemas.microsoft.com/office/drawing/2014/main" id="{C328000A-1111-4E59-9E1D-6E137CC4D53F}"/>
                  </a:ext>
                </a:extLst>
              </p:cNvPr>
              <p:cNvSpPr txBox="1"/>
              <p:nvPr/>
            </p:nvSpPr>
            <p:spPr>
              <a:xfrm>
                <a:off x="272925" y="1505493"/>
                <a:ext cx="2356030" cy="811954"/>
              </a:xfrm>
              <a:prstGeom prst="rect">
                <a:avLst/>
              </a:prstGeom>
              <a:noFill/>
              <a:ln>
                <a:solidFill>
                  <a:srgbClr val="96060B"/>
                </a:solidFill>
              </a:ln>
            </p:spPr>
            <p:txBody>
              <a:bodyPr wrap="none" rtlCol="0">
                <a:spAutoFit/>
              </a:bodyPr>
              <a:lstStyle/>
              <a:p>
                <a:r>
                  <a:rPr lang="en-US" dirty="0"/>
                  <a:t>To prove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𝑆</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4</m:t>
                            </m:r>
                          </m:e>
                        </m:d>
                        <m:r>
                          <a:rPr lang="en-US" i="1" dirty="0">
                            <a:latin typeface="Cambria Math" panose="02040503050406030204" pitchFamily="18" charset="0"/>
                          </a:rPr>
                          <m:t>= </m:t>
                        </m:r>
                        <m:r>
                          <a:rPr lang="en-US" i="1" dirty="0">
                            <a:latin typeface="Cambria Math" panose="02040503050406030204" pitchFamily="18" charset="0"/>
                          </a:rPr>
                          <m:t>𝑚</m:t>
                        </m:r>
                      </m:e>
                      <m:sub>
                        <m:r>
                          <a:rPr lang="en-US" i="1" dirty="0">
                            <a:latin typeface="Cambria Math" panose="02040503050406030204" pitchFamily="18" charset="0"/>
                          </a:rPr>
                          <m:t>4</m:t>
                        </m:r>
                      </m:sub>
                    </m:sSub>
                  </m:oMath>
                </a14:m>
                <a:r>
                  <a:rPr lang="en-US" dirty="0"/>
                  <a:t>  ,</a:t>
                </a:r>
              </a:p>
              <a:p>
                <a:pPr>
                  <a:lnSpc>
                    <a:spcPct val="110000"/>
                  </a:lnSpc>
                  <a:spcBef>
                    <a:spcPts val="1200"/>
                  </a:spcBef>
                </a:pPr>
                <a:r>
                  <a:rPr lang="en-US" dirty="0"/>
                  <a:t>proof </a:t>
                </a:r>
                <a14:m>
                  <m:oMath xmlns:m="http://schemas.openxmlformats.org/officeDocument/2006/math">
                    <m:r>
                      <m:rPr>
                        <m:sty m:val="p"/>
                      </m:rPr>
                      <a:rPr lang="el-GR" i="1" dirty="0">
                        <a:latin typeface="Cambria Math" panose="02040503050406030204" pitchFamily="18" charset="0"/>
                        <a:ea typeface="Cambria Math" panose="02040503050406030204" pitchFamily="18" charset="0"/>
                      </a:rPr>
                      <m:t>π</m:t>
                    </m:r>
                    <m:r>
                      <a:rPr lang="en-US" dirty="0">
                        <a:latin typeface="Cambria Math" panose="02040503050406030204" pitchFamily="18" charset="0"/>
                      </a:rPr>
                      <m:t>= </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3</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1</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6</m:t>
                            </m:r>
                          </m:sub>
                        </m:sSub>
                      </m:e>
                    </m:d>
                  </m:oMath>
                </a14:m>
                <a:endParaRPr lang="en-US" dirty="0"/>
              </a:p>
            </p:txBody>
          </p:sp>
        </mc:Choice>
        <mc:Fallback xmlns="">
          <p:sp>
            <p:nvSpPr>
              <p:cNvPr id="69" name="TextBox 47">
                <a:extLst>
                  <a:ext uri="{FF2B5EF4-FFF2-40B4-BE49-F238E27FC236}">
                    <a16:creationId xmlns:a16="http://schemas.microsoft.com/office/drawing/2014/main" id="{C328000A-1111-4E59-9E1D-6E137CC4D53F}"/>
                  </a:ext>
                </a:extLst>
              </p:cNvPr>
              <p:cNvSpPr txBox="1">
                <a:spLocks noRot="1" noChangeAspect="1" noMove="1" noResize="1" noEditPoints="1" noAdjustHandles="1" noChangeArrowheads="1" noChangeShapeType="1" noTextEdit="1"/>
              </p:cNvSpPr>
              <p:nvPr/>
            </p:nvSpPr>
            <p:spPr>
              <a:xfrm>
                <a:off x="272925" y="1505493"/>
                <a:ext cx="2356030" cy="811954"/>
              </a:xfrm>
              <a:prstGeom prst="rect">
                <a:avLst/>
              </a:prstGeom>
              <a:blipFill>
                <a:blip r:embed="rId17"/>
                <a:stretch>
                  <a:fillRect l="-2062" t="-3704" b="-10370"/>
                </a:stretch>
              </a:blipFill>
              <a:ln>
                <a:solidFill>
                  <a:srgbClr val="96060B"/>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TextBox 56">
                <a:extLst>
                  <a:ext uri="{FF2B5EF4-FFF2-40B4-BE49-F238E27FC236}">
                    <a16:creationId xmlns:a16="http://schemas.microsoft.com/office/drawing/2014/main" id="{37499455-218F-4B8D-B404-5CDDF745AC64}"/>
                  </a:ext>
                </a:extLst>
              </p:cNvPr>
              <p:cNvSpPr txBox="1"/>
              <p:nvPr/>
            </p:nvSpPr>
            <p:spPr>
              <a:xfrm>
                <a:off x="502293" y="2553204"/>
                <a:ext cx="2111027" cy="1477328"/>
              </a:xfrm>
              <a:prstGeom prst="rect">
                <a:avLst/>
              </a:prstGeom>
              <a:noFill/>
            </p:spPr>
            <p:txBody>
              <a:bodyPr wrap="none" rtlCol="0">
                <a:spAutoFit/>
              </a:bodyPr>
              <a:lstStyle/>
              <a:p>
                <a:r>
                  <a:rPr lang="en-US" dirty="0"/>
                  <a:t>Do:</a:t>
                </a:r>
              </a:p>
              <a:p>
                <a:r>
                  <a:rPr lang="en-US" dirty="0"/>
                  <a:t>     </a:t>
                </a:r>
                <a14:m>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2</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𝑚</m:t>
                        </m:r>
                        <m:r>
                          <a:rPr lang="en-US" i="1" baseline="-25000" dirty="0">
                            <a:latin typeface="Cambria Math" panose="02040503050406030204" pitchFamily="18" charset="0"/>
                          </a:rPr>
                          <m:t>3</m:t>
                        </m:r>
                        <m:r>
                          <a:rPr lang="en-US" i="1" dirty="0">
                            <a:latin typeface="Cambria Math" panose="02040503050406030204" pitchFamily="18" charset="0"/>
                          </a:rPr>
                          <m:t>,</m:t>
                        </m:r>
                        <m:r>
                          <a:rPr lang="en-US" i="1" dirty="0">
                            <a:latin typeface="Cambria Math" panose="02040503050406030204" pitchFamily="18" charset="0"/>
                          </a:rPr>
                          <m:t>𝑚</m:t>
                        </m:r>
                        <m:r>
                          <a:rPr lang="en-US" i="1" baseline="-25000" dirty="0">
                            <a:latin typeface="Cambria Math" panose="02040503050406030204" pitchFamily="18" charset="0"/>
                          </a:rPr>
                          <m:t>4</m:t>
                        </m:r>
                      </m:e>
                    </m:d>
                  </m:oMath>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𝑦</m:t>
                          </m:r>
                          <m:r>
                            <a:rPr lang="en-US" i="1" baseline="-25000" dirty="0">
                              <a:latin typeface="Cambria Math" panose="02040503050406030204" pitchFamily="18" charset="0"/>
                            </a:rPr>
                            <m:t>1</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2</m:t>
                          </m:r>
                        </m:e>
                      </m:d>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 ⇽ </m:t>
                      </m:r>
                      <m:r>
                        <a:rPr lang="en-US" i="1" dirty="0">
                          <a:latin typeface="Cambria Math" panose="02040503050406030204" pitchFamily="18" charset="0"/>
                        </a:rPr>
                        <m:t>𝐻</m:t>
                      </m:r>
                      <m:r>
                        <a:rPr lang="en-US" i="1" dirty="0">
                          <a:latin typeface="Cambria Math" panose="02040503050406030204" pitchFamily="18" charset="0"/>
                        </a:rPr>
                        <m:t>(</m:t>
                      </m:r>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6</m:t>
                      </m:r>
                      <m:r>
                        <a:rPr lang="en-US" i="1" dirty="0">
                          <a:latin typeface="Cambria Math" panose="02040503050406030204" pitchFamily="18" charset="0"/>
                        </a:rPr>
                        <m:t>)</m:t>
                      </m:r>
                    </m:oMath>
                  </m:oMathPara>
                </a14:m>
                <a:endParaRPr lang="en-US" dirty="0"/>
              </a:p>
              <a:p>
                <a:pPr marL="626518" indent="-626518"/>
                <a:r>
                  <a:rPr lang="en-US" dirty="0"/>
                  <a:t>     accept if  </a:t>
                </a:r>
                <a14:m>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m:t>
                    </m:r>
                    <m:r>
                      <a:rPr lang="en-US" i="1" dirty="0">
                        <a:latin typeface="Cambria Math" panose="02040503050406030204" pitchFamily="18" charset="0"/>
                      </a:rPr>
                      <m:t>h</m:t>
                    </m:r>
                    <m:r>
                      <a:rPr lang="en-US" i="1" dirty="0">
                        <a:latin typeface="Cambria Math" panose="02040503050406030204" pitchFamily="18" charset="0"/>
                      </a:rPr>
                      <m:t>’</m:t>
                    </m:r>
                  </m:oMath>
                </a14:m>
                <a:endParaRPr lang="en-US" dirty="0"/>
              </a:p>
            </p:txBody>
          </p:sp>
        </mc:Choice>
        <mc:Fallback xmlns="">
          <p:sp>
            <p:nvSpPr>
              <p:cNvPr id="70" name="TextBox 56">
                <a:extLst>
                  <a:ext uri="{FF2B5EF4-FFF2-40B4-BE49-F238E27FC236}">
                    <a16:creationId xmlns:a16="http://schemas.microsoft.com/office/drawing/2014/main" id="{37499455-218F-4B8D-B404-5CDDF745AC64}"/>
                  </a:ext>
                </a:extLst>
              </p:cNvPr>
              <p:cNvSpPr txBox="1">
                <a:spLocks noRot="1" noChangeAspect="1" noMove="1" noResize="1" noEditPoints="1" noAdjustHandles="1" noChangeArrowheads="1" noChangeShapeType="1" noTextEdit="1"/>
              </p:cNvSpPr>
              <p:nvPr/>
            </p:nvSpPr>
            <p:spPr>
              <a:xfrm>
                <a:off x="502293" y="2553204"/>
                <a:ext cx="2111027" cy="1477328"/>
              </a:xfrm>
              <a:prstGeom prst="rect">
                <a:avLst/>
              </a:prstGeom>
              <a:blipFill>
                <a:blip r:embed="rId18"/>
                <a:stretch>
                  <a:fillRect l="-2305" t="-2479" b="-5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09312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07776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椭圆曲线密码编码学</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Elliptic Curve Cryptography</a:t>
                </a:r>
                <a:r>
                  <a:rPr lang="zh-CN" altLang="en-US" dirty="0">
                    <a:latin typeface="楷体" panose="02010609060101010101" charset="-122"/>
                    <a:ea typeface="楷体" panose="02010609060101010101" charset="-122"/>
                    <a:cs typeface="楷体" panose="02010609060101010101" charset="-122"/>
                  </a:rPr>
                  <a:t>，缩写：</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en-US" altLang="zh-CN"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使用椭圆曲线密码系统</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，可以达到如</a:t>
                </a:r>
                <a:r>
                  <a:rPr lang="en-US" altLang="zh-CN" dirty="0">
                    <a:latin typeface="Times New Roman" panose="02020603050405020304" pitchFamily="18" charset="0"/>
                    <a:ea typeface="楷体" panose="02010609060101010101" charset="-122"/>
                    <a:cs typeface="Times New Roman" panose="02020603050405020304" pitchFamily="18" charset="0"/>
                  </a:rPr>
                  <a:t>Rivest-Shamir-Adleman(RSA)</a:t>
                </a:r>
                <a:r>
                  <a:rPr lang="en-US" altLang="zh-CN" dirty="0">
                    <a:latin typeface="楷体" panose="02010609060101010101" charset="-122"/>
                    <a:ea typeface="楷体" panose="02010609060101010101" charset="-122"/>
                    <a:cs typeface="楷体" panose="02010609060101010101" charset="-122"/>
                  </a:rPr>
                  <a:t>,</a:t>
                </a:r>
                <a:r>
                  <a:rPr lang="en-US" altLang="zh-CN" sz="1800" dirty="0">
                    <a:latin typeface="Times New Roman" panose="02020603050405020304" pitchFamily="18" charset="0"/>
                    <a:ea typeface="楷体" panose="02010609060101010101" charset="-122"/>
                    <a:cs typeface="Times New Roman" panose="02020603050405020304" pitchFamily="18" charset="0"/>
                  </a:rPr>
                  <a:t> Diffie-Hellman</a:t>
                </a:r>
                <a:r>
                  <a:rPr lang="zh-CN" altLang="en-US" b="1" dirty="0">
                    <a:solidFill>
                      <a:schemeClr val="accent1"/>
                    </a:solidFill>
                    <a:latin typeface="楷体" panose="02010609060101010101" charset="-122"/>
                    <a:ea typeface="楷体" panose="02010609060101010101" charset="-122"/>
                    <a:cs typeface="楷体" panose="02010609060101010101" charset="-122"/>
                  </a:rPr>
                  <a:t>同样的安全但位数要小得多</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椭圆曲线并非椭圆，它指的是由魏尔斯特拉斯形式</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Weierstrass</a:t>
                </a:r>
                <a:r>
                  <a:rPr lang="en-US" altLang="zh-CN" dirty="0">
                    <a:latin typeface="Times New Roman" panose="02020603050405020304" pitchFamily="18" charset="0"/>
                    <a:ea typeface="楷体" panose="02010609060101010101" charset="-122"/>
                    <a:cs typeface="Times New Roman" panose="02020603050405020304" pitchFamily="18" charset="0"/>
                  </a:rPr>
                  <a:t> Form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所确定的平面曲线：</a:t>
                </a:r>
                <a14:m>
                  <m:oMath xmlns:m="http://schemas.openxmlformats.org/officeDocument/2006/math">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𝑎𝑥𝑦</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𝑏𝑦</m:t>
                    </m:r>
                    <m:r>
                      <a:rPr lang="en-US" altLang="zh-CN"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𝑐</m:t>
                        </m:r>
                        <m:r>
                          <a:rPr lang="en-US" altLang="zh-CN" i="1">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𝑑𝑥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𝑒</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b="1" dirty="0">
                    <a:solidFill>
                      <a:schemeClr val="accent1"/>
                    </a:solidFill>
                    <a:latin typeface="楷体" panose="02010609060101010101" charset="-122"/>
                    <a:ea typeface="楷体" panose="02010609060101010101" charset="-122"/>
                    <a:cs typeface="楷体" panose="02010609060101010101" charset="-122"/>
                  </a:rPr>
                  <a:t>一般形式：</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𝑦</m:t>
                        </m:r>
                      </m:e>
                      <m:sup>
                        <m:r>
                          <a:rPr lang="en-US" altLang="zh-CN" b="0" i="1" smtClean="0">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𝑥</m:t>
                        </m:r>
                      </m:e>
                      <m:sup>
                        <m:r>
                          <a:rPr lang="en-US" altLang="zh-CN" b="0" i="1" smtClean="0">
                            <a:solidFill>
                              <a:schemeClr val="accent1"/>
                            </a:solidFill>
                            <a:latin typeface="Cambria Math" panose="02040503050406030204" pitchFamily="18" charset="0"/>
                            <a:ea typeface="楷体" panose="02010609060101010101" charset="-122"/>
                          </a:rPr>
                          <m:t>3</m:t>
                        </m:r>
                      </m:sup>
                    </m:sSup>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𝑎𝑥</m:t>
                    </m:r>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𝑏</m:t>
                    </m:r>
                  </m:oMath>
                </a14:m>
                <a:endParaRPr lang="en-US" altLang="zh-CN" dirty="0">
                  <a:solidFill>
                    <a:schemeClr val="accent1"/>
                  </a:solidFill>
                  <a:latin typeface="楷体" panose="02010609060101010101" charset="-122"/>
                  <a:ea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满足上述方程的数对</a:t>
                </a:r>
                <a14:m>
                  <m:oMath xmlns:m="http://schemas.openxmlformats.org/officeDocument/2006/math">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𝑥</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𝑦</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称为椭圆曲线</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上的点。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同时定义无穷点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point at infinity</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或零点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zero point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的</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sym typeface="Wingdings 2" panose="05020102010507070707" pitchFamily="18" charset="2"/>
                      </a:rPr>
                      <m:t>O</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077766"/>
              </a:xfrm>
              <a:prstGeom prst="rect">
                <a:avLst/>
              </a:prstGeom>
              <a:blipFill>
                <a:blip r:embed="rId2"/>
                <a:stretch>
                  <a:fillRect l="-474" t="-1386" r="-711"/>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sp>
        <p:nvSpPr>
          <p:cNvPr id="13" name="矩形: 圆角 12">
            <a:extLst>
              <a:ext uri="{FF2B5EF4-FFF2-40B4-BE49-F238E27FC236}">
                <a16:creationId xmlns:a16="http://schemas.microsoft.com/office/drawing/2014/main" id="{21803E71-8695-4976-A2CB-4360BA43E85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A2C8BFB-D92A-4CFB-8264-75ADE40F2A6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9A765D2-6F0B-4DD4-B522-A7E6266A31F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FD3AF3A-3353-4B51-9182-63F00AB6CEB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1479E29-3893-4F4B-95E2-BE9BF8AEB7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BC55CF5E-E79C-4A90-9901-90DED1FDDF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65AD6D9B-F047-406A-8FA3-73412B7DF4E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B5625378-146F-4453-9F7D-C89DD42EB01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96D858B1-4A11-4503-9F21-440583FB47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5549430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50865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具有不同根的条件一般形式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−4</m:t>
                    </m:r>
                    <m:r>
                      <a:rPr lang="en-US" altLang="zh-CN" b="0" i="1" smtClean="0">
                        <a:latin typeface="Cambria Math" panose="02040503050406030204" pitchFamily="18" charset="0"/>
                        <a:ea typeface="楷体" panose="02010609060101010101" charset="-122"/>
                        <a:cs typeface="楷体" panose="02010609060101010101" charset="-122"/>
                      </a:rPr>
                      <m:t>𝑥</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508653"/>
              </a:xfrm>
              <a:prstGeom prst="rect">
                <a:avLst/>
              </a:prstGeom>
              <a:blipFill>
                <a:blip r:embed="rId2"/>
                <a:stretch>
                  <a:fillRect l="-474" t="-868"/>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pic>
        <p:nvPicPr>
          <p:cNvPr id="16" name="Picture 4">
            <a:extLst>
              <a:ext uri="{FF2B5EF4-FFF2-40B4-BE49-F238E27FC236}">
                <a16:creationId xmlns:a16="http://schemas.microsoft.com/office/drawing/2014/main" id="{271B9484-7A22-4F3B-A39C-B473E0BAC97D}"/>
              </a:ext>
            </a:extLst>
          </p:cNvPr>
          <p:cNvPicPr>
            <a:picLocks noChangeAspect="1"/>
          </p:cNvPicPr>
          <p:nvPr/>
        </p:nvPicPr>
        <p:blipFill>
          <a:blip r:embed="rId3"/>
          <a:stretch>
            <a:fillRect/>
          </a:stretch>
        </p:blipFill>
        <p:spPr>
          <a:xfrm>
            <a:off x="956211" y="1726779"/>
            <a:ext cx="1756410" cy="533887"/>
          </a:xfrm>
          <a:prstGeom prst="rect">
            <a:avLst/>
          </a:prstGeom>
          <a:noFill/>
          <a:ln w="9525">
            <a:noFill/>
          </a:ln>
        </p:spPr>
      </p:pic>
      <p:pic>
        <p:nvPicPr>
          <p:cNvPr id="17" name="Picture 5">
            <a:extLst>
              <a:ext uri="{FF2B5EF4-FFF2-40B4-BE49-F238E27FC236}">
                <a16:creationId xmlns:a16="http://schemas.microsoft.com/office/drawing/2014/main" id="{6D729FCF-740D-4D5E-BD9C-B6A15817DCDF}"/>
              </a:ext>
            </a:extLst>
          </p:cNvPr>
          <p:cNvPicPr>
            <a:picLocks noChangeAspect="1"/>
          </p:cNvPicPr>
          <p:nvPr/>
        </p:nvPicPr>
        <p:blipFill>
          <a:blip r:embed="rId4"/>
          <a:stretch>
            <a:fillRect/>
          </a:stretch>
        </p:blipFill>
        <p:spPr>
          <a:xfrm>
            <a:off x="888473" y="2819627"/>
            <a:ext cx="1787360" cy="533887"/>
          </a:xfrm>
          <a:prstGeom prst="rect">
            <a:avLst/>
          </a:prstGeom>
          <a:noFill/>
          <a:ln w="9525">
            <a:noFill/>
          </a:ln>
        </p:spPr>
      </p:pic>
      <p:pic>
        <p:nvPicPr>
          <p:cNvPr id="19" name="Picture 7">
            <a:extLst>
              <a:ext uri="{FF2B5EF4-FFF2-40B4-BE49-F238E27FC236}">
                <a16:creationId xmlns:a16="http://schemas.microsoft.com/office/drawing/2014/main" id="{886E4CAE-9549-4771-9527-4B469517F242}"/>
              </a:ext>
            </a:extLst>
          </p:cNvPr>
          <p:cNvPicPr>
            <a:picLocks noChangeAspect="1"/>
          </p:cNvPicPr>
          <p:nvPr/>
        </p:nvPicPr>
        <p:blipFill>
          <a:blip r:embed="rId5"/>
          <a:stretch>
            <a:fillRect/>
          </a:stretch>
        </p:blipFill>
        <p:spPr>
          <a:xfrm>
            <a:off x="3949337" y="1144175"/>
            <a:ext cx="3385448" cy="3010463"/>
          </a:xfrm>
          <a:prstGeom prst="rect">
            <a:avLst/>
          </a:prstGeom>
          <a:noFill/>
          <a:ln w="9525">
            <a:noFill/>
          </a:ln>
        </p:spPr>
      </p:pic>
      <p:sp>
        <p:nvSpPr>
          <p:cNvPr id="18" name="矩形: 圆角 17">
            <a:extLst>
              <a:ext uri="{FF2B5EF4-FFF2-40B4-BE49-F238E27FC236}">
                <a16:creationId xmlns:a16="http://schemas.microsoft.com/office/drawing/2014/main" id="{8F9C1454-3FB8-4E22-B412-67CD7221453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61E0E108-A0AC-479B-9966-F481189E22D5}"/>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B792B8E5-AA2B-4BB9-B734-ADD48BDCD22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9FBCB2AF-8687-41B6-B32B-BA0808C1755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EFDA9704-B68B-404B-B3B1-29FB2A4F394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55E95A2E-DF32-4EC6-A791-D41AE49DDB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D15CFE8A-46EE-4046-AFB3-3617E1CD63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4D49A31D-E1D5-4D8F-BB4B-4FD29BE05791}"/>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30910304-ED09-45C5-BEA5-4FF59E6CC88B}"/>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133538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逆元：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d>
                      <m:dPr>
                        <m:ctrlPr>
                          <a:rPr lang="en-US" altLang="zh-CN" b="0" i="1" smtClean="0">
                            <a:latin typeface="Cambria Math" panose="02040503050406030204" pitchFamily="18" charset="0"/>
                            <a:ea typeface="楷体" panose="02010609060101010101" charset="-122"/>
                            <a:cs typeface="楷体" panose="02010609060101010101" charset="-122"/>
                          </a:rPr>
                        </m:ctrlPr>
                      </m:dPr>
                      <m:e>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e>
                    </m:d>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关于  轴对称点。</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p>
                      <m:sSupPr>
                        <m:ctrlPr>
                          <a:rPr lang="en-US" altLang="zh-CN" b="0"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𝑃</m:t>
                        </m:r>
                      </m:e>
                      <m:sup>
                        <m:r>
                          <a:rPr lang="en-US" altLang="zh-CN" b="0" i="1" smtClean="0">
                            <a:latin typeface="Cambria Math" panose="02040503050406030204" pitchFamily="18" charset="0"/>
                            <a:ea typeface="楷体" panose="02010609060101010101" charset="-122"/>
                            <a:cs typeface="楷体" panose="02010609060101010101" charset="-122"/>
                          </a:rPr>
                          <m:t>′</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单位元：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200876"/>
              </a:xfrm>
              <a:prstGeom prst="rect">
                <a:avLst/>
              </a:prstGeom>
              <a:blipFill>
                <a:blip r:embed="rId3"/>
                <a:stretch>
                  <a:fillRect l="-474" t="-95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单位元和逆元</a:t>
            </a:r>
          </a:p>
        </p:txBody>
      </p:sp>
      <p:graphicFrame>
        <p:nvGraphicFramePr>
          <p:cNvPr id="4" name="对象 3">
            <a:extLst>
              <a:ext uri="{FF2B5EF4-FFF2-40B4-BE49-F238E27FC236}">
                <a16:creationId xmlns:a16="http://schemas.microsoft.com/office/drawing/2014/main" id="{C522B63E-BEEA-4979-8EBD-5E247510EDC8}"/>
              </a:ext>
            </a:extLst>
          </p:cNvPr>
          <p:cNvGraphicFramePr>
            <a:graphicFrameLocks noChangeAspect="1"/>
          </p:cNvGraphicFramePr>
          <p:nvPr/>
        </p:nvGraphicFramePr>
        <p:xfrm>
          <a:off x="1704604" y="2014068"/>
          <a:ext cx="219446" cy="242037"/>
        </p:xfrm>
        <a:graphic>
          <a:graphicData uri="http://schemas.openxmlformats.org/presentationml/2006/ole">
            <mc:AlternateContent xmlns:mc="http://schemas.openxmlformats.org/markup-compatibility/2006">
              <mc:Choice xmlns:v="urn:schemas-microsoft-com:vml" Requires="v">
                <p:oleObj spid="_x0000_s3123" name="Equation" r:id="rId4" imgW="107648" imgH="118790" progId="Equation.DSMT4">
                  <p:embed/>
                </p:oleObj>
              </mc:Choice>
              <mc:Fallback>
                <p:oleObj name="Equation" r:id="rId4" imgW="107648" imgH="118790" progId="Equation.DSMT4">
                  <p:embed/>
                  <p:pic>
                    <p:nvPicPr>
                      <p:cNvPr id="4" name="对象 3">
                        <a:extLst>
                          <a:ext uri="{FF2B5EF4-FFF2-40B4-BE49-F238E27FC236}">
                            <a16:creationId xmlns:a16="http://schemas.microsoft.com/office/drawing/2014/main" id="{C522B63E-BEEA-4979-8EBD-5E247510EDC8}"/>
                          </a:ext>
                        </a:extLst>
                      </p:cNvPr>
                      <p:cNvPicPr/>
                      <p:nvPr/>
                    </p:nvPicPr>
                    <p:blipFill>
                      <a:blip r:embed="rId5"/>
                      <a:stretch>
                        <a:fillRect/>
                      </a:stretch>
                    </p:blipFill>
                    <p:spPr>
                      <a:xfrm>
                        <a:off x="1704604" y="2014068"/>
                        <a:ext cx="219446" cy="242037"/>
                      </a:xfrm>
                      <a:prstGeom prst="rect">
                        <a:avLst/>
                      </a:prstGeom>
                    </p:spPr>
                  </p:pic>
                </p:oleObj>
              </mc:Fallback>
            </mc:AlternateContent>
          </a:graphicData>
        </a:graphic>
      </p:graphicFrame>
      <p:pic>
        <p:nvPicPr>
          <p:cNvPr id="23" name="Picture 4">
            <a:extLst>
              <a:ext uri="{FF2B5EF4-FFF2-40B4-BE49-F238E27FC236}">
                <a16:creationId xmlns:a16="http://schemas.microsoft.com/office/drawing/2014/main" id="{A9CC6141-38C7-4DA4-BE0F-13333B1C226C}"/>
              </a:ext>
            </a:extLst>
          </p:cNvPr>
          <p:cNvPicPr>
            <a:picLocks noChangeAspect="1"/>
          </p:cNvPicPr>
          <p:nvPr/>
        </p:nvPicPr>
        <p:blipFill>
          <a:blip r:embed="rId6"/>
          <a:stretch>
            <a:fillRect/>
          </a:stretch>
        </p:blipFill>
        <p:spPr>
          <a:xfrm>
            <a:off x="3838175" y="881905"/>
            <a:ext cx="3375425" cy="3277180"/>
          </a:xfrm>
          <a:prstGeom prst="rect">
            <a:avLst/>
          </a:prstGeom>
          <a:noFill/>
          <a:ln w="9525">
            <a:noFill/>
          </a:ln>
        </p:spPr>
      </p:pic>
      <p:sp>
        <p:nvSpPr>
          <p:cNvPr id="15" name="矩形: 圆角 14">
            <a:extLst>
              <a:ext uri="{FF2B5EF4-FFF2-40B4-BE49-F238E27FC236}">
                <a16:creationId xmlns:a16="http://schemas.microsoft.com/office/drawing/2014/main" id="{C1C8C6E0-7546-4C53-A918-8A7041CD7C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3B5A79F3-B490-4682-AF91-DBDB403D51DA}"/>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C51A3909-9EC0-409D-A79A-643DA9F31AE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A161D9F0-0D3C-48B1-8C78-C57E0EC204CB}"/>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6EC9F788-2D3B-4E11-8CA1-6AA9A842E10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B8121C8-2509-49AD-9051-0CF7F42D6BCD}"/>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9434DBA-D77E-4A60-A180-39937B5539A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08133021-C2E0-4DD1-8850-7F285E404D7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4" name="文本框 23">
            <a:extLst>
              <a:ext uri="{FF2B5EF4-FFF2-40B4-BE49-F238E27FC236}">
                <a16:creationId xmlns:a16="http://schemas.microsoft.com/office/drawing/2014/main" id="{B16C957A-ACF9-42B6-9B22-A544EDA0494A}"/>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357927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4" y="1354656"/>
                <a:ext cx="8142661"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如果椭圆曲线上的三个点处于一条直线上，那么它们的和为</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。具体地，加法规则如下：</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zh-CN" altLang="en-US" i="1">
                        <a:latin typeface="Cambria Math" panose="02040503050406030204" pitchFamily="18" charset="0"/>
                        <a:ea typeface="楷体" panose="02010609060101010101" charset="-122"/>
                        <a:cs typeface="楷体" panose="02010609060101010101" charset="-122"/>
                      </a:rPr>
                      <m:t>是</m:t>
                    </m:r>
                  </m:oMath>
                </a14:m>
                <a:r>
                  <a:rPr lang="zh-CN" altLang="en-US" dirty="0">
                    <a:latin typeface="楷体" panose="02010609060101010101" charset="-122"/>
                    <a:ea typeface="楷体" panose="02010609060101010101" charset="-122"/>
                    <a:cs typeface="楷体" panose="02010609060101010101" charset="-122"/>
                  </a:rPr>
                  <a:t>加法的单位元</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additive identity</a:t>
                </a:r>
                <a:r>
                  <a:rPr lang="en-US" altLang="zh-CN" dirty="0">
                    <a:latin typeface="楷体" panose="02010609060101010101" charset="-122"/>
                    <a:ea typeface="楷体" panose="02010609060101010101" charset="-122"/>
                    <a:cs typeface="楷体" panose="02010609060101010101" charset="-122"/>
                  </a:rPr>
                  <a:t>),</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b="0" i="0"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，对于椭圆曲线上的任一点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一条垂直线与曲线相交于</a:t>
                </a:r>
                <a14:m>
                  <m:oMath xmlns:m="http://schemas.openxmlformats.org/officeDocument/2006/math">
                    <m:sSub>
                      <m:sSubPr>
                        <m:ctrlPr>
                          <a:rPr lang="pt-BR" altLang="zh-CN"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，也相交于无穷点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en-US" altLang="zh-CN" dirty="0">
                    <a:latin typeface="楷体" panose="02010609060101010101" charset="-122"/>
                    <a:ea typeface="楷体" panose="02010609060101010101" charset="-122"/>
                    <a:cs typeface="楷体" panose="02010609060101010101" charset="-122"/>
                  </a:rPr>
                  <a:t>=</a:t>
                </a:r>
                <a:r>
                  <a:rPr lang="en-US" altLang="zh-CN" dirty="0">
                    <a:ea typeface="楷体" panose="02010609060101010101" charset="-122"/>
                    <a:cs typeface="楷体" panose="02010609060101010101" charset="-122"/>
                  </a:rPr>
                  <a:t> </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2</m:t>
                        </m:r>
                      </m:sub>
                    </m:sSub>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对具有不同的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𝑥</m:t>
                    </m:r>
                  </m:oMath>
                </a14:m>
                <a:r>
                  <a:rPr lang="zh-CN" altLang="en-US" dirty="0">
                    <a:latin typeface="楷体" panose="02010609060101010101" charset="-122"/>
                    <a:ea typeface="楷体" panose="02010609060101010101" charset="-122"/>
                    <a:cs typeface="楷体" panose="02010609060101010101" charset="-122"/>
                  </a:rPr>
                  <a:t>坐标的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相加，在它们之间画一条直线求出第三个交点</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，这种交点是</a:t>
                </a:r>
                <a:r>
                  <a:rPr lang="zh-CN" altLang="en-US" b="1" dirty="0">
                    <a:solidFill>
                      <a:schemeClr val="accent1"/>
                    </a:solidFill>
                    <a:latin typeface="楷体" panose="02010609060101010101" charset="-122"/>
                    <a:ea typeface="楷体" panose="02010609060101010101" charset="-122"/>
                    <a:cs typeface="楷体" panose="02010609060101010101" charset="-122"/>
                  </a:rPr>
                  <a:t>唯一的</a:t>
                </a:r>
                <a:r>
                  <a:rPr lang="zh-CN" altLang="en-US" dirty="0">
                    <a:latin typeface="楷体" panose="02010609060101010101" charset="-122"/>
                    <a:ea typeface="楷体" panose="02010609060101010101" charset="-122"/>
                    <a:cs typeface="楷体" panose="02010609060101010101" charset="-122"/>
                  </a:rPr>
                  <a:t>。因</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rPr>
                      <m:t>𝑄</m:t>
                    </m:r>
                    <m:r>
                      <a:rPr lang="en-US" altLang="zh-CN" i="1">
                        <a:latin typeface="Cambria Math" panose="02040503050406030204" pitchFamily="18" charset="0"/>
                      </a:rPr>
                      <m:t>+</m:t>
                    </m:r>
                    <m:r>
                      <a:rPr lang="en-US" altLang="zh-CN" i="1">
                        <a:latin typeface="Cambria Math" panose="02040503050406030204" pitchFamily="18" charset="0"/>
                      </a:rPr>
                      <m:t>𝑅</m:t>
                    </m:r>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m:t>
                        </m:r>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加倍，画一切线求出另一交点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，则</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一条椭圆曲线上的一点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被一个正整数</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相乘的乘法被定义为</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个</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的相加。</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4" y="1354656"/>
                <a:ext cx="8142661" cy="3754874"/>
              </a:xfrm>
              <a:prstGeom prst="rect">
                <a:avLst/>
              </a:prstGeom>
              <a:blipFill>
                <a:blip r:embed="rId2"/>
                <a:stretch>
                  <a:fillRect l="-449" t="-1136" r="-3443"/>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a:t>
            </a:r>
          </a:p>
        </p:txBody>
      </p:sp>
      <p:sp>
        <p:nvSpPr>
          <p:cNvPr id="13" name="矩形: 圆角 12">
            <a:extLst>
              <a:ext uri="{FF2B5EF4-FFF2-40B4-BE49-F238E27FC236}">
                <a16:creationId xmlns:a16="http://schemas.microsoft.com/office/drawing/2014/main" id="{B6E98866-C0E6-49E9-8D36-6C730FB5543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BA9A7F70-1F23-47D5-8C44-D485EC6FE29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CE83167-13BD-4F8E-864D-9FB87428BC4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95DAB57-127A-4F10-A59E-F773485F42A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B2533087-D8D0-403D-8F91-75D8532D83C1}"/>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3CE361A-3E5C-40BC-841D-8B3410AF946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D34A36B3-947E-4976-83A0-A6125020BEE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887BB868-CDC3-40FF-ADA1-7FCDEFFF00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63FA7ADA-ACD1-4B0E-8B54-BDE589D4D2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6949575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04698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椭圆曲线上的点集及其上的加法操作构成一个</a:t>
                </a:r>
                <a:r>
                  <a:rPr lang="zh-CN" altLang="en-US" b="1" dirty="0">
                    <a:solidFill>
                      <a:schemeClr val="accent1"/>
                    </a:solidFill>
                    <a:latin typeface="楷体" panose="02010609060101010101" charset="-122"/>
                    <a:ea typeface="楷体" panose="02010609060101010101" charset="-122"/>
                    <a:cs typeface="楷体" panose="02010609060101010101" charset="-122"/>
                  </a:rPr>
                  <a:t>群</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点集：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椭圆曲线上的所有点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无穷点</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操作：</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Times New Roman" panose="02020603050405020304" pitchFamily="18" charset="0"/>
                    <a:ea typeface="楷体" panose="02010609060101010101" charset="-122"/>
                    <a:cs typeface="Times New Roman" panose="02020603050405020304" pitchFamily="18" charset="0"/>
                  </a:rPr>
                  <a:t>点加法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𝑅</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046988"/>
              </a:xfrm>
              <a:prstGeom prst="rect">
                <a:avLst/>
              </a:prstGeom>
              <a:blipFill>
                <a:blip r:embed="rId2"/>
                <a:stretch>
                  <a:fillRect l="-482" t="-1000"/>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1</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7" name="Picture 4">
            <a:extLst>
              <a:ext uri="{FF2B5EF4-FFF2-40B4-BE49-F238E27FC236}">
                <a16:creationId xmlns:a16="http://schemas.microsoft.com/office/drawing/2014/main" id="{0D1F1BF1-8A99-4609-8AC5-B474F00366C0}"/>
              </a:ext>
            </a:extLst>
          </p:cNvPr>
          <p:cNvPicPr>
            <a:picLocks noChangeAspect="1"/>
          </p:cNvPicPr>
          <p:nvPr/>
        </p:nvPicPr>
        <p:blipFill>
          <a:blip r:embed="rId3"/>
          <a:stretch>
            <a:fillRect/>
          </a:stretch>
        </p:blipFill>
        <p:spPr>
          <a:xfrm>
            <a:off x="4040974" y="1756831"/>
            <a:ext cx="3260464" cy="2818325"/>
          </a:xfrm>
          <a:prstGeom prst="rect">
            <a:avLst/>
          </a:prstGeom>
          <a:noFill/>
          <a:ln w="9525">
            <a:noFill/>
          </a:ln>
        </p:spPr>
      </p:pic>
      <p:sp>
        <p:nvSpPr>
          <p:cNvPr id="14" name="矩形: 圆角 13">
            <a:extLst>
              <a:ext uri="{FF2B5EF4-FFF2-40B4-BE49-F238E27FC236}">
                <a16:creationId xmlns:a16="http://schemas.microsoft.com/office/drawing/2014/main" id="{DF6B89BB-0B2F-4863-815B-5153484039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F4EAC656-2176-4166-9121-5033CFD0E5D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4F3DF4FC-7F4C-44A4-8E3B-B3A9CD1CD43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EEC4326-56C1-4880-A671-AB6A03C512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77328FEA-F4BB-4D64-BEE4-E35BA17EB89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34D4E755-C707-4B59-B7BA-40C8123437C4}"/>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56083A7-A809-4022-8143-10BF5C42E8D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7B1C8D2E-B98A-4B9D-BC9C-891A4CEE86E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7D699768-E113-402D-AE73-BA7962E07C2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857412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66199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二倍</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过点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的切线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661993"/>
              </a:xfrm>
              <a:prstGeom prst="rect">
                <a:avLst/>
              </a:prstGeom>
              <a:blipFill>
                <a:blip r:embed="rId2"/>
                <a:stretch>
                  <a:fillRect l="-482" t="-183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2</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4" name="Picture 4">
            <a:extLst>
              <a:ext uri="{FF2B5EF4-FFF2-40B4-BE49-F238E27FC236}">
                <a16:creationId xmlns:a16="http://schemas.microsoft.com/office/drawing/2014/main" id="{8D395FCD-D4AD-4423-96B4-7EA12592FEDB}"/>
              </a:ext>
            </a:extLst>
          </p:cNvPr>
          <p:cNvPicPr>
            <a:picLocks noChangeAspect="1"/>
          </p:cNvPicPr>
          <p:nvPr/>
        </p:nvPicPr>
        <p:blipFill>
          <a:blip r:embed="rId3"/>
          <a:stretch>
            <a:fillRect/>
          </a:stretch>
        </p:blipFill>
        <p:spPr>
          <a:xfrm>
            <a:off x="4111309" y="1770380"/>
            <a:ext cx="3230925" cy="2830417"/>
          </a:xfrm>
          <a:prstGeom prst="rect">
            <a:avLst/>
          </a:prstGeom>
          <a:noFill/>
          <a:ln w="9525">
            <a:noFill/>
          </a:ln>
        </p:spPr>
      </p:pic>
      <p:sp>
        <p:nvSpPr>
          <p:cNvPr id="15" name="矩形: 圆角 14">
            <a:extLst>
              <a:ext uri="{FF2B5EF4-FFF2-40B4-BE49-F238E27FC236}">
                <a16:creationId xmlns:a16="http://schemas.microsoft.com/office/drawing/2014/main" id="{32C19142-D8B6-4D07-A693-E2A8B0020B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55C8FC32-48D8-433C-A0F6-58349962D153}"/>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8465A90B-3A3F-419F-8EFC-4D41F3F1545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57FC024F-8CB6-42A2-85DF-A17DF50DE5B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0A97FD8D-B6F4-43D3-AF08-5C64D12A6FF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0639AD8A-CCA3-4C9E-B408-20BF8B84C31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8D686ED1-CFFD-4B57-926A-152132BC172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1F745BEF-45A8-4D04-A29C-44F71544437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938299D9-DA28-4371-B4D9-89839D508A0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465506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93899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938992"/>
              </a:xfrm>
              <a:prstGeom prst="rect">
                <a:avLst/>
              </a:prstGeom>
              <a:blipFill>
                <a:blip r:embed="rId2"/>
                <a:stretch>
                  <a:fillRect l="-48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3</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6" name="Picture 4">
            <a:extLst>
              <a:ext uri="{FF2B5EF4-FFF2-40B4-BE49-F238E27FC236}">
                <a16:creationId xmlns:a16="http://schemas.microsoft.com/office/drawing/2014/main" id="{AFA1E42B-A9BF-4240-AB10-351E2464D0E8}"/>
              </a:ext>
            </a:extLst>
          </p:cNvPr>
          <p:cNvPicPr>
            <a:picLocks noChangeAspect="1"/>
          </p:cNvPicPr>
          <p:nvPr/>
        </p:nvPicPr>
        <p:blipFill>
          <a:blip r:embed="rId3"/>
          <a:stretch>
            <a:fillRect/>
          </a:stretch>
        </p:blipFill>
        <p:spPr>
          <a:xfrm>
            <a:off x="4161324" y="1748136"/>
            <a:ext cx="3191975" cy="2824176"/>
          </a:xfrm>
          <a:prstGeom prst="rect">
            <a:avLst/>
          </a:prstGeom>
          <a:noFill/>
          <a:ln w="9525">
            <a:noFill/>
          </a:ln>
        </p:spPr>
      </p:pic>
      <p:sp>
        <p:nvSpPr>
          <p:cNvPr id="14" name="矩形: 圆角 13">
            <a:extLst>
              <a:ext uri="{FF2B5EF4-FFF2-40B4-BE49-F238E27FC236}">
                <a16:creationId xmlns:a16="http://schemas.microsoft.com/office/drawing/2014/main" id="{A8F1F025-63FD-49CD-AE92-7B76DAEAA49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8F4A5B-0E1D-4B3F-B055-E0D046E4546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227F5F5-6223-4355-8F89-7EFD5E7642C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6A3FD48A-5E79-4C14-9B92-C234A25C2B91}"/>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DCD19474-3FE4-4EAE-ADEA-21B86757AB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18E3209-F165-4E8D-84E9-C58BF364A0F2}"/>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7BCEEBE-6E9D-4DF6-8625-B150F63F455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2A2421B9-6C97-4850-8E3D-EB93E424E5F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5B1C8623-6B30-4882-BF70-7683AB626D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425630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4" name="Picture 6">
            <a:extLst>
              <a:ext uri="{FF2B5EF4-FFF2-40B4-BE49-F238E27FC236}">
                <a16:creationId xmlns:a16="http://schemas.microsoft.com/office/drawing/2014/main" id="{93096249-EE38-44EA-9B53-FD07636B42BC}"/>
              </a:ext>
            </a:extLst>
          </p:cNvPr>
          <p:cNvPicPr>
            <a:picLocks noChangeAspect="1"/>
          </p:cNvPicPr>
          <p:nvPr/>
        </p:nvPicPr>
        <p:blipFill>
          <a:blip r:embed="rId3"/>
          <a:stretch>
            <a:fillRect/>
          </a:stretch>
        </p:blipFill>
        <p:spPr>
          <a:xfrm>
            <a:off x="4176173" y="1763446"/>
            <a:ext cx="3152961" cy="2868094"/>
          </a:xfrm>
          <a:prstGeom prst="rect">
            <a:avLst/>
          </a:prstGeom>
          <a:noFill/>
          <a:ln w="9525">
            <a:noFill/>
          </a:ln>
        </p:spPr>
      </p:pic>
      <p:pic>
        <p:nvPicPr>
          <p:cNvPr id="15" name="Picture 4">
            <a:extLst>
              <a:ext uri="{FF2B5EF4-FFF2-40B4-BE49-F238E27FC236}">
                <a16:creationId xmlns:a16="http://schemas.microsoft.com/office/drawing/2014/main" id="{AFD8FBD2-D6B0-4262-A5AD-EB7C6669E851}"/>
              </a:ext>
            </a:extLst>
          </p:cNvPr>
          <p:cNvPicPr>
            <a:picLocks noChangeAspect="1"/>
          </p:cNvPicPr>
          <p:nvPr/>
        </p:nvPicPr>
        <p:blipFill>
          <a:blip r:embed="rId4"/>
          <a:stretch>
            <a:fillRect/>
          </a:stretch>
        </p:blipFill>
        <p:spPr>
          <a:xfrm>
            <a:off x="1200151" y="1727047"/>
            <a:ext cx="1257299" cy="663575"/>
          </a:xfrm>
          <a:prstGeom prst="rect">
            <a:avLst/>
          </a:prstGeom>
          <a:noFill/>
          <a:ln w="9525">
            <a:noFill/>
          </a:ln>
        </p:spPr>
      </p:pic>
      <p:pic>
        <p:nvPicPr>
          <p:cNvPr id="16" name="Picture 5">
            <a:extLst>
              <a:ext uri="{FF2B5EF4-FFF2-40B4-BE49-F238E27FC236}">
                <a16:creationId xmlns:a16="http://schemas.microsoft.com/office/drawing/2014/main" id="{04ECFDC1-51FB-4B2C-90F3-60A08AF3A1D3}"/>
              </a:ext>
            </a:extLst>
          </p:cNvPr>
          <p:cNvPicPr>
            <a:picLocks noChangeAspect="1"/>
          </p:cNvPicPr>
          <p:nvPr/>
        </p:nvPicPr>
        <p:blipFill>
          <a:blip r:embed="rId5"/>
          <a:stretch>
            <a:fillRect/>
          </a:stretch>
        </p:blipFill>
        <p:spPr>
          <a:xfrm>
            <a:off x="1200151" y="2374508"/>
            <a:ext cx="1733550" cy="458207"/>
          </a:xfrm>
          <a:prstGeom prst="rect">
            <a:avLst/>
          </a:prstGeom>
          <a:noFill/>
          <a:ln w="9525">
            <a:noFill/>
          </a:ln>
        </p:spPr>
      </p:pic>
      <p:pic>
        <p:nvPicPr>
          <p:cNvPr id="18" name="Picture 7">
            <a:extLst>
              <a:ext uri="{FF2B5EF4-FFF2-40B4-BE49-F238E27FC236}">
                <a16:creationId xmlns:a16="http://schemas.microsoft.com/office/drawing/2014/main" id="{CB04AE10-D08C-4937-B21C-8D451C67206B}"/>
              </a:ext>
            </a:extLst>
          </p:cNvPr>
          <p:cNvPicPr>
            <a:picLocks noChangeAspect="1"/>
          </p:cNvPicPr>
          <p:nvPr/>
        </p:nvPicPr>
        <p:blipFill>
          <a:blip r:embed="rId6"/>
          <a:stretch>
            <a:fillRect/>
          </a:stretch>
        </p:blipFill>
        <p:spPr>
          <a:xfrm>
            <a:off x="1226748" y="3714303"/>
            <a:ext cx="1311263" cy="822754"/>
          </a:xfrm>
          <a:prstGeom prst="rect">
            <a:avLst/>
          </a:prstGeom>
          <a:noFill/>
          <a:ln w="9525">
            <a:noFill/>
          </a:ln>
        </p:spPr>
      </p:pic>
      <p:sp>
        <p:nvSpPr>
          <p:cNvPr id="17" name="矩形: 圆角 16">
            <a:extLst>
              <a:ext uri="{FF2B5EF4-FFF2-40B4-BE49-F238E27FC236}">
                <a16:creationId xmlns:a16="http://schemas.microsoft.com/office/drawing/2014/main" id="{31A44223-A63C-40F9-9039-61A30C3A474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38B5584B-5453-4450-9238-13551E71684B}"/>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7">
            <a:extLst>
              <a:ext uri="{FF2B5EF4-FFF2-40B4-BE49-F238E27FC236}">
                <a16:creationId xmlns:a16="http://schemas.microsoft.com/office/drawing/2014/main" id="{82F005E1-F98D-48DF-BD27-3B49F13F661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1" name="TextBox 9">
            <a:extLst>
              <a:ext uri="{FF2B5EF4-FFF2-40B4-BE49-F238E27FC236}">
                <a16:creationId xmlns:a16="http://schemas.microsoft.com/office/drawing/2014/main" id="{93A1E029-DC53-4F54-947E-029D9EED142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2" name="TextBox 10">
            <a:extLst>
              <a:ext uri="{FF2B5EF4-FFF2-40B4-BE49-F238E27FC236}">
                <a16:creationId xmlns:a16="http://schemas.microsoft.com/office/drawing/2014/main" id="{D368532D-A099-4129-A644-89D0E9EFB44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3" name="TextBox 11">
            <a:extLst>
              <a:ext uri="{FF2B5EF4-FFF2-40B4-BE49-F238E27FC236}">
                <a16:creationId xmlns:a16="http://schemas.microsoft.com/office/drawing/2014/main" id="{F14F54D3-8F3E-4CA6-A02A-A2FB622CD435}"/>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4" name="矩形 23">
            <a:extLst>
              <a:ext uri="{FF2B5EF4-FFF2-40B4-BE49-F238E27FC236}">
                <a16:creationId xmlns:a16="http://schemas.microsoft.com/office/drawing/2014/main" id="{8CB77478-F15A-4536-9ECB-54A645FCF5B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灯片编号占位符 7">
            <a:extLst>
              <a:ext uri="{FF2B5EF4-FFF2-40B4-BE49-F238E27FC236}">
                <a16:creationId xmlns:a16="http://schemas.microsoft.com/office/drawing/2014/main" id="{6DAE7A94-AA26-42AC-ABF8-DA3FDE31F05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6" name="文本框 25">
            <a:extLst>
              <a:ext uri="{FF2B5EF4-FFF2-40B4-BE49-F238E27FC236}">
                <a16:creationId xmlns:a16="http://schemas.microsoft.com/office/drawing/2014/main" id="{AE74C14E-076B-4B49-9254-DCB6D7159BDF}"/>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7014178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7" name="Picture 4">
            <a:extLst>
              <a:ext uri="{FF2B5EF4-FFF2-40B4-BE49-F238E27FC236}">
                <a16:creationId xmlns:a16="http://schemas.microsoft.com/office/drawing/2014/main" id="{19D22A4D-A5D2-4FA4-AB47-88EDDCC99EA5}"/>
              </a:ext>
            </a:extLst>
          </p:cNvPr>
          <p:cNvPicPr>
            <a:picLocks noChangeAspect="1"/>
          </p:cNvPicPr>
          <p:nvPr/>
        </p:nvPicPr>
        <p:blipFill>
          <a:blip r:embed="rId3"/>
          <a:stretch>
            <a:fillRect/>
          </a:stretch>
        </p:blipFill>
        <p:spPr>
          <a:xfrm>
            <a:off x="4168877" y="1801092"/>
            <a:ext cx="3186248" cy="2784729"/>
          </a:xfrm>
          <a:prstGeom prst="rect">
            <a:avLst/>
          </a:prstGeom>
          <a:noFill/>
          <a:ln w="9525">
            <a:noFill/>
          </a:ln>
        </p:spPr>
      </p:pic>
      <p:pic>
        <p:nvPicPr>
          <p:cNvPr id="19" name="Picture 5">
            <a:extLst>
              <a:ext uri="{FF2B5EF4-FFF2-40B4-BE49-F238E27FC236}">
                <a16:creationId xmlns:a16="http://schemas.microsoft.com/office/drawing/2014/main" id="{7683779F-0E25-4EB9-926E-3E40C8D76436}"/>
              </a:ext>
            </a:extLst>
          </p:cNvPr>
          <p:cNvPicPr>
            <a:picLocks noChangeAspect="1"/>
          </p:cNvPicPr>
          <p:nvPr/>
        </p:nvPicPr>
        <p:blipFill>
          <a:blip r:embed="rId4"/>
          <a:stretch>
            <a:fillRect/>
          </a:stretch>
        </p:blipFill>
        <p:spPr>
          <a:xfrm>
            <a:off x="1189111" y="1690940"/>
            <a:ext cx="1669877" cy="1115714"/>
          </a:xfrm>
          <a:prstGeom prst="rect">
            <a:avLst/>
          </a:prstGeom>
          <a:noFill/>
          <a:ln w="9525">
            <a:noFill/>
          </a:ln>
        </p:spPr>
      </p:pic>
      <p:pic>
        <p:nvPicPr>
          <p:cNvPr id="20" name="Picture 6">
            <a:extLst>
              <a:ext uri="{FF2B5EF4-FFF2-40B4-BE49-F238E27FC236}">
                <a16:creationId xmlns:a16="http://schemas.microsoft.com/office/drawing/2014/main" id="{B3F4549C-DA9F-4D63-A500-ECF569D1BF26}"/>
              </a:ext>
            </a:extLst>
          </p:cNvPr>
          <p:cNvPicPr>
            <a:picLocks noChangeAspect="1"/>
          </p:cNvPicPr>
          <p:nvPr/>
        </p:nvPicPr>
        <p:blipFill>
          <a:blip r:embed="rId5"/>
          <a:stretch>
            <a:fillRect/>
          </a:stretch>
        </p:blipFill>
        <p:spPr>
          <a:xfrm>
            <a:off x="1207254" y="3652462"/>
            <a:ext cx="1375615" cy="879600"/>
          </a:xfrm>
          <a:prstGeom prst="rect">
            <a:avLst/>
          </a:prstGeom>
          <a:noFill/>
          <a:ln w="9525">
            <a:noFill/>
          </a:ln>
        </p:spPr>
      </p:pic>
      <p:sp>
        <p:nvSpPr>
          <p:cNvPr id="16" name="矩形: 圆角 15">
            <a:extLst>
              <a:ext uri="{FF2B5EF4-FFF2-40B4-BE49-F238E27FC236}">
                <a16:creationId xmlns:a16="http://schemas.microsoft.com/office/drawing/2014/main" id="{9C8CA5AF-8D83-4E89-9CDD-EABFFABBACFF}"/>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F023E36A-8636-4A32-B152-E4AA795D791F}"/>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F13E3899-D4A8-43E7-8102-2A63035292C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74917943-43EA-4D41-8B63-56E38DB5476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3E8BE97A-37B2-460E-9740-002133F090C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4AF06866-DB1E-4BF1-A4DC-75F9EE1A4731}"/>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C5301774-F69B-40A5-AF5D-EDB2B179FD4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619E1B3A-C8AE-481D-AFE6-0331E6A4E11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EAC46571-7C53-4B57-BBB9-23941D77F6D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5264626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287258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取</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=(2,4)</m:t>
                    </m:r>
                  </m:oMath>
                </a14:m>
                <a:r>
                  <a:rPr lang="zh-CN" altLang="en-US" dirty="0">
                    <a:latin typeface="楷体" panose="02010609060101010101" charset="-122"/>
                    <a:ea typeface="楷体" panose="02010609060101010101" charset="-122"/>
                    <a:cs typeface="楷体" panose="02010609060101010101" charset="-122"/>
                  </a:rPr>
                  <a:t>，计算</a:t>
                </a:r>
                <a14:m>
                  <m:oMath xmlns:m="http://schemas.openxmlformats.org/officeDocument/2006/math">
                    <m:r>
                      <a:rPr lang="en-US" altLang="zh-CN" b="0" i="0" smtClean="0">
                        <a:latin typeface="Cambria Math" panose="02040503050406030204" pitchFamily="18" charset="0"/>
                        <a:ea typeface="楷体" panose="02010609060101010101" charset="-122"/>
                        <a:cs typeface="楷体" panose="02010609060101010101" charset="-122"/>
                      </a:rPr>
                      <m:t>2</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再计算</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3</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2872581"/>
              </a:xfrm>
              <a:prstGeom prst="rect">
                <a:avLst/>
              </a:prstGeom>
              <a:blipFill>
                <a:blip r:embed="rId2"/>
                <a:stretch>
                  <a:fillRect l="-482" t="-148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椭圆曲线点加运算</a:t>
            </a:r>
          </a:p>
        </p:txBody>
      </p:sp>
      <p:pic>
        <p:nvPicPr>
          <p:cNvPr id="16" name="Picture 4">
            <a:extLst>
              <a:ext uri="{FF2B5EF4-FFF2-40B4-BE49-F238E27FC236}">
                <a16:creationId xmlns:a16="http://schemas.microsoft.com/office/drawing/2014/main" id="{0CB5312D-6B06-414A-A44B-84A70BD9EF2D}"/>
              </a:ext>
            </a:extLst>
          </p:cNvPr>
          <p:cNvPicPr>
            <a:picLocks noChangeAspect="1"/>
          </p:cNvPicPr>
          <p:nvPr/>
        </p:nvPicPr>
        <p:blipFill rotWithShape="1">
          <a:blip r:embed="rId3"/>
          <a:srcRect r="14830"/>
          <a:stretch/>
        </p:blipFill>
        <p:spPr>
          <a:xfrm>
            <a:off x="1262753" y="1689014"/>
            <a:ext cx="4458597" cy="1051354"/>
          </a:xfrm>
          <a:prstGeom prst="rect">
            <a:avLst/>
          </a:prstGeom>
          <a:noFill/>
          <a:ln w="9525">
            <a:noFill/>
          </a:ln>
        </p:spPr>
      </p:pic>
      <p:pic>
        <p:nvPicPr>
          <p:cNvPr id="18" name="Picture 5">
            <a:extLst>
              <a:ext uri="{FF2B5EF4-FFF2-40B4-BE49-F238E27FC236}">
                <a16:creationId xmlns:a16="http://schemas.microsoft.com/office/drawing/2014/main" id="{ADEE85A7-05D3-4FCC-95FC-51458696512E}"/>
              </a:ext>
            </a:extLst>
          </p:cNvPr>
          <p:cNvPicPr>
            <a:picLocks noChangeAspect="1"/>
          </p:cNvPicPr>
          <p:nvPr/>
        </p:nvPicPr>
        <p:blipFill rotWithShape="1">
          <a:blip r:embed="rId4"/>
          <a:srcRect r="15608"/>
          <a:stretch/>
        </p:blipFill>
        <p:spPr>
          <a:xfrm>
            <a:off x="1262753" y="3202707"/>
            <a:ext cx="4458597" cy="1088786"/>
          </a:xfrm>
          <a:prstGeom prst="rect">
            <a:avLst/>
          </a:prstGeom>
          <a:noFill/>
          <a:ln w="9525">
            <a:noFill/>
          </a:ln>
        </p:spPr>
      </p:pic>
      <p:sp>
        <p:nvSpPr>
          <p:cNvPr id="15" name="矩形: 圆角 14">
            <a:extLst>
              <a:ext uri="{FF2B5EF4-FFF2-40B4-BE49-F238E27FC236}">
                <a16:creationId xmlns:a16="http://schemas.microsoft.com/office/drawing/2014/main" id="{B0BA0501-DD7A-41A7-9FB9-993ED7D244D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EFEDC009-F506-4A95-92C4-DE27D0DEB4B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7">
            <a:extLst>
              <a:ext uri="{FF2B5EF4-FFF2-40B4-BE49-F238E27FC236}">
                <a16:creationId xmlns:a16="http://schemas.microsoft.com/office/drawing/2014/main" id="{3CB3A6CF-6C87-4935-A9AF-A1F0CF2A533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0" name="TextBox 9">
            <a:extLst>
              <a:ext uri="{FF2B5EF4-FFF2-40B4-BE49-F238E27FC236}">
                <a16:creationId xmlns:a16="http://schemas.microsoft.com/office/drawing/2014/main" id="{38F8F965-1300-4C7C-A913-9491F4A4FB1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1" name="TextBox 10">
            <a:extLst>
              <a:ext uri="{FF2B5EF4-FFF2-40B4-BE49-F238E27FC236}">
                <a16:creationId xmlns:a16="http://schemas.microsoft.com/office/drawing/2014/main" id="{9D20B5A3-FE84-4048-8130-8FF18361FA92}"/>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2" name="TextBox 11">
            <a:extLst>
              <a:ext uri="{FF2B5EF4-FFF2-40B4-BE49-F238E27FC236}">
                <a16:creationId xmlns:a16="http://schemas.microsoft.com/office/drawing/2014/main" id="{BA9602EA-583E-4A24-B385-5A735CA3A06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3" name="矩形 22">
            <a:extLst>
              <a:ext uri="{FF2B5EF4-FFF2-40B4-BE49-F238E27FC236}">
                <a16:creationId xmlns:a16="http://schemas.microsoft.com/office/drawing/2014/main" id="{19B4FEFD-AFB5-4F3B-899F-25E2819505E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灯片编号占位符 7">
            <a:extLst>
              <a:ext uri="{FF2B5EF4-FFF2-40B4-BE49-F238E27FC236}">
                <a16:creationId xmlns:a16="http://schemas.microsoft.com/office/drawing/2014/main" id="{65526E64-E07F-483D-A28C-18B25AF5317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5" name="文本框 24">
            <a:extLst>
              <a:ext uri="{FF2B5EF4-FFF2-40B4-BE49-F238E27FC236}">
                <a16:creationId xmlns:a16="http://schemas.microsoft.com/office/drawing/2014/main" id="{4CF0EC0B-85DC-4B7B-A73E-BFE6555672D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25830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69404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将椭圆曲线定义于有限域：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r>
                      <a:rPr lang="en-US" altLang="zh-CN" b="0" i="1" smtClean="0">
                        <a:latin typeface="Cambria Math" panose="02040503050406030204" pitchFamily="18" charset="0"/>
                        <a:ea typeface="楷体" panose="02010609060101010101" charset="-122"/>
                        <a:cs typeface="楷体" panose="02010609060101010101" charset="-122"/>
                      </a:rPr>
                      <m:t> (</m:t>
                    </m:r>
                    <m:r>
                      <m:rPr>
                        <m:sty m:val="p"/>
                      </m:rPr>
                      <a:rPr lang="en-US" altLang="zh-CN" b="0" i="0" smtClean="0">
                        <a:latin typeface="Cambria Math" panose="02040503050406030204" pitchFamily="18" charset="0"/>
                        <a:ea typeface="楷体" panose="02010609060101010101" charset="-122"/>
                        <a:cs typeface="楷体" panose="02010609060101010101" charset="-122"/>
                      </a:rPr>
                      <m:t>mod</m:t>
                    </m:r>
                    <m:r>
                      <a:rPr lang="en-US" altLang="zh-CN" b="0" i="1" smtClean="0">
                        <a:latin typeface="Cambria Math" panose="02040503050406030204" pitchFamily="18" charset="0"/>
                        <a:ea typeface="楷体" panose="02010609060101010101" charset="-122"/>
                        <a:cs typeface="楷体" panose="02010609060101010101" charset="-122"/>
                      </a:rPr>
                      <m:t> </m:t>
                    </m:r>
                    <m:r>
                      <a:rPr lang="en-US" altLang="zh-CN" b="0" i="1" smtClean="0">
                        <a:latin typeface="Cambria Math" panose="02040503050406030204" pitchFamily="18" charset="0"/>
                        <a:ea typeface="楷体" panose="02010609060101010101" charset="-122"/>
                        <a:cs typeface="楷体" panose="02010609060101010101" charset="-122"/>
                      </a:rPr>
                      <m:t>𝑝</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0" dirty="0">
                    <a:ea typeface="楷体" panose="02010609060101010101" charset="-122"/>
                    <a:cs typeface="楷体" panose="02010609060101010101" charset="-122"/>
                  </a:rPr>
                  <a:t>其中，</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是一个素数，</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加的阿贝尔群</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Abel Group</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a:t>
                </a:r>
                <a14:m>
                  <m:oMath xmlns:m="http://schemas.openxmlformats.org/officeDocument/2006/math">
                    <m:d>
                      <m:dPr>
                        <m:begChr m:val="{"/>
                        <m:endChr m:val="}"/>
                        <m:ctrlPr>
                          <a:rPr lang="en-US" altLang="zh-CN" i="1">
                            <a:latin typeface="Cambria Math" panose="02040503050406030204" pitchFamily="18" charset="0"/>
                            <a:ea typeface="楷体" panose="02010609060101010101" charset="-122"/>
                          </a:rPr>
                        </m:ctrlPr>
                      </m:dPr>
                      <m:e>
                        <m:r>
                          <a:rPr lang="en-US" altLang="zh-CN" i="1">
                            <a:latin typeface="Cambria Math" panose="02040503050406030204" pitchFamily="18" charset="0"/>
                            <a:ea typeface="楷体" panose="02010609060101010101" charset="-122"/>
                          </a:rPr>
                          <m:t>1,…, </m:t>
                        </m:r>
                        <m:r>
                          <a:rPr lang="en-US" altLang="zh-CN" i="1">
                            <a:latin typeface="Cambria Math" panose="02040503050406030204" pitchFamily="18" charset="0"/>
                            <a:ea typeface="楷体" panose="02010609060101010101" charset="-122"/>
                          </a:rPr>
                          <m:t>𝑝</m:t>
                        </m:r>
                        <m:r>
                          <a:rPr lang="en-US" altLang="zh-CN" i="1">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乘的阿贝尔群。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椭圆曲线密码系统采用变量和系数有限的曲线来实现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694045" cy="2769989"/>
              </a:xfrm>
              <a:prstGeom prst="rect">
                <a:avLst/>
              </a:prstGeom>
              <a:blipFill>
                <a:blip r:embed="rId2"/>
                <a:stretch>
                  <a:fillRect l="-642" t="-1099" r="-96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有限域上的椭圆曲线</a:t>
            </a:r>
          </a:p>
        </p:txBody>
      </p:sp>
      <p:sp>
        <p:nvSpPr>
          <p:cNvPr id="13" name="矩形: 圆角 12">
            <a:extLst>
              <a:ext uri="{FF2B5EF4-FFF2-40B4-BE49-F238E27FC236}">
                <a16:creationId xmlns:a16="http://schemas.microsoft.com/office/drawing/2014/main" id="{9391E3AE-E3FC-4761-ADE0-0600C31A6B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06F24F-1C5D-4ECA-9324-EDA235DB3D5C}"/>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F1D79EC0-FA06-4EBB-BAC3-933B89FCFF3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474FFE3-E956-4379-8FC2-D3F476D86B2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FDD8D3E-E4DF-4866-9278-27B66936EC1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AC44462-6BB3-4F4B-BDF8-78EE389473EB}"/>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57105B8-0E94-45A4-A994-09CDBD7775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6B2C75B9-C1F6-4E54-981E-638D4502C63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A55D40AA-7DCA-43A8-81FB-DEF75A2F6E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9320761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8142660" cy="291169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定义在</a:t>
                </a: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Z</m:t>
                        </m:r>
                      </m:e>
                      <m:sub>
                        <m:r>
                          <m:rPr>
                            <m:sty m:val="p"/>
                          </m:rPr>
                          <a:rPr lang="en-US" altLang="zh-CN" b="0" i="0" smtClean="0">
                            <a:latin typeface="Cambria Math" panose="02040503050406030204" pitchFamily="18" charset="0"/>
                          </a:rPr>
                          <m:t>p</m:t>
                        </m:r>
                      </m:sub>
                    </m:sSub>
                  </m:oMath>
                </a14:m>
                <a:r>
                  <a:rPr lang="zh-CN" altLang="en-US" dirty="0">
                    <a:latin typeface="楷体" panose="02010609060101010101" charset="-122"/>
                    <a:ea typeface="楷体" panose="02010609060101010101" charset="-122"/>
                    <a:cs typeface="楷体" panose="02010609060101010101" charset="-122"/>
                  </a:rPr>
                  <a:t>上的素曲线</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prime curves</a:t>
                </a:r>
                <a:r>
                  <a:rPr lang="en-US" altLang="zh-CN" dirty="0">
                    <a:latin typeface="楷体" panose="02010609060101010101" charset="-122"/>
                    <a:ea typeface="楷体" panose="02010609060101010101" charset="-122"/>
                    <a:cs typeface="楷体" panose="02010609060101010101" charset="-122"/>
                  </a:rPr>
                  <a:t>)</a:t>
                </a:r>
                <a:r>
                  <a:rPr lang="pt-BR" altLang="zh-CN" dirty="0"/>
                  <a:t> </a:t>
                </a:r>
                <a14:m>
                  <m:oMath xmlns:m="http://schemas.openxmlformats.org/officeDocument/2006/math">
                    <m:sSub>
                      <m:sSubPr>
                        <m:ctrlPr>
                          <a:rPr lang="pt-BR" altLang="zh-CN" i="1">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变量和系数取自集合</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r>
                      <a:rPr lang="en-US" altLang="zh-CN" b="0" i="1" smtClean="0">
                        <a:latin typeface="Cambria Math" panose="02040503050406030204" pitchFamily="18" charset="0"/>
                        <a:ea typeface="楷体" panose="02010609060101010101" charset="-122"/>
                      </a:rPr>
                      <m:t> </m:t>
                    </m:r>
                  </m:oMath>
                </a14:m>
                <a:r>
                  <a:rPr lang="zh-CN" altLang="en-US" dirty="0">
                    <a:latin typeface="楷体" panose="02010609060101010101" charset="-122"/>
                    <a:ea typeface="楷体" panose="02010609060101010101" charset="-122"/>
                    <a:cs typeface="楷体" panose="02010609060101010101" charset="-122"/>
                  </a:rPr>
                  <a:t>，</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最适合软件实现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b="0" dirty="0">
                    <a:ea typeface="楷体" panose="02010609060101010101" charset="-122"/>
                    <a:cs typeface="楷体" panose="02010609060101010101" charset="-122"/>
                  </a:rPr>
                  <a:t>定义在</a:t>
                </a:r>
                <a14:m>
                  <m:oMath xmlns:m="http://schemas.openxmlformats.org/officeDocument/2006/math">
                    <m:r>
                      <m:rPr>
                        <m:sty m:val="p"/>
                      </m:rPr>
                      <a:rPr lang="en-US" altLang="zh-CN" b="0" i="0" smtClean="0">
                        <a:latin typeface="Cambria Math" panose="02040503050406030204" pitchFamily="18" charset="0"/>
                      </a:rPr>
                      <m:t>GF</m:t>
                    </m:r>
                    <m:r>
                      <a:rPr lang="en-US" altLang="zh-CN" b="0" i="1" smtClean="0">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ea typeface="楷体" panose="02010609060101010101" charset="-122"/>
                            <a:cs typeface="楷体" panose="02010609060101010101" charset="-122"/>
                          </a:rPr>
                          <m:t>𝑛</m:t>
                        </m:r>
                      </m:sup>
                    </m:sSup>
                    <m:r>
                      <a:rPr lang="en-US" altLang="zh-CN" b="0" i="1" smtClean="0">
                        <a:latin typeface="Cambria Math" panose="02040503050406030204" pitchFamily="18" charset="0"/>
                      </a:rPr>
                      <m:t>)</m:t>
                    </m:r>
                  </m:oMath>
                </a14:m>
                <a:r>
                  <a:rPr lang="zh-CN" altLang="en-US" b="0" dirty="0">
                    <a:ea typeface="楷体" panose="02010609060101010101" charset="-122"/>
                    <a:cs typeface="楷体" panose="02010609060101010101" charset="-122"/>
                  </a:rPr>
                  <a:t>上的二次曲线</a:t>
                </a:r>
                <a14:m>
                  <m:oMath xmlns:m="http://schemas.openxmlformats.org/officeDocument/2006/math">
                    <m:sSub>
                      <m:sSubPr>
                        <m:ctrlPr>
                          <a:rPr lang="pt-BR" altLang="zh-CN" i="1">
                            <a:latin typeface="Cambria Math" panose="02040503050406030204" pitchFamily="18" charset="0"/>
                          </a:rPr>
                        </m:ctrlPr>
                      </m:sSubPr>
                      <m:e>
                        <m:r>
                          <m:rPr>
                            <m:sty m:val="p"/>
                          </m:rPr>
                          <a:rPr lang="en-US" altLang="zh-CN">
                            <a:latin typeface="Cambria Math" panose="02040503050406030204" pitchFamily="18" charset="0"/>
                          </a:rPr>
                          <m:t>E</m:t>
                        </m:r>
                      </m:e>
                      <m:sub>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sub>
                    </m:sSub>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a:t>
                </a:r>
                <a14:m>
                  <m:oMath xmlns:m="http://schemas.openxmlformats.org/officeDocument/2006/math">
                    <m:r>
                      <m:rPr>
                        <m:sty m:val="p"/>
                      </m:rPr>
                      <a:rPr lang="en-US" altLang="zh-CN" smtClean="0">
                        <a:latin typeface="Cambria Math" panose="02040503050406030204" pitchFamily="18" charset="0"/>
                      </a:rPr>
                      <m:t>GF</m:t>
                    </m:r>
                    <m:r>
                      <a:rPr lang="en-US" altLang="zh-CN" i="1" smtClean="0">
                        <a:latin typeface="Cambria Math" panose="02040503050406030204" pitchFamily="18" charset="0"/>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r>
                      <a:rPr lang="en-US" altLang="zh-CN"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，模素多项式运算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最适合硬件实现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表示满足下列条件的</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椭圆群，群中元素</a:t>
                </a:r>
                <a14:m>
                  <m:oMath xmlns:m="http://schemas.openxmlformats.org/officeDocument/2006/math">
                    <m:r>
                      <a:rPr lang="en-US" altLang="zh-CN" i="1">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r>
                      <a:rPr lang="en-US" altLang="zh-CN" b="0" i="1" smtClean="0">
                        <a:latin typeface="Cambria Math" panose="02040503050406030204" pitchFamily="18" charset="0"/>
                      </a:rPr>
                      <m:t>𝑦</m:t>
                    </m:r>
                    <m:r>
                      <a:rPr lang="en-US" altLang="zh-CN" i="1">
                        <a:latin typeface="Cambria Math" panose="02040503050406030204" pitchFamily="18" charset="0"/>
                      </a:rPr>
                      <m:t>)</m:t>
                    </m:r>
                  </m:oMath>
                </a14:m>
                <a:r>
                  <a:rPr lang="zh-CN" altLang="en-US" dirty="0">
                    <a:solidFill>
                      <a:schemeClr val="tx1"/>
                    </a:solidFill>
                    <a:latin typeface="楷体" panose="02010609060101010101" charset="-122"/>
                    <a:ea typeface="楷体" panose="02010609060101010101" charset="-122"/>
                    <a:cs typeface="楷体" panose="02010609060101010101" charset="-122"/>
                  </a:rPr>
                  <a:t>是满足如下方程的小于的非负整数另外加上无穷点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i="1">
                        <a:latin typeface="Cambria Math" panose="02040503050406030204" pitchFamily="18" charset="0"/>
                        <a:ea typeface="楷体" panose="02010609060101010101" charset="-122"/>
                        <a:cs typeface="楷体" panose="02010609060101010101" charset="-122"/>
                      </a:rPr>
                      <m:t> </m:t>
                    </m:r>
                  </m:oMath>
                </a14:m>
                <a:r>
                  <a:rPr lang="zh-CN" altLang="en-US" dirty="0">
                    <a:solidFill>
                      <a:schemeClr val="tx1"/>
                    </a:solidFill>
                    <a:latin typeface="楷体" panose="02010609060101010101" charset="-122"/>
                    <a:ea typeface="楷体" panose="02010609060101010101" charset="-122"/>
                    <a:cs typeface="楷体" panose="02010609060101010101" charset="-122"/>
                  </a:rPr>
                  <a:t>：</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𝑦</m:t>
                        </m:r>
                      </m:e>
                      <m:sup>
                        <m:r>
                          <a:rPr lang="en-US" altLang="zh-CN" i="1">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𝑥</m:t>
                        </m:r>
                      </m:e>
                      <m:sup>
                        <m:r>
                          <a:rPr lang="en-US" altLang="zh-CN" i="1">
                            <a:solidFill>
                              <a:schemeClr val="accent1"/>
                            </a:solidFill>
                            <a:latin typeface="Cambria Math" panose="02040503050406030204" pitchFamily="18" charset="0"/>
                            <a:ea typeface="楷体" panose="02010609060101010101" charset="-122"/>
                          </a:rPr>
                          <m:t>3</m:t>
                        </m:r>
                      </m:sup>
                    </m:sSup>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𝑎𝑥</m:t>
                    </m:r>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𝑏</m:t>
                    </m:r>
                    <m:r>
                      <a:rPr lang="en-US" altLang="zh-CN" b="0" i="1" smtClean="0">
                        <a:solidFill>
                          <a:schemeClr val="accent1"/>
                        </a:solidFill>
                        <a:latin typeface="Cambria Math" panose="02040503050406030204" pitchFamily="18" charset="0"/>
                        <a:ea typeface="楷体" panose="02010609060101010101" charset="-122"/>
                      </a:rPr>
                      <m:t>(</m:t>
                    </m:r>
                    <m:r>
                      <m:rPr>
                        <m:sty m:val="p"/>
                      </m:rPr>
                      <a:rPr lang="en-US" altLang="zh-CN" b="0" i="0" smtClean="0">
                        <a:solidFill>
                          <a:schemeClr val="accent1"/>
                        </a:solidFill>
                        <a:latin typeface="Cambria Math" panose="02040503050406030204" pitchFamily="18" charset="0"/>
                        <a:ea typeface="楷体" panose="02010609060101010101" charset="-122"/>
                      </a:rPr>
                      <m:t>mod</m:t>
                    </m:r>
                    <m:r>
                      <a:rPr lang="en-US" altLang="zh-CN" b="0" i="1" smtClean="0">
                        <a:solidFill>
                          <a:schemeClr val="accent1"/>
                        </a:solidFill>
                        <a:latin typeface="Cambria Math" panose="02040503050406030204" pitchFamily="18" charset="0"/>
                        <a:ea typeface="楷体" panose="02010609060101010101" charset="-122"/>
                      </a:rPr>
                      <m:t> </m:t>
                    </m:r>
                    <m:r>
                      <a:rPr lang="en-US" altLang="zh-CN" b="0" i="1" smtClean="0">
                        <a:solidFill>
                          <a:schemeClr val="accent1"/>
                        </a:solidFill>
                        <a:latin typeface="Cambria Math" panose="02040503050406030204" pitchFamily="18" charset="0"/>
                        <a:ea typeface="楷体" panose="02010609060101010101" charset="-122"/>
                      </a:rPr>
                      <m:t>𝑝</m:t>
                    </m:r>
                    <m:r>
                      <a:rPr lang="en-US" altLang="zh-CN" b="0" i="1" smtClean="0">
                        <a:solidFill>
                          <a:schemeClr val="accent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8142660" cy="2911695"/>
              </a:xfrm>
              <a:prstGeom prst="rect">
                <a:avLst/>
              </a:prstGeom>
              <a:blipFill>
                <a:blip r:embed="rId3"/>
                <a:stretch>
                  <a:fillRect l="-449" t="-1674" r="-67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两种有限域上的椭圆曲线</a:t>
            </a:r>
          </a:p>
        </p:txBody>
      </p:sp>
      <p:sp>
        <p:nvSpPr>
          <p:cNvPr id="14" name="矩形: 圆角 13">
            <a:extLst>
              <a:ext uri="{FF2B5EF4-FFF2-40B4-BE49-F238E27FC236}">
                <a16:creationId xmlns:a16="http://schemas.microsoft.com/office/drawing/2014/main" id="{D82E7074-055A-41EF-AC80-3256345EAD3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CDB09CBD-BC1B-45FB-A22F-23A37B192AB6}"/>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6378D3AC-3229-4899-B236-6F252E8D475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2C8367C4-3F07-4779-9040-5858CC0F6FA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82606B0D-0EFD-4FB2-878D-DBF545EC72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60328C6D-6755-4BF1-8676-D8BE7A497F58}"/>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7E687EAE-5712-45FE-AD86-42EC8B87FAC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灯片编号占位符 7">
            <a:extLst>
              <a:ext uri="{FF2B5EF4-FFF2-40B4-BE49-F238E27FC236}">
                <a16:creationId xmlns:a16="http://schemas.microsoft.com/office/drawing/2014/main" id="{BAB1C1BD-8769-4063-B67A-B65F93675E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2" name="文本框 21">
            <a:extLst>
              <a:ext uri="{FF2B5EF4-FFF2-40B4-BE49-F238E27FC236}">
                <a16:creationId xmlns:a16="http://schemas.microsoft.com/office/drawing/2014/main" id="{C11B10DE-4CE7-4346-BB26-697FCF24668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0" name="图片 9">
            <a:extLst>
              <a:ext uri="{FF2B5EF4-FFF2-40B4-BE49-F238E27FC236}">
                <a16:creationId xmlns:a16="http://schemas.microsoft.com/office/drawing/2014/main" id="{0905E5FF-174F-4A0E-A36A-04061051C9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9367" y="165578"/>
            <a:ext cx="2743200" cy="2743200"/>
          </a:xfrm>
          <a:prstGeom prst="rect">
            <a:avLst/>
          </a:prstGeom>
        </p:spPr>
      </p:pic>
    </p:spTree>
    <p:extLst>
      <p:ext uri="{BB962C8B-B14F-4D97-AF65-F5344CB8AC3E}">
        <p14:creationId xmlns:p14="http://schemas.microsoft.com/office/powerpoint/2010/main" val="41652702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433695" cy="203626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给定椭圆曲线</a:t>
                </a:r>
                <a14:m>
                  <m:oMath xmlns:m="http://schemas.openxmlformats.org/officeDocument/2006/math">
                    <m:sSup>
                      <m:sSupPr>
                        <m:ctrlPr>
                          <a:rPr lang="en-US" altLang="zh-CN" i="1" smtClean="0">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𝑦</m:t>
                        </m:r>
                      </m:e>
                      <m:sup>
                        <m:r>
                          <a:rPr lang="en-US" altLang="zh-CN" i="1">
                            <a:solidFill>
                              <a:schemeClr val="tx1"/>
                            </a:solidFill>
                            <a:latin typeface="Cambria Math" panose="02040503050406030204" pitchFamily="18" charset="0"/>
                            <a:ea typeface="楷体" panose="02010609060101010101" charset="-122"/>
                          </a:rPr>
                          <m:t>2</m:t>
                        </m:r>
                      </m:sup>
                    </m:sSup>
                    <m:r>
                      <a:rPr lang="en-US" altLang="zh-CN" i="1">
                        <a:solidFill>
                          <a:schemeClr val="tx1"/>
                        </a:solidFill>
                        <a:latin typeface="Cambria Math" panose="02040503050406030204" pitchFamily="18" charset="0"/>
                        <a:ea typeface="楷体" panose="02010609060101010101" charset="-122"/>
                      </a:rPr>
                      <m:t>=</m:t>
                    </m:r>
                    <m:sSup>
                      <m:sSupPr>
                        <m:ctrlPr>
                          <a:rPr lang="en-US" altLang="zh-CN" i="1">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𝑥</m:t>
                        </m:r>
                      </m:e>
                      <m:sup>
                        <m:r>
                          <a:rPr lang="en-US" altLang="zh-CN" i="1">
                            <a:solidFill>
                              <a:schemeClr val="tx1"/>
                            </a:solidFill>
                            <a:latin typeface="Cambria Math" panose="02040503050406030204" pitchFamily="18" charset="0"/>
                            <a:ea typeface="楷体" panose="02010609060101010101" charset="-122"/>
                          </a:rPr>
                          <m:t>3</m:t>
                        </m:r>
                      </m:sup>
                    </m:sSup>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𝑎𝑥</m:t>
                    </m:r>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𝑏</m:t>
                    </m:r>
                    <m:r>
                      <a:rPr lang="en-US" altLang="zh-CN" i="1">
                        <a:solidFill>
                          <a:schemeClr val="tx1"/>
                        </a:solidFill>
                        <a:latin typeface="Cambria Math" panose="02040503050406030204" pitchFamily="18" charset="0"/>
                        <a:ea typeface="楷体" panose="02010609060101010101" charset="-122"/>
                      </a:rPr>
                      <m:t>(</m:t>
                    </m:r>
                    <m:r>
                      <m:rPr>
                        <m:sty m:val="p"/>
                      </m:rPr>
                      <a:rPr lang="en-US" altLang="zh-CN">
                        <a:solidFill>
                          <a:schemeClr val="tx1"/>
                        </a:solidFill>
                        <a:latin typeface="Cambria Math" panose="02040503050406030204" pitchFamily="18" charset="0"/>
                        <a:ea typeface="楷体" panose="02010609060101010101" charset="-122"/>
                      </a:rPr>
                      <m:t>mod</m:t>
                    </m:r>
                    <m:r>
                      <a:rPr lang="en-US" altLang="zh-CN" i="1">
                        <a:solidFill>
                          <a:schemeClr val="tx1"/>
                        </a:solidFill>
                        <a:latin typeface="Cambria Math" panose="02040503050406030204" pitchFamily="18" charset="0"/>
                        <a:ea typeface="楷体" panose="02010609060101010101" charset="-122"/>
                      </a:rPr>
                      <m:t> </m:t>
                    </m:r>
                    <m:r>
                      <a:rPr lang="en-US" altLang="zh-CN" i="1">
                        <a:solidFill>
                          <a:schemeClr val="tx1"/>
                        </a:solidFill>
                        <a:latin typeface="Cambria Math" panose="02040503050406030204" pitchFamily="18" charset="0"/>
                        <a:ea typeface="楷体" panose="02010609060101010101" charset="-122"/>
                      </a:rPr>
                      <m:t>𝑝</m:t>
                    </m:r>
                    <m:r>
                      <a:rPr lang="en-US" altLang="zh-CN" i="1">
                        <a:solidFill>
                          <a:schemeClr val="tx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以及其上一点，我们可以通过连续自加</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𝑙</m:t>
                    </m:r>
                    <m:r>
                      <a:rPr lang="en-US" altLang="zh-CN" b="0" i="1" smtClean="0">
                        <a:latin typeface="Cambria Math" panose="02040503050406030204" pitchFamily="18" charset="0"/>
                        <a:ea typeface="楷体" panose="02010609060101010101" charset="-122"/>
                        <a:cs typeface="楷体" panose="02010609060101010101" charset="-122"/>
                      </a:rPr>
                      <m:t>−1</m:t>
                    </m:r>
                  </m:oMath>
                </a14:m>
                <a:r>
                  <a:rPr lang="zh-CN" altLang="en-US" dirty="0">
                    <a:latin typeface="楷体" panose="02010609060101010101" charset="-122"/>
                    <a:ea typeface="楷体" panose="02010609060101010101" charset="-122"/>
                    <a:cs typeface="楷体" panose="02010609060101010101" charset="-122"/>
                  </a:rPr>
                  <a:t>次计算</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r>
                      <a:rPr lang="en-US" altLang="zh-CN" b="0" i="1" smtClean="0">
                        <a:solidFill>
                          <a:schemeClr val="tx1"/>
                        </a:solidFill>
                        <a:latin typeface="Cambria Math" panose="02040503050406030204" pitchFamily="18" charset="0"/>
                        <a:ea typeface="楷体" panose="02010609060101010101" charset="-122"/>
                      </a:rPr>
                      <m:t>=</m:t>
                    </m:r>
                    <m:r>
                      <a:rPr lang="en-US" altLang="zh-CN" b="0" i="1" smtClean="0">
                        <a:solidFill>
                          <a:schemeClr val="tx1"/>
                        </a:solidFill>
                        <a:latin typeface="Cambria Math" panose="02040503050406030204" pitchFamily="18" charset="0"/>
                        <a:ea typeface="楷体" panose="02010609060101010101" charset="-122"/>
                      </a:rPr>
                      <m:t>𝑙𝑃</m:t>
                    </m:r>
                  </m:oMath>
                </a14:m>
                <a:r>
                  <a:rPr lang="zh-CN" altLang="en-US" dirty="0">
                    <a:latin typeface="楷体" panose="02010609060101010101" charset="-122"/>
                    <a:ea typeface="楷体" panose="02010609060101010101" charset="-122"/>
                    <a:cs typeface="楷体" panose="02010609060101010101" charset="-122"/>
                  </a:rPr>
                  <a:t>（其中</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i="1" smtClean="0">
                            <a:latin typeface="Cambria Math" panose="02040503050406030204" pitchFamily="18" charset="0"/>
                            <a:ea typeface="楷体" panose="02010609060101010101" charset="-122"/>
                          </a:rPr>
                          <m:t>𝑙</m:t>
                        </m:r>
                      </m:e>
                    </m:d>
                    <m:r>
                      <a:rPr lang="en-US" altLang="zh-CN" b="0" i="1" smtClean="0">
                        <a:latin typeface="Cambria Math" panose="02040503050406030204" pitchFamily="18" charset="0"/>
                        <a:ea typeface="楷体" panose="02010609060101010101" charset="-122"/>
                      </a:rPr>
                      <m:t>=</m:t>
                    </m:r>
                    <m:sSup>
                      <m:sSupPr>
                        <m:ctrlPr>
                          <a:rPr lang="en-US" altLang="zh-CN" i="1">
                            <a:latin typeface="Cambria Math" panose="02040503050406030204" pitchFamily="18" charset="0"/>
                            <a:ea typeface="楷体" panose="02010609060101010101" charset="-122"/>
                          </a:rPr>
                        </m:ctrlPr>
                      </m:sSupPr>
                      <m:e>
                        <m:r>
                          <a:rPr lang="en-US" altLang="zh-CN" b="0" i="1" smtClean="0">
                            <a:latin typeface="Cambria Math" panose="02040503050406030204" pitchFamily="18" charset="0"/>
                            <a:ea typeface="楷体" panose="02010609060101010101" charset="-122"/>
                          </a:rPr>
                          <m:t>2</m:t>
                        </m:r>
                      </m:e>
                      <m:sup>
                        <m:r>
                          <a:rPr lang="en-US" altLang="zh-CN" b="0" i="1" smtClean="0">
                            <a:latin typeface="Cambria Math" panose="02040503050406030204" pitchFamily="18" charset="0"/>
                            <a:ea typeface="楷体" panose="02010609060101010101" charset="-122"/>
                          </a:rPr>
                          <m:t>𝑘</m:t>
                        </m:r>
                      </m:sup>
                    </m:sSup>
                    <m:r>
                      <a:rPr lang="zh-CN" altLang="en-US" i="1">
                        <a:latin typeface="Cambria Math" panose="02040503050406030204" pitchFamily="18" charset="0"/>
                        <a:ea typeface="楷体" panose="02010609060101010101" charset="-122"/>
                      </a:rPr>
                      <m:t>，</m:t>
                    </m:r>
                    <m:r>
                      <a:rPr lang="en-US" altLang="zh-CN" b="0" i="1" smtClean="0">
                        <a:latin typeface="Cambria Math" panose="02040503050406030204" pitchFamily="18" charset="0"/>
                        <a:ea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为密钥长度）。</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问题：当</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已知时，能否计算</a:t>
                </a:r>
                <a14:m>
                  <m:oMath xmlns:m="http://schemas.openxmlformats.org/officeDocument/2006/math">
                    <m:r>
                      <a:rPr lang="en-US" altLang="zh-CN" i="1">
                        <a:latin typeface="Cambria Math" panose="02040503050406030204" pitchFamily="18" charset="0"/>
                        <a:ea typeface="楷体" panose="02010609060101010101" charset="-122"/>
                      </a:rPr>
                      <m:t>𝑙</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答案：这是一个被称为椭圆曲线上的离散对数难题。</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433695" cy="2036263"/>
              </a:xfrm>
              <a:prstGeom prst="rect">
                <a:avLst/>
              </a:prstGeom>
              <a:blipFill>
                <a:blip r:embed="rId2"/>
                <a:stretch>
                  <a:fillRect l="-673" t="-2096" r="-897"/>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椭圆曲线的应用</a:t>
            </a:r>
          </a:p>
        </p:txBody>
      </p:sp>
      <p:sp>
        <p:nvSpPr>
          <p:cNvPr id="13" name="矩形: 圆角 12">
            <a:extLst>
              <a:ext uri="{FF2B5EF4-FFF2-40B4-BE49-F238E27FC236}">
                <a16:creationId xmlns:a16="http://schemas.microsoft.com/office/drawing/2014/main" id="{3AE0209E-13CD-4A69-9454-E897879A04D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1B6F513-F03A-47C1-BFE6-9570621F38B2}"/>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DD020DE4-172A-422A-BCF6-3152BC3F3F2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0620F1AB-47D0-438B-8BE7-8F32A5B33DC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BF44523-62FC-4BAD-8EBB-4A8EC0A0F97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37BAF3B-481A-4A57-92BC-D7E669D25D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22BE058-14BA-4E20-8ACD-865003DDB465}"/>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51F3AC75-610F-4184-BFC9-B3BBE18817B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078A368F-D36C-4894-AE8F-1D102A49432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8543658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47732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椭圆曲线的安全性建立在密钥长度和椭圆曲线上的离散对数难题之上，即</a:t>
            </a:r>
            <a:r>
              <a:rPr lang="en-US" altLang="zh-CN" dirty="0">
                <a:latin typeface="Times New Roman" panose="02020603050405020304" pitchFamily="18" charset="0"/>
                <a:ea typeface="楷体" panose="02010609060101010101" charset="-122"/>
                <a:cs typeface="Times New Roman" panose="02020603050405020304" pitchFamily="18" charset="0"/>
              </a:rPr>
              <a:t>Pollard rho</a:t>
            </a:r>
            <a:r>
              <a:rPr lang="zh-CN" altLang="en-US" dirty="0">
                <a:latin typeface="Times New Roman" panose="02020603050405020304" pitchFamily="18" charset="0"/>
                <a:ea typeface="楷体" panose="02010609060101010101" charset="-122"/>
                <a:cs typeface="Times New Roman" panose="02020603050405020304" pitchFamily="18" charset="0"/>
              </a:rPr>
              <a:t>方法是已知求椭圆曲线上的离散对数难题的最快方法。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椭圆曲线可以使用比</a:t>
            </a:r>
            <a:r>
              <a:rPr lang="en-US" altLang="zh-CN" dirty="0">
                <a:latin typeface="Times New Roman" panose="02020603050405020304" pitchFamily="18" charset="0"/>
                <a:ea typeface="楷体" panose="02010609060101010101" charset="-122"/>
                <a:cs typeface="Times New Roman" panose="02020603050405020304" pitchFamily="18" charset="0"/>
              </a:rPr>
              <a:t>RSA</a:t>
            </a:r>
            <a:r>
              <a:rPr lang="zh-CN" altLang="en-US" dirty="0">
                <a:latin typeface="楷体" panose="02010609060101010101" charset="-122"/>
                <a:ea typeface="楷体" panose="02010609060101010101" charset="-122"/>
                <a:cs typeface="楷体" panose="02010609060101010101" charset="-122"/>
              </a:rPr>
              <a:t>短得多的密钥。</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椭圆曲线的安全性</a:t>
            </a:r>
          </a:p>
        </p:txBody>
      </p:sp>
      <p:pic>
        <p:nvPicPr>
          <p:cNvPr id="13" name="Picture 1">
            <a:extLst>
              <a:ext uri="{FF2B5EF4-FFF2-40B4-BE49-F238E27FC236}">
                <a16:creationId xmlns:a16="http://schemas.microsoft.com/office/drawing/2014/main" id="{EEB56EC6-5D4D-49F7-A495-C5A9FCCC8993}"/>
              </a:ext>
            </a:extLst>
          </p:cNvPr>
          <p:cNvPicPr>
            <a:picLocks noChangeAspect="1"/>
          </p:cNvPicPr>
          <p:nvPr/>
        </p:nvPicPr>
        <p:blipFill>
          <a:blip r:embed="rId2"/>
          <a:stretch>
            <a:fillRect/>
          </a:stretch>
        </p:blipFill>
        <p:spPr>
          <a:xfrm>
            <a:off x="2309984" y="2539461"/>
            <a:ext cx="4978546" cy="2198665"/>
          </a:xfrm>
          <a:prstGeom prst="rect">
            <a:avLst/>
          </a:prstGeom>
          <a:noFill/>
          <a:ln w="12700">
            <a:noFill/>
          </a:ln>
        </p:spPr>
      </p:pic>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271402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spTree>
    <p:extLst>
      <p:ext uri="{BB962C8B-B14F-4D97-AF65-F5344CB8AC3E}">
        <p14:creationId xmlns:p14="http://schemas.microsoft.com/office/powerpoint/2010/main" val="23746842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pic>
        <p:nvPicPr>
          <p:cNvPr id="4" name="图片 3">
            <a:extLst>
              <a:ext uri="{FF2B5EF4-FFF2-40B4-BE49-F238E27FC236}">
                <a16:creationId xmlns:a16="http://schemas.microsoft.com/office/drawing/2014/main" id="{A81A9208-31D5-4D66-A7CD-7A8170A5AA6F}"/>
              </a:ext>
            </a:extLst>
          </p:cNvPr>
          <p:cNvPicPr>
            <a:picLocks noChangeAspect="1"/>
          </p:cNvPicPr>
          <p:nvPr/>
        </p:nvPicPr>
        <p:blipFill>
          <a:blip r:embed="rId4"/>
          <a:stretch>
            <a:fillRect/>
          </a:stretch>
        </p:blipFill>
        <p:spPr>
          <a:xfrm>
            <a:off x="404987" y="2119224"/>
            <a:ext cx="2659964" cy="2226947"/>
          </a:xfrm>
          <a:prstGeom prst="rect">
            <a:avLst/>
          </a:prstGeom>
        </p:spPr>
      </p:pic>
      <p:pic>
        <p:nvPicPr>
          <p:cNvPr id="5" name="图片 4">
            <a:extLst>
              <a:ext uri="{FF2B5EF4-FFF2-40B4-BE49-F238E27FC236}">
                <a16:creationId xmlns:a16="http://schemas.microsoft.com/office/drawing/2014/main" id="{DE2419F3-0F74-4AEC-8A3B-678A45A06BF4}"/>
              </a:ext>
            </a:extLst>
          </p:cNvPr>
          <p:cNvPicPr>
            <a:picLocks noChangeAspect="1"/>
          </p:cNvPicPr>
          <p:nvPr/>
        </p:nvPicPr>
        <p:blipFill>
          <a:blip r:embed="rId5"/>
          <a:stretch>
            <a:fillRect/>
          </a:stretch>
        </p:blipFill>
        <p:spPr>
          <a:xfrm>
            <a:off x="3294150" y="2141220"/>
            <a:ext cx="2982290" cy="2204951"/>
          </a:xfrm>
          <a:prstGeom prst="rect">
            <a:avLst/>
          </a:prstGeom>
        </p:spPr>
      </p:pic>
    </p:spTree>
    <p:extLst>
      <p:ext uri="{BB962C8B-B14F-4D97-AF65-F5344CB8AC3E}">
        <p14:creationId xmlns:p14="http://schemas.microsoft.com/office/powerpoint/2010/main" val="33272992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3" name="图片 2">
            <a:extLst>
              <a:ext uri="{FF2B5EF4-FFF2-40B4-BE49-F238E27FC236}">
                <a16:creationId xmlns:a16="http://schemas.microsoft.com/office/drawing/2014/main" id="{B17E436D-FA52-4914-9E50-3B4FCF91B0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508" y="1207610"/>
            <a:ext cx="7080885" cy="3268101"/>
          </a:xfrm>
          <a:prstGeom prst="rect">
            <a:avLst/>
          </a:prstGeom>
        </p:spPr>
      </p:pic>
    </p:spTree>
    <p:extLst>
      <p:ext uri="{BB962C8B-B14F-4D97-AF65-F5344CB8AC3E}">
        <p14:creationId xmlns:p14="http://schemas.microsoft.com/office/powerpoint/2010/main" val="40212670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5" name="图片 4">
            <a:extLst>
              <a:ext uri="{FF2B5EF4-FFF2-40B4-BE49-F238E27FC236}">
                <a16:creationId xmlns:a16="http://schemas.microsoft.com/office/drawing/2014/main" id="{BDA632F1-2FA0-48BA-A692-624D017BCA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991" y="1132309"/>
            <a:ext cx="7795920" cy="3454932"/>
          </a:xfrm>
          <a:prstGeom prst="rect">
            <a:avLst/>
          </a:prstGeom>
        </p:spPr>
      </p:pic>
    </p:spTree>
    <p:extLst>
      <p:ext uri="{BB962C8B-B14F-4D97-AF65-F5344CB8AC3E}">
        <p14:creationId xmlns:p14="http://schemas.microsoft.com/office/powerpoint/2010/main" val="38346525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6" name="图片 5">
            <a:extLst>
              <a:ext uri="{FF2B5EF4-FFF2-40B4-BE49-F238E27FC236}">
                <a16:creationId xmlns:a16="http://schemas.microsoft.com/office/drawing/2014/main" id="{A3D028DC-8249-43A4-89DA-9D1CB0408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3420" y="1086798"/>
            <a:ext cx="4536447" cy="3402335"/>
          </a:xfrm>
          <a:prstGeom prst="rect">
            <a:avLst/>
          </a:prstGeom>
        </p:spPr>
      </p:pic>
    </p:spTree>
    <p:extLst>
      <p:ext uri="{BB962C8B-B14F-4D97-AF65-F5344CB8AC3E}">
        <p14:creationId xmlns:p14="http://schemas.microsoft.com/office/powerpoint/2010/main" val="19240536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2467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隐私保护</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椭圆曲线基础</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下节课：双线性映射和承诺</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总结</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5941204" y="4829580"/>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862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sym typeface="+mn-ea"/>
              </a:rPr>
              <a:t>总结</a:t>
            </a:r>
            <a:endParaRPr lang="zh-CN" altLang="en-US" sz="1600" b="1" dirty="0">
              <a:solidFill>
                <a:schemeClr val="bg1"/>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845268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4057649" y="1517875"/>
            <a:ext cx="4949625"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3600" b="1" kern="10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rPr>
              <a:t>谢谢大家！</a:t>
            </a:r>
            <a:endParaRPr kumimoji="0" lang="zh-CN" altLang="en-US" sz="3600" b="1" i="0" u="none" strike="noStrike" kern="100" cap="none" spc="0" normalizeH="0" baseline="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cxnSp>
        <p:nvCxnSpPr>
          <p:cNvPr id="28" name="直接连接符 27"/>
          <p:cNvCxnSpPr/>
          <p:nvPr/>
        </p:nvCxnSpPr>
        <p:spPr>
          <a:xfrm>
            <a:off x="3536114" y="2101605"/>
            <a:ext cx="5280660" cy="2095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686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40130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f41dd9c-12e6-480f-b01d-187e8b40cfb8"/>
  <p:tag name="COMMONDATA" val="eyJjb3VudCI6NDQsImhkaWQiOiJmZGVhNzM4MzMxYTkwNzNmMWJlZGRmNzRjOWExNWI2NiIsInVzZXJDb3VudCI6NDR9"/>
  <p:tag name="RESOURCE_RECORD_KEY" val="{&quot;10&quot;:[21559035,50026255,50027377],&quot;70&quot;:[3327356,3314119,3318501,3312405,3332763,3330148,3312128,3312379,3317789]}"/>
</p:tagLst>
</file>

<file path=ppt/theme/theme1.xml><?xml version="1.0" encoding="utf-8"?>
<a:theme xmlns:a="http://schemas.openxmlformats.org/drawingml/2006/main" name="Office 主题​​">
  <a:themeElements>
    <a:clrScheme name="2经典蓝配色方案">
      <a:dk1>
        <a:sysClr val="windowText" lastClr="000000"/>
      </a:dk1>
      <a:lt1>
        <a:sysClr val="window" lastClr="FFFFFF"/>
      </a:lt1>
      <a:dk2>
        <a:srgbClr val="EEF2F5"/>
      </a:dk2>
      <a:lt2>
        <a:srgbClr val="E7E6E6"/>
      </a:lt2>
      <a:accent1>
        <a:srgbClr val="0F4C82"/>
      </a:accent1>
      <a:accent2>
        <a:srgbClr val="B3C6D5"/>
      </a:accent2>
      <a:accent3>
        <a:srgbClr val="F7B793"/>
      </a:accent3>
      <a:accent4>
        <a:srgbClr val="F4DBB2"/>
      </a:accent4>
      <a:accent5>
        <a:srgbClr val="4472C4"/>
      </a:accent5>
      <a:accent6>
        <a:srgbClr val="70AD47"/>
      </a:accent6>
      <a:hlink>
        <a:srgbClr val="000000"/>
      </a:hlink>
      <a:folHlink>
        <a:srgbClr val="954F72"/>
      </a:folHlink>
    </a:clrScheme>
    <a:fontScheme name="标准5-3">
      <a:majorFont>
        <a:latin typeface="Century Gothic"/>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1437</TotalTime>
  <Words>6471</Words>
  <Application>Microsoft Office PowerPoint</Application>
  <PresentationFormat>全屏显示(16:9)</PresentationFormat>
  <Paragraphs>953</Paragraphs>
  <Slides>57</Slides>
  <Notes>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57</vt:i4>
      </vt:variant>
    </vt:vector>
  </HeadingPairs>
  <TitlesOfParts>
    <vt:vector size="70" baseType="lpstr">
      <vt:lpstr>等线</vt:lpstr>
      <vt:lpstr>楷体</vt:lpstr>
      <vt:lpstr>微软雅黑</vt:lpstr>
      <vt:lpstr>Arial</vt:lpstr>
      <vt:lpstr>Calibri</vt:lpstr>
      <vt:lpstr>Calibri Light</vt:lpstr>
      <vt:lpstr>Cambria Math</vt:lpstr>
      <vt:lpstr>Century Gothic</vt:lpstr>
      <vt:lpstr>Consolas</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Canhui Wang</cp:lastModifiedBy>
  <cp:revision>519</cp:revision>
  <dcterms:created xsi:type="dcterms:W3CDTF">2020-01-28T04:26:00Z</dcterms:created>
  <dcterms:modified xsi:type="dcterms:W3CDTF">2026-04-27T03:41:36Z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KSOTemplateUUID">
    <vt:lpwstr>v1.0_mb_p3KkJyKqBJSpFjgU+N9mKw==</vt:lpwstr>
  </property>
  <property fmtid="{D5CDD505-2E9C-101B-9397-08002B2CF9AE}" pid="4" name="ICV">
    <vt:lpwstr>D39516DBCF4F48E18D217F3CA681694C_11</vt:lpwstr>
  </property>
</Properties>
</file>